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charts/chart1.xml" ContentType="application/vnd.openxmlformats-officedocument.drawingml.chart+xml"/>
  <Override PartName="/ppt/slideMasters/slideMaster12.xml" ContentType="application/vnd.openxmlformats-officedocument.presentationml.slideMaster+xml"/>
  <Override PartName="/ppt/slides/slide12.xml" ContentType="application/vnd.openxmlformats-officedocument.presentationml.slide+xml"/>
  <Override PartName="/ppt/charts/chart2.xml" ContentType="application/vnd.openxmlformats-officedocument.drawingml.chart+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charts/chart3.xml" ContentType="application/vnd.openxmlformats-officedocument.drawingml.chart+xml"/>
  <Override PartName="/ppt/slideMasters/slideMaster15.xml" ContentType="application/vnd.openxmlformats-officedocument.presentationml.slideMaster+xml"/>
  <Override PartName="/ppt/slides/slide15.xml" ContentType="application/vnd.openxmlformats-officedocument.presentationml.slide+xml"/>
  <Override PartName="/ppt/charts/chart4.xml" ContentType="application/vnd.openxmlformats-officedocument.drawingml.chart+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charts/chart5.xml" ContentType="application/vnd.openxmlformats-officedocument.drawingml.chart+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Lst>
  <p:notesMasterIdLst>
    <p:notesMasterId r:id="rId22"/>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notesMaster" Target="notesMasters/notesMaster1.xml"/><Relationship Id="rId23" Type="http://schemas.openxmlformats.org/officeDocument/2006/relationships/presProps" Target="presProps.xml"/><Relationship Id="rId24" Type="http://schemas.openxmlformats.org/officeDocument/2006/relationships/viewProps" Target="viewProps.xml"/><Relationship Id="rId25" Type="http://schemas.openxmlformats.org/officeDocument/2006/relationships/theme" Target="theme/theme1.xml"/><Relationship Id="rId26"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Relationships xmlns="http://schemas.openxmlformats.org/package/2006/relationships"><Relationship Id="rId1" Type="http://schemas.openxmlformats.org/officeDocument/2006/relationships/package" Target="../embeddings/Microsoft_Excel_Worksheet3.xlsx"/></Relationships>
</file>

<file path=ppt/charts/_rels/chart4.xml.rels><?xml version="1.0" encoding="UTF-8" standalone="yes"?><Relationships xmlns="http://schemas.openxmlformats.org/package/2006/relationships"><Relationship Id="rId1" Type="http://schemas.openxmlformats.org/officeDocument/2006/relationships/package" Target="../embeddings/Microsoft_Excel_Worksheet4.xlsx"/></Relationships>
</file>

<file path=ppt/charts/_rels/chart5.xml.rels><?xml version="1.0" encoding="UTF-8" standalone="yes"?><Relationships xmlns="http://schemas.openxmlformats.org/package/2006/relationships"><Relationship Id="rId1" Type="http://schemas.openxmlformats.org/officeDocument/2006/relationships/package" Target="../embeddings/Microsoft_Excel_Worksheet5.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100" b="0" i="0" u="none" strike="noStrike">
                <a:solidFill>
                  <a:srgbClr val="1F2933"/>
                </a:solidFill>
                <a:latin typeface="Arial"/>
              </a:defRPr>
            </a:pPr>
            <a:r>
              <a:rPr sz="1100" b="0" i="0" u="none" strike="noStrike">
                <a:solidFill>
                  <a:srgbClr val="1F2933"/>
                </a:solidFill>
                <a:latin typeface="Arial"/>
              </a:rPr>
              <a:t>CVEs per year by severity (2026 is partial)</a:t>
            </a:r>
          </a:p>
        </c:rich>
      </c:tx>
      <c:layout/>
      <c:overlay val="0"/>
    </c:title>
    <c:autoTitleDeleted val="0"/>
    <c:plotArea>
      <c:layout/>
      <c:barChart>
        <c:barDir val="col"/>
        <c:grouping val="stacked"/>
        <c:varyColors val="0"/>
        <c:ser>
          <c:idx val="0"/>
          <c:order val="0"/>
          <c:tx>
            <c:strRef>
              <c:f>Sheet1!$B$1</c:f>
              <c:strCache>
                <c:ptCount val="1"/>
                <c:pt idx="0">
                  <c:v>Critical</c:v>
                </c:pt>
              </c:strCache>
            </c:strRef>
          </c:tx>
          <c:spPr>
            <a:solidFill>
              <a:srgbClr val="C8102E"/>
            </a:solidFill>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cat>
            <c:multiLvlStrRef>
              <c:f>Sheet1!$A$2:$A$7</c:f>
              <c:multiLvlStrCache>
                <c:ptCount val="6"/>
                <c:lvl>
                  <c:pt idx="0">
                    <c:v>2020</c:v>
                  </c:pt>
                  <c:pt idx="1">
                    <c:v>2021</c:v>
                  </c:pt>
                  <c:pt idx="2">
                    <c:v>2022</c:v>
                  </c:pt>
                  <c:pt idx="3">
                    <c:v>2023</c:v>
                  </c:pt>
                  <c:pt idx="4">
                    <c:v>2024</c:v>
                  </c:pt>
                  <c:pt idx="5">
                    <c:v>2025</c:v>
                  </c:pt>
                </c:lvl>
              </c:multiLvlStrCache>
            </c:multiLvlStrRef>
          </c:cat>
          <c:val>
            <c:numRef>
              <c:f>Sheet1!$B$2:$B$7</c:f>
              <c:numCache>
                <c:formatCode>General</c:formatCode>
                <c:ptCount val="6"/>
                <c:pt idx="0">
                  <c:v>2008</c:v>
                </c:pt>
                <c:pt idx="1">
                  <c:v>2598</c:v>
                </c:pt>
                <c:pt idx="2">
                  <c:v>4176</c:v>
                </c:pt>
                <c:pt idx="3">
                  <c:v>4360</c:v>
                </c:pt>
                <c:pt idx="4">
                  <c:v>4251</c:v>
                </c:pt>
                <c:pt idx="5">
                  <c:v>4005</c:v>
                </c:pt>
              </c:numCache>
            </c:numRef>
          </c:val>
        </c:ser>
        <c:ser>
          <c:idx val="1"/>
          <c:order val="1"/>
          <c:tx>
            <c:strRef>
              <c:f>Sheet1!$C$1</c:f>
              <c:strCache>
                <c:ptCount val="1"/>
                <c:pt idx="0">
                  <c:v>High</c:v>
                </c:pt>
              </c:strCache>
            </c:strRef>
          </c:tx>
          <c:spPr>
            <a:solidFill>
              <a:srgbClr val="F2A541"/>
            </a:solidFill>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cat>
            <c:multiLvlStrRef>
              <c:f>Sheet1!$A$2:$A$7</c:f>
              <c:multiLvlStrCache>
                <c:ptCount val="6"/>
                <c:lvl>
                  <c:pt idx="0">
                    <c:v>2020</c:v>
                  </c:pt>
                  <c:pt idx="1">
                    <c:v>2021</c:v>
                  </c:pt>
                  <c:pt idx="2">
                    <c:v>2022</c:v>
                  </c:pt>
                  <c:pt idx="3">
                    <c:v>2023</c:v>
                  </c:pt>
                  <c:pt idx="4">
                    <c:v>2024</c:v>
                  </c:pt>
                  <c:pt idx="5">
                    <c:v>2025</c:v>
                  </c:pt>
                </c:lvl>
              </c:multiLvlStrCache>
            </c:multiLvlStrRef>
          </c:cat>
          <c:val>
            <c:numRef>
              <c:f>Sheet1!$C$2:$C$7</c:f>
              <c:numCache>
                <c:formatCode>General</c:formatCode>
                <c:ptCount val="6"/>
                <c:pt idx="0">
                  <c:v>6055</c:v>
                </c:pt>
                <c:pt idx="1">
                  <c:v>8415</c:v>
                </c:pt>
                <c:pt idx="2">
                  <c:v>10021</c:v>
                </c:pt>
                <c:pt idx="3">
                  <c:v>10850</c:v>
                </c:pt>
                <c:pt idx="4">
                  <c:v>13942</c:v>
                </c:pt>
                <c:pt idx="5">
                  <c:v>15334</c:v>
                </c:pt>
              </c:numCache>
            </c:numRef>
          </c:val>
        </c:ser>
        <c:ser>
          <c:idx val="2"/>
          <c:order val="2"/>
          <c:tx>
            <c:strRef>
              <c:f>Sheet1!$D$1</c:f>
              <c:strCache>
                <c:ptCount val="1"/>
                <c:pt idx="0">
                  <c:v>Medium</c:v>
                </c:pt>
              </c:strCache>
            </c:strRef>
          </c:tx>
          <c:spPr>
            <a:solidFill>
              <a:srgbClr val="7FA7C9"/>
            </a:solidFill>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cat>
            <c:multiLvlStrRef>
              <c:f>Sheet1!$A$2:$A$7</c:f>
              <c:multiLvlStrCache>
                <c:ptCount val="6"/>
                <c:lvl>
                  <c:pt idx="0">
                    <c:v>2020</c:v>
                  </c:pt>
                  <c:pt idx="1">
                    <c:v>2021</c:v>
                  </c:pt>
                  <c:pt idx="2">
                    <c:v>2022</c:v>
                  </c:pt>
                  <c:pt idx="3">
                    <c:v>2023</c:v>
                  </c:pt>
                  <c:pt idx="4">
                    <c:v>2024</c:v>
                  </c:pt>
                  <c:pt idx="5">
                    <c:v>2025</c:v>
                  </c:pt>
                </c:lvl>
              </c:multiLvlStrCache>
            </c:multiLvlStrRef>
          </c:cat>
          <c:val>
            <c:numRef>
              <c:f>Sheet1!$D$2:$D$7</c:f>
              <c:numCache>
                <c:formatCode>General</c:formatCode>
                <c:ptCount val="6"/>
                <c:pt idx="0">
                  <c:v>5858</c:v>
                </c:pt>
                <c:pt idx="1">
                  <c:v>8373</c:v>
                </c:pt>
                <c:pt idx="2">
                  <c:v>10026</c:v>
                </c:pt>
                <c:pt idx="3">
                  <c:v>12651</c:v>
                </c:pt>
                <c:pt idx="4">
                  <c:v>20630</c:v>
                </c:pt>
                <c:pt idx="5">
                  <c:v>25759</c:v>
                </c:pt>
              </c:numCache>
            </c:numRef>
          </c:val>
        </c:ser>
        <c:ser>
          <c:idx val="3"/>
          <c:order val="3"/>
          <c:tx>
            <c:strRef>
              <c:f>Sheet1!$E$1</c:f>
              <c:strCache>
                <c:ptCount val="1"/>
                <c:pt idx="0">
                  <c:v>Low</c:v>
                </c:pt>
              </c:strCache>
            </c:strRef>
          </c:tx>
          <c:spPr>
            <a:solidFill>
              <a:srgbClr val="D5DBE3"/>
            </a:solidFill>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cat>
            <c:multiLvlStrRef>
              <c:f>Sheet1!$A$2:$A$7</c:f>
              <c:multiLvlStrCache>
                <c:ptCount val="6"/>
                <c:lvl>
                  <c:pt idx="0">
                    <c:v>2020</c:v>
                  </c:pt>
                  <c:pt idx="1">
                    <c:v>2021</c:v>
                  </c:pt>
                  <c:pt idx="2">
                    <c:v>2022</c:v>
                  </c:pt>
                  <c:pt idx="3">
                    <c:v>2023</c:v>
                  </c:pt>
                  <c:pt idx="4">
                    <c:v>2024</c:v>
                  </c:pt>
                  <c:pt idx="5">
                    <c:v>2025</c:v>
                  </c:pt>
                </c:lvl>
              </c:multiLvlStrCache>
            </c:multiLvlStrRef>
          </c:cat>
          <c:val>
            <c:numRef>
              <c:f>Sheet1!$E$2:$E$7</c:f>
              <c:numCache>
                <c:formatCode>General</c:formatCode>
                <c:ptCount val="6"/>
                <c:pt idx="0">
                  <c:v>342</c:v>
                </c:pt>
                <c:pt idx="1">
                  <c:v>435</c:v>
                </c:pt>
                <c:pt idx="2">
                  <c:v>489</c:v>
                </c:pt>
                <c:pt idx="3">
                  <c:v>421</c:v>
                </c:pt>
                <c:pt idx="4">
                  <c:v>835</c:v>
                </c:pt>
                <c:pt idx="5">
                  <c:v>1251</c:v>
                </c:pt>
              </c:numCache>
            </c:numRef>
          </c:val>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gapWidth val="50"/>
        <c:overlap val="10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noFill/>
            <a:prstDash val="solid"/>
            <a:round/>
          </a:ln>
        </c:spPr>
        <c:txPr>
          <a:bodyPr/>
          <a:lstStyle/>
          <a:p>
            <a:pPr>
              <a:defRPr sz="1000" b="0" i="0" u="none" strike="noStrike">
                <a:solidFill>
                  <a:srgbClr val="5B6B7C"/>
                </a:solidFill>
                <a:latin typeface="Calibri"/>
              </a:defRPr>
            </a:pPr>
            <a:endParaRPr lang="en-US"/>
          </a:p>
        </c:txPr>
        <c:crossAx val="2094734552"/>
        <c:crosses val="autoZero"/>
        <c:auto val="1"/>
        <c:lblAlgn val="ctr"/>
        <c:noMultiLvlLbl val="1"/>
      </c:catAx>
      <c:valAx>
        <c:axId val="2094734552"/>
        <c:scaling>
          <c:orientation val="minMax"/>
        </c:scaling>
        <c:delete val="0"/>
        <c:axPos val="l"/>
        <c:majorGridlines>
          <c:spPr>
            <a:ln w="6350" cap="flat">
              <a:solidFill>
                <a:srgbClr val="E5E9EF"/>
              </a:solidFill>
              <a:prstDash val="solid"/>
              <a:round/>
            </a:ln>
          </c:spPr>
        </c:majorGridlines>
        <c:numFmt formatCode="General" sourceLinked="0"/>
        <c:majorTickMark val="out"/>
        <c:minorTickMark val="none"/>
        <c:tickLblPos val="nextTo"/>
        <c:spPr>
          <a:ln w="12700" cap="flat">
            <a:noFill/>
            <a:prstDash val="solid"/>
            <a:round/>
          </a:ln>
        </c:spPr>
        <c:txPr>
          <a:bodyPr/>
          <a:lstStyle/>
          <a:p>
            <a:pPr>
              <a:defRPr sz="900" b="0" i="0" u="none" strike="noStrike">
                <a:solidFill>
                  <a:srgbClr val="5B6B7C"/>
                </a:solidFill>
                <a:latin typeface="Calibri"/>
              </a:defRPr>
            </a:pPr>
            <a:endParaRPr lang="en-US"/>
          </a:p>
        </c:txPr>
        <c:crossAx val="2094734554"/>
        <c:crosses val="autoZero"/>
        <c:crossBetween val="between"/>
      </c:valAx>
      <c:spPr>
        <a:noFill/>
        <a:ln>
          <a:noFill/>
        </a:ln>
        <a:effectLst/>
      </c:spPr>
    </c:plotArea>
    <c:legend>
      <c:legendPos val="r"/>
      <c:overlay val="0"/>
      <c:txPr>
        <a:bodyPr/>
        <a:lstStyle/>
        <a:p>
          <a:pPr>
            <a:defRPr sz="1000">
              <a:solidFill>
                <a:srgbClr val="5B6B7C"/>
              </a:solidFill>
            </a:defRPr>
          </a:pPr>
          <a:endParaRPr lang="en-US"/>
        </a:p>
      </c:txPr>
    </c:legend>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100" b="0" i="0" u="none" strike="noStrike">
                <a:solidFill>
                  <a:srgbClr val="1F2933"/>
                </a:solidFill>
                <a:latin typeface="Arial"/>
              </a:defRPr>
            </a:pPr>
            <a:r>
              <a:rPr sz="1100" b="0" i="0" u="none" strike="noStrike">
                <a:solidFill>
                  <a:srgbClr val="1F2933"/>
                </a:solidFill>
                <a:latin typeface="Arial"/>
              </a:rPr>
              <a:t>CVEs in KEV per pillar (top 5)</a:t>
            </a:r>
          </a:p>
        </c:rich>
      </c:tx>
      <c:layout/>
      <c:overlay val="0"/>
    </c:title>
    <c:autoTitleDeleted val="0"/>
    <c:plotArea>
      <c:layout/>
      <c:barChart>
        <c:barDir val="bar"/>
        <c:grouping val="clustered"/>
        <c:varyColors val="0"/>
        <c:ser>
          <c:idx val="0"/>
          <c:order val="0"/>
          <c:tx>
            <c:strRef>
              <c:f>Sheet1!$B$1</c:f>
              <c:strCache>
                <c:ptCount val="1"/>
                <c:pt idx="0">
                  <c:v>CVEs in KEV</c:v>
                </c:pt>
              </c:strCache>
            </c:strRef>
          </c:tx>
          <c:spPr>
            <a:solidFill>
              <a:srgbClr val="1B2A41"/>
            </a:solidFill>
            <a:effectLst/>
          </c:spPr>
          <c:invertIfNegative val="0"/>
          <c:dLbls>
            <c:numFmt formatCode="#,##0" sourceLinked="0"/>
            <c:txPr>
              <a:bodyPr/>
              <a:lstStyle/>
              <a:p>
                <a:pPr>
                  <a:defRPr b="0" i="0" strike="noStrike" sz="1000" u="none">
                    <a:solidFill>
                      <a:srgbClr val="1F2933"/>
                    </a:solidFill>
                    <a:latin typeface="Arial"/>
                  </a:defRPr>
                </a:pPr>
              </a:p>
            </c:txPr>
            <c:showLegendKey val="0"/>
            <c:showVal val="1"/>
            <c:showCatName val="0"/>
            <c:showSerName val="0"/>
            <c:showPercent val="0"/>
            <c:showBubbleSize val="0"/>
            <c:showLeaderLines val="0"/>
          </c:dLbls>
          <c:cat>
            <c:multiLvlStrRef>
              <c:f>Sheet1!$A$2:$A$6</c:f>
              <c:multiLvlStrCache>
                <c:ptCount val="5"/>
                <c:lvl>
                  <c:pt idx="0">
                    <c:v>Resource lifetime (memory)</c:v>
                  </c:pt>
                  <c:pt idx="1">
                    <c:v>Improper neutralization (injection)</c:v>
                  </c:pt>
                  <c:pt idx="2">
                    <c:v>Improper access control</c:v>
                  </c:pt>
                  <c:pt idx="3">
                    <c:v>Protection mechanism failure</c:v>
                  </c:pt>
                  <c:pt idx="4">
                    <c:v>Incorrect calculation</c:v>
                  </c:pt>
                </c:lvl>
              </c:multiLvlStrCache>
            </c:multiLvlStrRef>
          </c:cat>
          <c:val>
            <c:numRef>
              <c:f>Sheet1!$B$2:$B$6</c:f>
              <c:numCache>
                <c:formatCode>General</c:formatCode>
                <c:ptCount val="5"/>
                <c:pt idx="0">
                  <c:v>442</c:v>
                </c:pt>
                <c:pt idx="1">
                  <c:v>205</c:v>
                </c:pt>
                <c:pt idx="2">
                  <c:v>134</c:v>
                </c:pt>
                <c:pt idx="3">
                  <c:v>18</c:v>
                </c:pt>
                <c:pt idx="4">
                  <c:v>14</c:v>
                </c:pt>
              </c:numCache>
            </c:numRef>
          </c:val>
        </c:ser>
        <c:dLbls>
          <c:numFmt formatCode="#,##0" sourceLinked="0"/>
          <c:txPr>
            <a:bodyPr/>
            <a:lstStyle/>
            <a:p>
              <a:pPr>
                <a:defRPr b="0" i="0" strike="noStrike" sz="1000" u="none">
                  <a:solidFill>
                    <a:srgbClr val="1F2933"/>
                  </a:solidFill>
                  <a:latin typeface="Arial"/>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noFill/>
            <a:prstDash val="solid"/>
            <a:round/>
          </a:ln>
        </c:spPr>
        <c:txPr>
          <a:bodyPr/>
          <a:lstStyle/>
          <a:p>
            <a:pPr>
              <a:defRPr sz="1000" b="0" i="0" u="none" strike="noStrike">
                <a:solidFill>
                  <a:srgbClr val="5B6B7C"/>
                </a:solidFill>
                <a:latin typeface="Calibri"/>
              </a:defRPr>
            </a:pPr>
            <a:endParaRPr lang="en-US"/>
          </a:p>
        </c:txPr>
        <c:crossAx val="2094734552"/>
        <c:crosses val="autoZero"/>
        <c:auto val="1"/>
        <c:lblAlgn val="ctr"/>
        <c:noMultiLvlLbl val="1"/>
      </c:catAx>
      <c:valAx>
        <c:axId val="2094734552"/>
        <c:scaling>
          <c:orientation val="minMax"/>
        </c:scaling>
        <c:delete val="0"/>
        <c:axPos val="b"/>
        <c:majorGridlines>
          <c:spPr>
            <a:ln w="6350" cap="flat">
              <a:solidFill>
                <a:srgbClr val="E5E9EF"/>
              </a:solidFill>
              <a:prstDash val="solid"/>
              <a:round/>
            </a:ln>
          </c:spPr>
        </c:majorGridlines>
        <c:numFmt formatCode="General" sourceLinked="0"/>
        <c:majorTickMark val="out"/>
        <c:minorTickMark val="none"/>
        <c:tickLblPos val="low"/>
        <c:spPr>
          <a:ln w="12700" cap="flat">
            <a:noFill/>
            <a:prstDash val="solid"/>
            <a:round/>
          </a:ln>
        </c:spPr>
        <c:txPr>
          <a:bodyPr/>
          <a:lstStyle/>
          <a:p>
            <a:pPr>
              <a:defRPr sz="900" b="0" i="0" u="none" strike="noStrike">
                <a:solidFill>
                  <a:srgbClr val="5B6B7C"/>
                </a:solidFill>
                <a:latin typeface="Calibri"/>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100" b="0" i="0" u="none" strike="noStrike">
                <a:solidFill>
                  <a:srgbClr val="1F2933"/>
                </a:solidFill>
                <a:latin typeface="Arial"/>
              </a:defRPr>
            </a:pPr>
            <a:r>
              <a:rPr sz="1100" b="0" i="0" u="none" strike="noStrike">
                <a:solidFill>
                  <a:srgbClr val="1F2933"/>
                </a:solidFill>
                <a:latin typeface="Arial"/>
              </a:rPr>
              <a:t>Average EPSS in 2025, % (by keyword class)</a:t>
            </a:r>
          </a:p>
        </c:rich>
      </c:tx>
      <c:layout/>
      <c:overlay val="0"/>
    </c:title>
    <c:autoTitleDeleted val="0"/>
    <c:plotArea>
      <c:layout/>
      <c:barChart>
        <c:barDir val="bar"/>
        <c:grouping val="clustered"/>
        <c:varyColors val="0"/>
        <c:ser>
          <c:idx val="0"/>
          <c:order val="0"/>
          <c:tx>
            <c:strRef>
              <c:f>Sheet1!$B$1</c:f>
              <c:strCache>
                <c:ptCount val="1"/>
                <c:pt idx="0">
                  <c:v>Average EPSS (%)</c:v>
                </c:pt>
              </c:strCache>
            </c:strRef>
          </c:tx>
          <c:spPr>
            <a:solidFill>
              <a:srgbClr val="C8102E"/>
            </a:solidFill>
            <a:effectLst/>
          </c:spPr>
          <c:invertIfNegative val="0"/>
          <c:dLbls>
            <c:numFmt formatCode="0.00" sourceLinked="0"/>
            <c:txPr>
              <a:bodyPr/>
              <a:lstStyle/>
              <a:p>
                <a:pPr>
                  <a:defRPr b="0" i="0" strike="noStrike" sz="1000" u="none">
                    <a:solidFill>
                      <a:srgbClr val="1F2933"/>
                    </a:solidFill>
                    <a:latin typeface="Arial"/>
                  </a:defRPr>
                </a:pPr>
              </a:p>
            </c:txPr>
            <c:showLegendKey val="0"/>
            <c:showVal val="1"/>
            <c:showCatName val="0"/>
            <c:showSerName val="0"/>
            <c:showPercent val="0"/>
            <c:showBubbleSize val="0"/>
            <c:showLeaderLines val="0"/>
          </c:dLbls>
          <c:cat>
            <c:multiLvlStrRef>
              <c:f>Sheet1!$A$2:$A$6</c:f>
              <c:multiLvlStrCache>
                <c:ptCount val="5"/>
                <c:lvl>
                  <c:pt idx="0">
                    <c:v>RCE</c:v>
                  </c:pt>
                  <c:pt idx="1">
                    <c:v>Buffer overflow</c:v>
                  </c:pt>
                  <c:pt idx="2">
                    <c:v>None</c:v>
                  </c:pt>
                  <c:pt idx="3">
                    <c:v>SQL injection</c:v>
                  </c:pt>
                  <c:pt idx="4">
                    <c:v>XSS</c:v>
                  </c:pt>
                </c:lvl>
              </c:multiLvlStrCache>
            </c:multiLvlStrRef>
          </c:cat>
          <c:val>
            <c:numRef>
              <c:f>Sheet1!$B$2:$B$6</c:f>
              <c:numCache>
                <c:formatCode>General</c:formatCode>
                <c:ptCount val="5"/>
                <c:pt idx="0">
                  <c:v>2.27</c:v>
                </c:pt>
                <c:pt idx="1">
                  <c:v>0.59</c:v>
                </c:pt>
                <c:pt idx="2">
                  <c:v>0.56</c:v>
                </c:pt>
                <c:pt idx="3">
                  <c:v>0.41</c:v>
                </c:pt>
                <c:pt idx="4">
                  <c:v>0.21</c:v>
                </c:pt>
              </c:numCache>
            </c:numRef>
          </c:val>
        </c:ser>
        <c:dLbls>
          <c:numFmt formatCode="0.00" sourceLinked="0"/>
          <c:txPr>
            <a:bodyPr/>
            <a:lstStyle/>
            <a:p>
              <a:pPr>
                <a:defRPr b="0" i="0" strike="noStrike" sz="1000" u="none">
                  <a:solidFill>
                    <a:srgbClr val="1F2933"/>
                  </a:solidFill>
                  <a:latin typeface="Arial"/>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noFill/>
            <a:prstDash val="solid"/>
            <a:round/>
          </a:ln>
        </c:spPr>
        <c:txPr>
          <a:bodyPr/>
          <a:lstStyle/>
          <a:p>
            <a:pPr>
              <a:defRPr sz="1000" b="0" i="0" u="none" strike="noStrike">
                <a:solidFill>
                  <a:srgbClr val="5B6B7C"/>
                </a:solidFill>
                <a:latin typeface="Calibri"/>
              </a:defRPr>
            </a:pPr>
            <a:endParaRPr lang="en-US"/>
          </a:p>
        </c:txPr>
        <c:crossAx val="2094734552"/>
        <c:crosses val="autoZero"/>
        <c:auto val="1"/>
        <c:lblAlgn val="ctr"/>
        <c:noMultiLvlLbl val="1"/>
      </c:catAx>
      <c:valAx>
        <c:axId val="2094734552"/>
        <c:scaling>
          <c:orientation val="minMax"/>
        </c:scaling>
        <c:delete val="0"/>
        <c:axPos val="b"/>
        <c:majorGridlines>
          <c:spPr>
            <a:ln w="6350" cap="flat">
              <a:solidFill>
                <a:srgbClr val="E5E9EF"/>
              </a:solidFill>
              <a:prstDash val="solid"/>
              <a:round/>
            </a:ln>
          </c:spPr>
        </c:majorGridlines>
        <c:numFmt formatCode="General" sourceLinked="0"/>
        <c:majorTickMark val="out"/>
        <c:minorTickMark val="none"/>
        <c:tickLblPos val="low"/>
        <c:spPr>
          <a:ln w="12700" cap="flat">
            <a:noFill/>
            <a:prstDash val="solid"/>
            <a:round/>
          </a:ln>
        </c:spPr>
        <c:txPr>
          <a:bodyPr/>
          <a:lstStyle/>
          <a:p>
            <a:pPr>
              <a:defRPr sz="900" b="0" i="0" u="none" strike="noStrike">
                <a:solidFill>
                  <a:srgbClr val="5B6B7C"/>
                </a:solidFill>
                <a:latin typeface="Calibri"/>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100" b="0" i="0" u="none" strike="noStrike">
                <a:solidFill>
                  <a:srgbClr val="1F2933"/>
                </a:solidFill>
                <a:latin typeface="Arial"/>
              </a:defRPr>
            </a:pPr>
            <a:r>
              <a:rPr sz="1100" b="0" i="0" u="none" strike="noStrike">
                <a:solidFill>
                  <a:srgbClr val="1F2933"/>
                </a:solidFill>
                <a:latin typeface="Arial"/>
              </a:rPr>
              <a:t>CVEs in the EPSS top 5% (inside the dice)</a:t>
            </a:r>
          </a:p>
        </c:rich>
      </c:tx>
      <c:layout/>
      <c:overlay val="0"/>
    </c:title>
    <c:autoTitleDeleted val="0"/>
    <c:plotArea>
      <c:layout/>
      <c:barChart>
        <c:barDir val="bar"/>
        <c:grouping val="clustered"/>
        <c:varyColors val="0"/>
        <c:ser>
          <c:idx val="0"/>
          <c:order val="0"/>
          <c:tx>
            <c:strRef>
              <c:f>Sheet1!$B$1</c:f>
              <c:strCache>
                <c:ptCount val="1"/>
                <c:pt idx="0">
                  <c:v>CVEs in EPSS top 5%</c:v>
                </c:pt>
              </c:strCache>
            </c:strRef>
          </c:tx>
          <c:spPr>
            <a:solidFill>
              <a:srgbClr val="1B2A41"/>
            </a:solidFill>
            <a:effectLst/>
          </c:spPr>
          <c:invertIfNegative val="0"/>
          <c:dLbls>
            <c:numFmt formatCode="#,##0" sourceLinked="0"/>
            <c:txPr>
              <a:bodyPr/>
              <a:lstStyle/>
              <a:p>
                <a:pPr>
                  <a:defRPr b="0" i="0" strike="noStrike" sz="1000" u="none">
                    <a:solidFill>
                      <a:srgbClr val="1F2933"/>
                    </a:solidFill>
                    <a:latin typeface="Arial"/>
                  </a:defRPr>
                </a:pPr>
              </a:p>
            </c:txPr>
            <c:showLegendKey val="0"/>
            <c:showVal val="1"/>
            <c:showCatName val="0"/>
            <c:showSerName val="0"/>
            <c:showPercent val="0"/>
            <c:showBubbleSize val="0"/>
            <c:showLeaderLines val="0"/>
          </c:dLbls>
          <c:cat>
            <c:multiLvlStrRef>
              <c:f>Sheet1!$A$2:$A$9</c:f>
              <c:multiLvlStrCache>
                <c:ptCount val="8"/>
                <c:lvl>
                  <c:pt idx="0">
                    <c:v>ivanti</c:v>
                  </c:pt>
                  <c:pt idx="1">
                    <c:v>apache</c:v>
                  </c:pt>
                  <c:pt idx="2">
                    <c:v>xwiki</c:v>
                  </c:pt>
                  <c:pt idx="3">
                    <c:v>microsoft</c:v>
                  </c:pt>
                  <c:pt idx="4">
                    <c:v>adobe</c:v>
                  </c:pt>
                  <c:pt idx="5">
                    <c:v>vmware</c:v>
                  </c:pt>
                  <c:pt idx="6">
                    <c:v>zohocorp</c:v>
                  </c:pt>
                  <c:pt idx="7">
                    <c:v>progress</c:v>
                  </c:pt>
                </c:lvl>
              </c:multiLvlStrCache>
            </c:multiLvlStrRef>
          </c:cat>
          <c:val>
            <c:numRef>
              <c:f>Sheet1!$B$2:$B$9</c:f>
              <c:numCache>
                <c:formatCode>General</c:formatCode>
                <c:ptCount val="8"/>
                <c:pt idx="0">
                  <c:v>76</c:v>
                </c:pt>
                <c:pt idx="1">
                  <c:v>74</c:v>
                </c:pt>
                <c:pt idx="2">
                  <c:v>44</c:v>
                </c:pt>
                <c:pt idx="3">
                  <c:v>42</c:v>
                </c:pt>
                <c:pt idx="4">
                  <c:v>29</c:v>
                </c:pt>
                <c:pt idx="5">
                  <c:v>29</c:v>
                </c:pt>
                <c:pt idx="6">
                  <c:v>26</c:v>
                </c:pt>
                <c:pt idx="7">
                  <c:v>23</c:v>
                </c:pt>
              </c:numCache>
            </c:numRef>
          </c:val>
        </c:ser>
        <c:dLbls>
          <c:numFmt formatCode="#,##0" sourceLinked="0"/>
          <c:txPr>
            <a:bodyPr/>
            <a:lstStyle/>
            <a:p>
              <a:pPr>
                <a:defRPr b="0" i="0" strike="noStrike" sz="1000" u="none">
                  <a:solidFill>
                    <a:srgbClr val="1F2933"/>
                  </a:solidFill>
                  <a:latin typeface="Arial"/>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noFill/>
            <a:prstDash val="solid"/>
            <a:round/>
          </a:ln>
        </c:spPr>
        <c:txPr>
          <a:bodyPr/>
          <a:lstStyle/>
          <a:p>
            <a:pPr>
              <a:defRPr sz="1000" b="0" i="0" u="none" strike="noStrike">
                <a:solidFill>
                  <a:srgbClr val="5B6B7C"/>
                </a:solidFill>
                <a:latin typeface="Calibri"/>
              </a:defRPr>
            </a:pPr>
            <a:endParaRPr lang="en-US"/>
          </a:p>
        </c:txPr>
        <c:crossAx val="2094734552"/>
        <c:crosses val="autoZero"/>
        <c:auto val="1"/>
        <c:lblAlgn val="ctr"/>
        <c:noMultiLvlLbl val="1"/>
      </c:catAx>
      <c:valAx>
        <c:axId val="2094734552"/>
        <c:scaling>
          <c:orientation val="minMax"/>
        </c:scaling>
        <c:delete val="0"/>
        <c:axPos val="b"/>
        <c:majorGridlines>
          <c:spPr>
            <a:ln w="6350" cap="flat">
              <a:solidFill>
                <a:srgbClr val="E5E9EF"/>
              </a:solidFill>
              <a:prstDash val="solid"/>
              <a:round/>
            </a:ln>
          </c:spPr>
        </c:majorGridlines>
        <c:numFmt formatCode="General" sourceLinked="0"/>
        <c:majorTickMark val="out"/>
        <c:minorTickMark val="none"/>
        <c:tickLblPos val="low"/>
        <c:spPr>
          <a:ln w="12700" cap="flat">
            <a:noFill/>
            <a:prstDash val="solid"/>
            <a:round/>
          </a:ln>
        </c:spPr>
        <c:txPr>
          <a:bodyPr/>
          <a:lstStyle/>
          <a:p>
            <a:pPr>
              <a:defRPr sz="900" b="0" i="0" u="none" strike="noStrike">
                <a:solidFill>
                  <a:srgbClr val="5B6B7C"/>
                </a:solidFill>
                <a:latin typeface="Calibri"/>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100" b="0" i="0" u="none" strike="noStrike">
                <a:solidFill>
                  <a:srgbClr val="1F2933"/>
                </a:solidFill>
                <a:latin typeface="Arial"/>
              </a:defRPr>
            </a:pPr>
            <a:r>
              <a:rPr sz="1100" b="0" i="0" u="none" strike="noStrike">
                <a:solidFill>
                  <a:srgbClr val="1F2933"/>
                </a:solidFill>
                <a:latin typeface="Arial"/>
              </a:rPr>
              <a:t>Median days from NVD publication to KEV (≥ 5 entries)</a:t>
            </a:r>
          </a:p>
        </c:rich>
      </c:tx>
      <c:layout/>
      <c:overlay val="0"/>
    </c:title>
    <c:autoTitleDeleted val="0"/>
    <c:plotArea>
      <c:layout/>
      <c:barChart>
        <c:barDir val="bar"/>
        <c:grouping val="clustered"/>
        <c:varyColors val="0"/>
        <c:ser>
          <c:idx val="0"/>
          <c:order val="0"/>
          <c:tx>
            <c:strRef>
              <c:f>Sheet1!$B$1</c:f>
              <c:strCache>
                <c:ptCount val="1"/>
                <c:pt idx="0">
                  <c:v>Median days to KEV</c:v>
                </c:pt>
              </c:strCache>
            </c:strRef>
          </c:tx>
          <c:spPr>
            <a:solidFill>
              <a:srgbClr val="C8102E"/>
            </a:solidFill>
            <a:effectLst/>
          </c:spPr>
          <c:invertIfNegative val="0"/>
          <c:dLbls>
            <c:numFmt formatCode="General" sourceLinked="0"/>
            <c:txPr>
              <a:bodyPr/>
              <a:lstStyle/>
              <a:p>
                <a:pPr>
                  <a:defRPr b="0" i="0" strike="noStrike" sz="1000" u="none">
                    <a:solidFill>
                      <a:srgbClr val="1F2933"/>
                    </a:solidFill>
                    <a:latin typeface="Arial"/>
                  </a:defRPr>
                </a:pPr>
              </a:p>
            </c:txPr>
            <c:showLegendKey val="0"/>
            <c:showVal val="1"/>
            <c:showCatName val="0"/>
            <c:showSerName val="0"/>
            <c:showPercent val="0"/>
            <c:showBubbleSize val="0"/>
            <c:showLeaderLines val="0"/>
          </c:dLbls>
          <c:cat>
            <c:multiLvlStrRef>
              <c:f>Sheet1!$A$2:$A$10</c:f>
              <c:multiLvlStrCache>
                <c:ptCount val="9"/>
                <c:lvl>
                  <c:pt idx="0">
                    <c:v>fortinet</c:v>
                  </c:pt>
                  <c:pt idx="1">
                    <c:v>paloaltonetworks</c:v>
                  </c:pt>
                  <c:pt idx="2">
                    <c:v>zyxel</c:v>
                  </c:pt>
                  <c:pt idx="3">
                    <c:v>citrix</c:v>
                  </c:pt>
                  <c:pt idx="4">
                    <c:v>cisco</c:v>
                  </c:pt>
                  <c:pt idx="5">
                    <c:v>google</c:v>
                  </c:pt>
                  <c:pt idx="6">
                    <c:v>microsoft</c:v>
                  </c:pt>
                  <c:pt idx="7">
                    <c:v>ivanti</c:v>
                  </c:pt>
                  <c:pt idx="8">
                    <c:v>apple</c:v>
                  </c:pt>
                </c:lvl>
              </c:multiLvlStrCache>
            </c:multiLvlStrRef>
          </c:cat>
          <c:val>
            <c:numRef>
              <c:f>Sheet1!$B$2:$B$10</c:f>
              <c:numCache>
                <c:formatCode>General</c:formatCode>
                <c:ptCount val="9"/>
                <c:pt idx="0">
                  <c:v>1</c:v>
                </c:pt>
                <c:pt idx="1">
                  <c:v>8</c:v>
                </c:pt>
                <c:pt idx="2">
                  <c:v>9.5</c:v>
                </c:pt>
                <c:pt idx="3">
                  <c:v>15.5</c:v>
                </c:pt>
                <c:pt idx="4">
                  <c:v>21</c:v>
                </c:pt>
                <c:pt idx="5">
                  <c:v>26</c:v>
                </c:pt>
                <c:pt idx="6">
                  <c:v>37</c:v>
                </c:pt>
                <c:pt idx="7">
                  <c:v>55</c:v>
                </c:pt>
                <c:pt idx="8">
                  <c:v>56</c:v>
                </c:pt>
              </c:numCache>
            </c:numRef>
          </c:val>
        </c:ser>
        <c:dLbls>
          <c:numFmt formatCode="General" sourceLinked="0"/>
          <c:txPr>
            <a:bodyPr/>
            <a:lstStyle/>
            <a:p>
              <a:pPr>
                <a:defRPr b="0" i="0" strike="noStrike" sz="1000" u="none">
                  <a:solidFill>
                    <a:srgbClr val="1F2933"/>
                  </a:solidFill>
                  <a:latin typeface="Arial"/>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noFill/>
            <a:prstDash val="solid"/>
            <a:round/>
          </a:ln>
        </c:spPr>
        <c:txPr>
          <a:bodyPr/>
          <a:lstStyle/>
          <a:p>
            <a:pPr>
              <a:defRPr sz="1000" b="0" i="0" u="none" strike="noStrike">
                <a:solidFill>
                  <a:srgbClr val="5B6B7C"/>
                </a:solidFill>
                <a:latin typeface="Calibri"/>
              </a:defRPr>
            </a:pPr>
            <a:endParaRPr lang="en-US"/>
          </a:p>
        </c:txPr>
        <c:crossAx val="2094734552"/>
        <c:crosses val="autoZero"/>
        <c:auto val="1"/>
        <c:lblAlgn val="ctr"/>
        <c:noMultiLvlLbl val="1"/>
      </c:catAx>
      <c:valAx>
        <c:axId val="2094734552"/>
        <c:scaling>
          <c:orientation val="minMax"/>
        </c:scaling>
        <c:delete val="0"/>
        <c:axPos val="b"/>
        <c:majorGridlines>
          <c:spPr>
            <a:ln w="6350" cap="flat">
              <a:solidFill>
                <a:srgbClr val="E5E9EF"/>
              </a:solidFill>
              <a:prstDash val="solid"/>
              <a:round/>
            </a:ln>
          </c:spPr>
        </c:majorGridlines>
        <c:numFmt formatCode="General" sourceLinked="0"/>
        <c:majorTickMark val="out"/>
        <c:minorTickMark val="none"/>
        <c:tickLblPos val="low"/>
        <c:spPr>
          <a:ln w="12700" cap="flat">
            <a:noFill/>
            <a:prstDash val="solid"/>
            <a:round/>
          </a:ln>
        </c:spPr>
        <c:txPr>
          <a:bodyPr/>
          <a:lstStyle/>
          <a:p>
            <a:pPr>
              <a:defRPr sz="900" b="0" i="0" u="none" strike="noStrike">
                <a:solidFill>
                  <a:srgbClr val="5B6B7C"/>
                </a:solidFill>
                <a:latin typeface="Calibri"/>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Hierarchies: date-&gt;month-&gt;quarter-&gt;year, product-&gt;vendor, cwe-&gt;pillar. cve_id is a degenerate dimension (identifier without its own table). Measures are additive except the averages of scores.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ROLLUP(year, quarter) produces three aggregation levels in one query: (year, quarter), (year) and the grand total. 2026 covers only January to April 28.</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Each fact is aggregated separately to the common grain (vendor, year) through the conformed dimensions, then the two results are joined. Joining the two fact tables directly would multiply rows. The full query also counts ransomware-related entries and keeps the 10 vendors most present in KEV.</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2" Type="http://schemas.openxmlformats.org/officeDocument/2006/relationships/chart" Target="/ppt/charts/chart1.xml"/><Relationship Id="rId1" Type="http://schemas.openxmlformats.org/officeDocument/2006/relationships/image" Target="../media/image-11-1.png"/><Relationship Id="rId3" Type="http://schemas.openxmlformats.org/officeDocument/2006/relationships/slideLayout" Target="../slideLayouts/slideLayout1.xml"/><Relationship Id="rId4"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2" Type="http://schemas.openxmlformats.org/officeDocument/2006/relationships/chart" Target="/ppt/charts/chart2.xml"/><Relationship Id="rId1" Type="http://schemas.openxmlformats.org/officeDocument/2006/relationships/image" Target="../media/image-12-1.png"/><Relationship Id="rId3" Type="http://schemas.openxmlformats.org/officeDocument/2006/relationships/slideLayout" Target="../slideLayouts/slideLayout1.xml"/><Relationship Id="rId4"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2" Type="http://schemas.openxmlformats.org/officeDocument/2006/relationships/chart" Target="/ppt/charts/chart3.xml"/><Relationship Id="rId1" Type="http://schemas.openxmlformats.org/officeDocument/2006/relationships/image" Target="../media/image-14-1.png"/><Relationship Id="rId3" Type="http://schemas.openxmlformats.org/officeDocument/2006/relationships/slideLayout" Target="../slideLayouts/slideLayout1.xml"/><Relationship Id="rId4"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2" Type="http://schemas.openxmlformats.org/officeDocument/2006/relationships/chart" Target="/ppt/charts/chart4.xml"/><Relationship Id="rId1" Type="http://schemas.openxmlformats.org/officeDocument/2006/relationships/image" Target="../media/image-15-1.png"/><Relationship Id="rId3" Type="http://schemas.openxmlformats.org/officeDocument/2006/relationships/slideLayout" Target="../slideLayouts/slideLayout1.xml"/><Relationship Id="rId4"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1.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1.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2" Type="http://schemas.openxmlformats.org/officeDocument/2006/relationships/chart" Target="/ppt/charts/chart5.xml"/><Relationship Id="rId1" Type="http://schemas.openxmlformats.org/officeDocument/2006/relationships/image" Target="../media/image-18-1.png"/><Relationship Id="rId3" Type="http://schemas.openxmlformats.org/officeDocument/2006/relationships/slideLayout" Target="../slideLayouts/slideLayout1.xml"/><Relationship Id="rId4"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B2A41"/>
        </a:solidFill>
      </p:bgPr>
    </p:bg>
    <p:spTree>
      <p:nvGrpSpPr>
        <p:cNvPr id="1" name=""/>
        <p:cNvGrpSpPr/>
        <p:nvPr/>
      </p:nvGrpSpPr>
      <p:grpSpPr>
        <a:xfrm>
          <a:off x="0" y="0"/>
          <a:ext cx="0" cy="0"/>
          <a:chOff x="0" y="0"/>
          <a:chExt cx="0" cy="0"/>
        </a:xfrm>
      </p:grpSpPr>
      <p:sp>
        <p:nvSpPr>
          <p:cNvPr id="2" name="Text 0"/>
          <p:cNvSpPr txBox="1"/>
          <p:nvPr/>
        </p:nvSpPr>
        <p:spPr>
          <a:xfrm>
            <a:off x="731520" y="1463040"/>
            <a:ext cx="10515600" cy="914400"/>
          </a:xfrm>
          <a:prstGeom prst="rect">
            <a:avLst/>
          </a:prstGeom>
          <a:noFill/>
          <a:ln/>
        </p:spPr>
        <p:txBody>
          <a:bodyPr wrap="square" lIns="0" tIns="0" rIns="0" bIns="0" rtlCol="0" anchor="ctr"/>
          <a:lstStyle/>
          <a:p>
            <a:pPr indent="0" marL="0">
              <a:buNone/>
            </a:pPr>
            <a:r>
              <a:rPr lang="en-US" sz="4800" b="1" dirty="0">
                <a:solidFill>
                  <a:srgbClr val="FFFFFF"/>
                </a:solidFill>
                <a:latin typeface="Arial" pitchFamily="34" charset="0"/>
                <a:ea typeface="Arial" pitchFamily="34" charset="-122"/>
                <a:cs typeface="Arial" pitchFamily="34" charset="-120"/>
              </a:rPr>
              <a:t>CVE Data Warehouse</a:t>
            </a:r>
            <a:endParaRPr lang="en-US" sz="4800" dirty="0"/>
          </a:p>
        </p:txBody>
      </p:sp>
      <p:sp>
        <p:nvSpPr>
          <p:cNvPr id="3" name="Text 1"/>
          <p:cNvSpPr txBox="1"/>
          <p:nvPr/>
        </p:nvSpPr>
        <p:spPr>
          <a:xfrm>
            <a:off x="731520" y="2377440"/>
            <a:ext cx="10515600" cy="548640"/>
          </a:xfrm>
          <a:prstGeom prst="rect">
            <a:avLst/>
          </a:prstGeom>
          <a:noFill/>
          <a:ln/>
        </p:spPr>
        <p:txBody>
          <a:bodyPr wrap="square" lIns="0" tIns="0" rIns="0" bIns="0" rtlCol="0" anchor="ctr"/>
          <a:lstStyle/>
          <a:p>
            <a:pPr indent="0" marL="0">
              <a:buNone/>
            </a:pPr>
            <a:r>
              <a:rPr lang="en-US" sz="2400" dirty="0">
                <a:solidFill>
                  <a:srgbClr val="F2A541"/>
                </a:solidFill>
                <a:latin typeface="Calibri" pitchFamily="34" charset="0"/>
                <a:ea typeface="Calibri" pitchFamily="34" charset="-122"/>
                <a:cs typeface="Calibri" pitchFamily="34" charset="-120"/>
              </a:rPr>
              <a:t>OLAP analysis of software vulnerabilities, 2020–2026</a:t>
            </a:r>
            <a:endParaRPr lang="en-US" sz="2400" dirty="0"/>
          </a:p>
        </p:txBody>
      </p:sp>
      <p:sp>
        <p:nvSpPr>
          <p:cNvPr id="4" name="Text 2"/>
          <p:cNvSpPr txBox="1"/>
          <p:nvPr/>
        </p:nvSpPr>
        <p:spPr>
          <a:xfrm>
            <a:off x="731520" y="2971800"/>
            <a:ext cx="10515600" cy="457200"/>
          </a:xfrm>
          <a:prstGeom prst="rect">
            <a:avLst/>
          </a:prstGeom>
          <a:noFill/>
          <a:ln/>
        </p:spPr>
        <p:txBody>
          <a:bodyPr wrap="square" lIns="0" tIns="0" rIns="0" bIns="0" rtlCol="0" anchor="ctr"/>
          <a:lstStyle/>
          <a:p>
            <a:pPr indent="0" marL="0">
              <a:buNone/>
            </a:pPr>
            <a:r>
              <a:rPr lang="en-US" sz="1600" dirty="0">
                <a:solidFill>
                  <a:srgbClr val="C9D3DF"/>
                </a:solidFill>
                <a:latin typeface="Calibri" pitchFamily="34" charset="0"/>
                <a:ea typeface="Calibri" pitchFamily="34" charset="-122"/>
                <a:cs typeface="Calibri" pitchFamily="34" charset="-120"/>
              </a:rPr>
              <a:t>Integrating NIST NVD, FIRST EPSS, CISA KEV and MITRE CWE into two star schemas</a:t>
            </a:r>
            <a:endParaRPr lang="en-US" sz="1600" dirty="0"/>
          </a:p>
        </p:txBody>
      </p:sp>
      <p:sp>
        <p:nvSpPr>
          <p:cNvPr id="5" name="Text 3"/>
          <p:cNvSpPr txBox="1"/>
          <p:nvPr/>
        </p:nvSpPr>
        <p:spPr>
          <a:xfrm>
            <a:off x="731520" y="4937760"/>
            <a:ext cx="7315200" cy="822960"/>
          </a:xfrm>
          <a:prstGeom prst="rect">
            <a:avLst/>
          </a:prstGeom>
          <a:noFill/>
          <a:ln/>
        </p:spPr>
        <p:txBody>
          <a:bodyPr wrap="square" lIns="0" tIns="0" rIns="0" bIns="0" rtlCol="0" anchor="ctr"/>
          <a:lstStyle/>
          <a:p>
            <a:pPr indent="0" marL="0">
              <a:buNone/>
            </a:pPr>
            <a:r>
              <a:rPr lang="en-US" sz="1600" dirty="0">
                <a:solidFill>
                  <a:srgbClr val="FFFFFF"/>
                </a:solidFill>
                <a:latin typeface="Calibri" pitchFamily="34" charset="0"/>
                <a:ea typeface="Calibri" pitchFamily="34" charset="-122"/>
                <a:cs typeface="Calibri" pitchFamily="34" charset="-120"/>
              </a:rPr>
              <a:t>Alessia Angele – 2003000</a:t>
            </a:r>
            <a:endParaRPr lang="en-US" sz="1600" dirty="0"/>
          </a:p>
          <a:p>
            <a:pPr indent="0" marL="0">
              <a:buNone/>
            </a:pPr>
            <a:r>
              <a:rPr lang="en-US" sz="1600" dirty="0">
                <a:solidFill>
                  <a:srgbClr val="FFFFFF"/>
                </a:solidFill>
                <a:latin typeface="Calibri" pitchFamily="34" charset="0"/>
                <a:ea typeface="Calibri" pitchFamily="34" charset="-122"/>
                <a:cs typeface="Calibri" pitchFamily="34" charset="-120"/>
              </a:rPr>
              <a:t>Data Management · Sapienza University of Rome</a:t>
            </a:r>
            <a:endParaRPr lang="en-US" sz="1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320040"/>
            <a:ext cx="11247120" cy="640080"/>
          </a:xfrm>
          <a:prstGeom prst="rect">
            <a:avLst/>
          </a:prstGeom>
          <a:noFill/>
          <a:ln/>
        </p:spPr>
        <p:txBody>
          <a:bodyPr wrap="square" lIns="0" tIns="0" rIns="0" bIns="0" rtlCol="0" anchor="ctr"/>
          <a:lstStyle/>
          <a:p>
            <a:pPr indent="0" marL="0">
              <a:buNone/>
            </a:pPr>
            <a:r>
              <a:rPr lang="en-US" sz="2600" b="1" dirty="0">
                <a:solidFill>
                  <a:srgbClr val="1B2A41"/>
                </a:solidFill>
                <a:latin typeface="Arial" pitchFamily="34" charset="0"/>
                <a:ea typeface="Arial" pitchFamily="34" charset="-122"/>
                <a:cs typeface="Arial" pitchFamily="34" charset="-120"/>
              </a:rPr>
              <a:t>Contents</a:t>
            </a:r>
            <a:endParaRPr lang="en-US" sz="2600" dirty="0"/>
          </a:p>
        </p:txBody>
      </p:sp>
      <p:sp>
        <p:nvSpPr>
          <p:cNvPr id="3" name="Text 1"/>
          <p:cNvSpPr txBox="1"/>
          <p:nvPr/>
        </p:nvSpPr>
        <p:spPr>
          <a:xfrm>
            <a:off x="6675120" y="6446520"/>
            <a:ext cx="5056632" cy="274320"/>
          </a:xfrm>
          <a:prstGeom prst="rect">
            <a:avLst/>
          </a:prstGeom>
          <a:noFill/>
          <a:ln/>
        </p:spPr>
        <p:txBody>
          <a:bodyPr wrap="square" lIns="0" tIns="0" rIns="0" bIns="0" rtlCol="0" anchor="ctr"/>
          <a:lstStyle/>
          <a:p>
            <a:pPr algn="r" indent="0" marL="0">
              <a:buNone/>
            </a:pPr>
            <a:r>
              <a:rPr lang="en-US" sz="900" dirty="0">
                <a:solidFill>
                  <a:srgbClr val="5B6B7C"/>
                </a:solidFill>
                <a:latin typeface="Calibri" pitchFamily="34" charset="0"/>
                <a:ea typeface="Calibri" pitchFamily="34" charset="-122"/>
                <a:cs typeface="Calibri" pitchFamily="34" charset="-120"/>
              </a:rPr>
              <a:t>CVE Data Warehouse · Alessia Angele · 2</a:t>
            </a:r>
            <a:endParaRPr lang="en-US" sz="900" dirty="0"/>
          </a:p>
        </p:txBody>
      </p:sp>
      <p:sp>
        <p:nvSpPr>
          <p:cNvPr id="4" name="Shape 2"/>
          <p:cNvSpPr/>
          <p:nvPr/>
        </p:nvSpPr>
        <p:spPr>
          <a:xfrm>
            <a:off x="822960" y="1463040"/>
            <a:ext cx="731520" cy="731520"/>
          </a:xfrm>
          <a:prstGeom prst="ellipse">
            <a:avLst/>
          </a:prstGeom>
          <a:solidFill>
            <a:srgbClr val="1B2A41"/>
          </a:solidFill>
          <a:ln w="12700">
            <a:solidFill>
              <a:srgbClr val="FFFFFF"/>
            </a:solidFill>
            <a:prstDash val="solid"/>
          </a:ln>
        </p:spPr>
      </p:sp>
      <p:sp>
        <p:nvSpPr>
          <p:cNvPr id="5" name="Text 3"/>
          <p:cNvSpPr txBox="1"/>
          <p:nvPr/>
        </p:nvSpPr>
        <p:spPr>
          <a:xfrm>
            <a:off x="822960" y="1463040"/>
            <a:ext cx="731520" cy="731520"/>
          </a:xfrm>
          <a:prstGeom prst="rect">
            <a:avLst/>
          </a:prstGeom>
          <a:noFill/>
          <a:ln/>
        </p:spPr>
        <p:txBody>
          <a:bodyPr wrap="square" lIns="0" tIns="0" rIns="0" bIns="0" rtlCol="0" anchor="ctr"/>
          <a:lstStyle/>
          <a:p>
            <a:pPr algn="ctr" indent="0" marL="0">
              <a:buNone/>
            </a:pPr>
            <a:r>
              <a:rPr lang="en-US" sz="2400" b="1" dirty="0">
                <a:solidFill>
                  <a:srgbClr val="FFFFFF"/>
                </a:solidFill>
                <a:latin typeface="Arial" pitchFamily="34" charset="0"/>
                <a:ea typeface="Arial" pitchFamily="34" charset="-122"/>
                <a:cs typeface="Arial" pitchFamily="34" charset="-120"/>
              </a:rPr>
              <a:t>1</a:t>
            </a:r>
            <a:endParaRPr lang="en-US" sz="2400" dirty="0"/>
          </a:p>
        </p:txBody>
      </p:sp>
      <p:sp>
        <p:nvSpPr>
          <p:cNvPr id="6" name="Text 4"/>
          <p:cNvSpPr txBox="1"/>
          <p:nvPr/>
        </p:nvSpPr>
        <p:spPr>
          <a:xfrm>
            <a:off x="1828800" y="1463040"/>
            <a:ext cx="4389120" cy="731520"/>
          </a:xfrm>
          <a:prstGeom prst="rect">
            <a:avLst/>
          </a:prstGeom>
          <a:noFill/>
          <a:ln/>
        </p:spPr>
        <p:txBody>
          <a:bodyPr wrap="square" lIns="0" tIns="0" rIns="0" bIns="0" rtlCol="0" anchor="ctr"/>
          <a:lstStyle/>
          <a:p>
            <a:pPr indent="0" marL="0">
              <a:buNone/>
            </a:pPr>
            <a:r>
              <a:rPr lang="en-US" sz="2000" dirty="0">
                <a:solidFill>
                  <a:srgbClr val="1F2933"/>
                </a:solidFill>
                <a:latin typeface="Calibri" pitchFamily="34" charset="0"/>
                <a:ea typeface="Calibri" pitchFamily="34" charset="-122"/>
                <a:cs typeface="Calibri" pitchFamily="34" charset="-120"/>
              </a:rPr>
              <a:t>Project idea &amp; questions</a:t>
            </a:r>
            <a:endParaRPr lang="en-US" sz="2000" dirty="0"/>
          </a:p>
        </p:txBody>
      </p:sp>
      <p:sp>
        <p:nvSpPr>
          <p:cNvPr id="7" name="Shape 5"/>
          <p:cNvSpPr/>
          <p:nvPr/>
        </p:nvSpPr>
        <p:spPr>
          <a:xfrm>
            <a:off x="822960" y="2606040"/>
            <a:ext cx="731520" cy="731520"/>
          </a:xfrm>
          <a:prstGeom prst="ellipse">
            <a:avLst/>
          </a:prstGeom>
          <a:solidFill>
            <a:srgbClr val="148C8C"/>
          </a:solidFill>
          <a:ln w="12700">
            <a:solidFill>
              <a:srgbClr val="FFFFFF"/>
            </a:solidFill>
            <a:prstDash val="solid"/>
          </a:ln>
        </p:spPr>
      </p:sp>
      <p:sp>
        <p:nvSpPr>
          <p:cNvPr id="8" name="Text 6"/>
          <p:cNvSpPr txBox="1"/>
          <p:nvPr/>
        </p:nvSpPr>
        <p:spPr>
          <a:xfrm>
            <a:off x="822960" y="2606040"/>
            <a:ext cx="731520" cy="731520"/>
          </a:xfrm>
          <a:prstGeom prst="rect">
            <a:avLst/>
          </a:prstGeom>
          <a:noFill/>
          <a:ln/>
        </p:spPr>
        <p:txBody>
          <a:bodyPr wrap="square" lIns="0" tIns="0" rIns="0" bIns="0" rtlCol="0" anchor="ctr"/>
          <a:lstStyle/>
          <a:p>
            <a:pPr algn="ctr" indent="0" marL="0">
              <a:buNone/>
            </a:pPr>
            <a:r>
              <a:rPr lang="en-US" sz="2400" b="1" dirty="0">
                <a:solidFill>
                  <a:srgbClr val="FFFFFF"/>
                </a:solidFill>
                <a:latin typeface="Arial" pitchFamily="34" charset="0"/>
                <a:ea typeface="Arial" pitchFamily="34" charset="-122"/>
                <a:cs typeface="Arial" pitchFamily="34" charset="-120"/>
              </a:rPr>
              <a:t>2</a:t>
            </a:r>
            <a:endParaRPr lang="en-US" sz="2400" dirty="0"/>
          </a:p>
        </p:txBody>
      </p:sp>
      <p:sp>
        <p:nvSpPr>
          <p:cNvPr id="9" name="Text 7"/>
          <p:cNvSpPr txBox="1"/>
          <p:nvPr/>
        </p:nvSpPr>
        <p:spPr>
          <a:xfrm>
            <a:off x="1828800" y="2606040"/>
            <a:ext cx="4389120" cy="731520"/>
          </a:xfrm>
          <a:prstGeom prst="rect">
            <a:avLst/>
          </a:prstGeom>
          <a:noFill/>
          <a:ln/>
        </p:spPr>
        <p:txBody>
          <a:bodyPr wrap="square" lIns="0" tIns="0" rIns="0" bIns="0" rtlCol="0" anchor="ctr"/>
          <a:lstStyle/>
          <a:p>
            <a:pPr indent="0" marL="0">
              <a:buNone/>
            </a:pPr>
            <a:r>
              <a:rPr lang="en-US" sz="2000" dirty="0">
                <a:solidFill>
                  <a:srgbClr val="1F2933"/>
                </a:solidFill>
                <a:latin typeface="Calibri" pitchFamily="34" charset="0"/>
                <a:ea typeface="Calibri" pitchFamily="34" charset="-122"/>
                <a:cs typeface="Calibri" pitchFamily="34" charset="-120"/>
              </a:rPr>
              <a:t>Data sources</a:t>
            </a:r>
            <a:endParaRPr lang="en-US" sz="2000" dirty="0"/>
          </a:p>
        </p:txBody>
      </p:sp>
      <p:sp>
        <p:nvSpPr>
          <p:cNvPr id="10" name="Shape 8"/>
          <p:cNvSpPr/>
          <p:nvPr/>
        </p:nvSpPr>
        <p:spPr>
          <a:xfrm>
            <a:off x="822960" y="3749040"/>
            <a:ext cx="731520" cy="731520"/>
          </a:xfrm>
          <a:prstGeom prst="ellipse">
            <a:avLst/>
          </a:prstGeom>
          <a:solidFill>
            <a:srgbClr val="1B2A41"/>
          </a:solidFill>
          <a:ln w="12700">
            <a:solidFill>
              <a:srgbClr val="FFFFFF"/>
            </a:solidFill>
            <a:prstDash val="solid"/>
          </a:ln>
        </p:spPr>
      </p:sp>
      <p:sp>
        <p:nvSpPr>
          <p:cNvPr id="11" name="Text 9"/>
          <p:cNvSpPr txBox="1"/>
          <p:nvPr/>
        </p:nvSpPr>
        <p:spPr>
          <a:xfrm>
            <a:off x="822960" y="3749040"/>
            <a:ext cx="731520" cy="731520"/>
          </a:xfrm>
          <a:prstGeom prst="rect">
            <a:avLst/>
          </a:prstGeom>
          <a:noFill/>
          <a:ln/>
        </p:spPr>
        <p:txBody>
          <a:bodyPr wrap="square" lIns="0" tIns="0" rIns="0" bIns="0" rtlCol="0" anchor="ctr"/>
          <a:lstStyle/>
          <a:p>
            <a:pPr algn="ctr" indent="0" marL="0">
              <a:buNone/>
            </a:pPr>
            <a:r>
              <a:rPr lang="en-US" sz="2400" b="1" dirty="0">
                <a:solidFill>
                  <a:srgbClr val="FFFFFF"/>
                </a:solidFill>
                <a:latin typeface="Arial" pitchFamily="34" charset="0"/>
                <a:ea typeface="Arial" pitchFamily="34" charset="-122"/>
                <a:cs typeface="Arial" pitchFamily="34" charset="-120"/>
              </a:rPr>
              <a:t>3</a:t>
            </a:r>
            <a:endParaRPr lang="en-US" sz="2400" dirty="0"/>
          </a:p>
        </p:txBody>
      </p:sp>
      <p:sp>
        <p:nvSpPr>
          <p:cNvPr id="12" name="Text 10"/>
          <p:cNvSpPr txBox="1"/>
          <p:nvPr/>
        </p:nvSpPr>
        <p:spPr>
          <a:xfrm>
            <a:off x="1828800" y="3749040"/>
            <a:ext cx="4389120" cy="731520"/>
          </a:xfrm>
          <a:prstGeom prst="rect">
            <a:avLst/>
          </a:prstGeom>
          <a:noFill/>
          <a:ln/>
        </p:spPr>
        <p:txBody>
          <a:bodyPr wrap="square" lIns="0" tIns="0" rIns="0" bIns="0" rtlCol="0" anchor="ctr"/>
          <a:lstStyle/>
          <a:p>
            <a:pPr indent="0" marL="0">
              <a:buNone/>
            </a:pPr>
            <a:r>
              <a:rPr lang="en-US" sz="2000" dirty="0">
                <a:solidFill>
                  <a:srgbClr val="1F2933"/>
                </a:solidFill>
                <a:latin typeface="Calibri" pitchFamily="34" charset="0"/>
                <a:ea typeface="Calibri" pitchFamily="34" charset="-122"/>
                <a:cs typeface="Calibri" pitchFamily="34" charset="-120"/>
              </a:rPr>
              <a:t>ETL pipeline</a:t>
            </a:r>
            <a:endParaRPr lang="en-US" sz="2000" dirty="0"/>
          </a:p>
        </p:txBody>
      </p:sp>
      <p:sp>
        <p:nvSpPr>
          <p:cNvPr id="13" name="Shape 11"/>
          <p:cNvSpPr/>
          <p:nvPr/>
        </p:nvSpPr>
        <p:spPr>
          <a:xfrm>
            <a:off x="822960" y="4892040"/>
            <a:ext cx="731520" cy="731520"/>
          </a:xfrm>
          <a:prstGeom prst="ellipse">
            <a:avLst/>
          </a:prstGeom>
          <a:solidFill>
            <a:srgbClr val="148C8C"/>
          </a:solidFill>
          <a:ln w="12700">
            <a:solidFill>
              <a:srgbClr val="FFFFFF"/>
            </a:solidFill>
            <a:prstDash val="solid"/>
          </a:ln>
        </p:spPr>
      </p:sp>
      <p:sp>
        <p:nvSpPr>
          <p:cNvPr id="14" name="Text 12"/>
          <p:cNvSpPr txBox="1"/>
          <p:nvPr/>
        </p:nvSpPr>
        <p:spPr>
          <a:xfrm>
            <a:off x="822960" y="4892040"/>
            <a:ext cx="731520" cy="731520"/>
          </a:xfrm>
          <a:prstGeom prst="rect">
            <a:avLst/>
          </a:prstGeom>
          <a:noFill/>
          <a:ln/>
        </p:spPr>
        <p:txBody>
          <a:bodyPr wrap="square" lIns="0" tIns="0" rIns="0" bIns="0" rtlCol="0" anchor="ctr"/>
          <a:lstStyle/>
          <a:p>
            <a:pPr algn="ctr" indent="0" marL="0">
              <a:buNone/>
            </a:pPr>
            <a:r>
              <a:rPr lang="en-US" sz="2400" b="1" dirty="0">
                <a:solidFill>
                  <a:srgbClr val="FFFFFF"/>
                </a:solidFill>
                <a:latin typeface="Arial" pitchFamily="34" charset="0"/>
                <a:ea typeface="Arial" pitchFamily="34" charset="-122"/>
                <a:cs typeface="Arial" pitchFamily="34" charset="-120"/>
              </a:rPr>
              <a:t>4</a:t>
            </a:r>
            <a:endParaRPr lang="en-US" sz="2400" dirty="0"/>
          </a:p>
        </p:txBody>
      </p:sp>
      <p:sp>
        <p:nvSpPr>
          <p:cNvPr id="15" name="Text 13"/>
          <p:cNvSpPr txBox="1"/>
          <p:nvPr/>
        </p:nvSpPr>
        <p:spPr>
          <a:xfrm>
            <a:off x="1828800" y="4892040"/>
            <a:ext cx="4389120" cy="731520"/>
          </a:xfrm>
          <a:prstGeom prst="rect">
            <a:avLst/>
          </a:prstGeom>
          <a:noFill/>
          <a:ln/>
        </p:spPr>
        <p:txBody>
          <a:bodyPr wrap="square" lIns="0" tIns="0" rIns="0" bIns="0" rtlCol="0" anchor="ctr"/>
          <a:lstStyle/>
          <a:p>
            <a:pPr indent="0" marL="0">
              <a:buNone/>
            </a:pPr>
            <a:r>
              <a:rPr lang="en-US" sz="2000" dirty="0">
                <a:solidFill>
                  <a:srgbClr val="1F2933"/>
                </a:solidFill>
                <a:latin typeface="Calibri" pitchFamily="34" charset="0"/>
                <a:ea typeface="Calibri" pitchFamily="34" charset="-122"/>
                <a:cs typeface="Calibri" pitchFamily="34" charset="-120"/>
              </a:rPr>
              <a:t>Dimensional Fact Models</a:t>
            </a:r>
            <a:endParaRPr lang="en-US" sz="2000" dirty="0"/>
          </a:p>
        </p:txBody>
      </p:sp>
      <p:sp>
        <p:nvSpPr>
          <p:cNvPr id="16" name="Shape 14"/>
          <p:cNvSpPr/>
          <p:nvPr/>
        </p:nvSpPr>
        <p:spPr>
          <a:xfrm>
            <a:off x="6492240" y="1463040"/>
            <a:ext cx="731520" cy="731520"/>
          </a:xfrm>
          <a:prstGeom prst="ellipse">
            <a:avLst/>
          </a:prstGeom>
          <a:solidFill>
            <a:srgbClr val="1B2A41"/>
          </a:solidFill>
          <a:ln w="12700">
            <a:solidFill>
              <a:srgbClr val="FFFFFF"/>
            </a:solidFill>
            <a:prstDash val="solid"/>
          </a:ln>
        </p:spPr>
      </p:sp>
      <p:sp>
        <p:nvSpPr>
          <p:cNvPr id="17" name="Text 15"/>
          <p:cNvSpPr txBox="1"/>
          <p:nvPr/>
        </p:nvSpPr>
        <p:spPr>
          <a:xfrm>
            <a:off x="6492240" y="1463040"/>
            <a:ext cx="731520" cy="731520"/>
          </a:xfrm>
          <a:prstGeom prst="rect">
            <a:avLst/>
          </a:prstGeom>
          <a:noFill/>
          <a:ln/>
        </p:spPr>
        <p:txBody>
          <a:bodyPr wrap="square" lIns="0" tIns="0" rIns="0" bIns="0" rtlCol="0" anchor="ctr"/>
          <a:lstStyle/>
          <a:p>
            <a:pPr algn="ctr" indent="0" marL="0">
              <a:buNone/>
            </a:pPr>
            <a:r>
              <a:rPr lang="en-US" sz="2400" b="1" dirty="0">
                <a:solidFill>
                  <a:srgbClr val="FFFFFF"/>
                </a:solidFill>
                <a:latin typeface="Arial" pitchFamily="34" charset="0"/>
                <a:ea typeface="Arial" pitchFamily="34" charset="-122"/>
                <a:cs typeface="Arial" pitchFamily="34" charset="-120"/>
              </a:rPr>
              <a:t>5</a:t>
            </a:r>
            <a:endParaRPr lang="en-US" sz="2400" dirty="0"/>
          </a:p>
        </p:txBody>
      </p:sp>
      <p:sp>
        <p:nvSpPr>
          <p:cNvPr id="18" name="Text 16"/>
          <p:cNvSpPr txBox="1"/>
          <p:nvPr/>
        </p:nvSpPr>
        <p:spPr>
          <a:xfrm>
            <a:off x="7498080" y="1463040"/>
            <a:ext cx="4389120" cy="731520"/>
          </a:xfrm>
          <a:prstGeom prst="rect">
            <a:avLst/>
          </a:prstGeom>
          <a:noFill/>
          <a:ln/>
        </p:spPr>
        <p:txBody>
          <a:bodyPr wrap="square" lIns="0" tIns="0" rIns="0" bIns="0" rtlCol="0" anchor="ctr"/>
          <a:lstStyle/>
          <a:p>
            <a:pPr indent="0" marL="0">
              <a:buNone/>
            </a:pPr>
            <a:r>
              <a:rPr lang="en-US" sz="2000" dirty="0">
                <a:solidFill>
                  <a:srgbClr val="1F2933"/>
                </a:solidFill>
                <a:latin typeface="Calibri" pitchFamily="34" charset="0"/>
                <a:ea typeface="Calibri" pitchFamily="34" charset="-122"/>
                <a:cs typeface="Calibri" pitchFamily="34" charset="-120"/>
              </a:rPr>
              <a:t>Logical schema</a:t>
            </a:r>
            <a:endParaRPr lang="en-US" sz="2000" dirty="0"/>
          </a:p>
        </p:txBody>
      </p:sp>
      <p:sp>
        <p:nvSpPr>
          <p:cNvPr id="19" name="Shape 17"/>
          <p:cNvSpPr/>
          <p:nvPr/>
        </p:nvSpPr>
        <p:spPr>
          <a:xfrm>
            <a:off x="6492240" y="2606040"/>
            <a:ext cx="731520" cy="731520"/>
          </a:xfrm>
          <a:prstGeom prst="ellipse">
            <a:avLst/>
          </a:prstGeom>
          <a:solidFill>
            <a:srgbClr val="148C8C"/>
          </a:solidFill>
          <a:ln w="12700">
            <a:solidFill>
              <a:srgbClr val="FFFFFF"/>
            </a:solidFill>
            <a:prstDash val="solid"/>
          </a:ln>
        </p:spPr>
      </p:sp>
      <p:sp>
        <p:nvSpPr>
          <p:cNvPr id="20" name="Text 18"/>
          <p:cNvSpPr txBox="1"/>
          <p:nvPr/>
        </p:nvSpPr>
        <p:spPr>
          <a:xfrm>
            <a:off x="6492240" y="2606040"/>
            <a:ext cx="731520" cy="731520"/>
          </a:xfrm>
          <a:prstGeom prst="rect">
            <a:avLst/>
          </a:prstGeom>
          <a:noFill/>
          <a:ln/>
        </p:spPr>
        <p:txBody>
          <a:bodyPr wrap="square" lIns="0" tIns="0" rIns="0" bIns="0" rtlCol="0" anchor="ctr"/>
          <a:lstStyle/>
          <a:p>
            <a:pPr algn="ctr" indent="0" marL="0">
              <a:buNone/>
            </a:pPr>
            <a:r>
              <a:rPr lang="en-US" sz="2400" b="1" dirty="0">
                <a:solidFill>
                  <a:srgbClr val="FFFFFF"/>
                </a:solidFill>
                <a:latin typeface="Arial" pitchFamily="34" charset="0"/>
                <a:ea typeface="Arial" pitchFamily="34" charset="-122"/>
                <a:cs typeface="Arial" pitchFamily="34" charset="-120"/>
              </a:rPr>
              <a:t>6</a:t>
            </a:r>
            <a:endParaRPr lang="en-US" sz="2400" dirty="0"/>
          </a:p>
        </p:txBody>
      </p:sp>
      <p:sp>
        <p:nvSpPr>
          <p:cNvPr id="21" name="Text 19"/>
          <p:cNvSpPr txBox="1"/>
          <p:nvPr/>
        </p:nvSpPr>
        <p:spPr>
          <a:xfrm>
            <a:off x="7498080" y="2606040"/>
            <a:ext cx="4389120" cy="731520"/>
          </a:xfrm>
          <a:prstGeom prst="rect">
            <a:avLst/>
          </a:prstGeom>
          <a:noFill/>
          <a:ln/>
        </p:spPr>
        <p:txBody>
          <a:bodyPr wrap="square" lIns="0" tIns="0" rIns="0" bIns="0" rtlCol="0" anchor="ctr"/>
          <a:lstStyle/>
          <a:p>
            <a:pPr indent="0" marL="0">
              <a:buNone/>
            </a:pPr>
            <a:r>
              <a:rPr lang="en-US" sz="2000" dirty="0">
                <a:solidFill>
                  <a:srgbClr val="1F2933"/>
                </a:solidFill>
                <a:latin typeface="Calibri" pitchFamily="34" charset="0"/>
                <a:ea typeface="Calibri" pitchFamily="34" charset="-122"/>
                <a:cs typeface="Calibri" pitchFamily="34" charset="-120"/>
              </a:rPr>
              <a:t>OLAP queries &amp; results</a:t>
            </a:r>
            <a:endParaRPr lang="en-US" sz="2000" dirty="0"/>
          </a:p>
        </p:txBody>
      </p:sp>
      <p:sp>
        <p:nvSpPr>
          <p:cNvPr id="22" name="Shape 20"/>
          <p:cNvSpPr/>
          <p:nvPr/>
        </p:nvSpPr>
        <p:spPr>
          <a:xfrm>
            <a:off x="6492240" y="3749040"/>
            <a:ext cx="731520" cy="731520"/>
          </a:xfrm>
          <a:prstGeom prst="ellipse">
            <a:avLst/>
          </a:prstGeom>
          <a:solidFill>
            <a:srgbClr val="1B2A41"/>
          </a:solidFill>
          <a:ln w="12700">
            <a:solidFill>
              <a:srgbClr val="FFFFFF"/>
            </a:solidFill>
            <a:prstDash val="solid"/>
          </a:ln>
        </p:spPr>
      </p:sp>
      <p:sp>
        <p:nvSpPr>
          <p:cNvPr id="23" name="Text 21"/>
          <p:cNvSpPr txBox="1"/>
          <p:nvPr/>
        </p:nvSpPr>
        <p:spPr>
          <a:xfrm>
            <a:off x="6492240" y="3749040"/>
            <a:ext cx="731520" cy="731520"/>
          </a:xfrm>
          <a:prstGeom prst="rect">
            <a:avLst/>
          </a:prstGeom>
          <a:noFill/>
          <a:ln/>
        </p:spPr>
        <p:txBody>
          <a:bodyPr wrap="square" lIns="0" tIns="0" rIns="0" bIns="0" rtlCol="0" anchor="ctr"/>
          <a:lstStyle/>
          <a:p>
            <a:pPr algn="ctr" indent="0" marL="0">
              <a:buNone/>
            </a:pPr>
            <a:r>
              <a:rPr lang="en-US" sz="2400" b="1" dirty="0">
                <a:solidFill>
                  <a:srgbClr val="FFFFFF"/>
                </a:solidFill>
                <a:latin typeface="Arial" pitchFamily="34" charset="0"/>
                <a:ea typeface="Arial" pitchFamily="34" charset="-122"/>
                <a:cs typeface="Arial" pitchFamily="34" charset="-120"/>
              </a:rPr>
              <a:t>7</a:t>
            </a:r>
            <a:endParaRPr lang="en-US" sz="2400" dirty="0"/>
          </a:p>
        </p:txBody>
      </p:sp>
      <p:sp>
        <p:nvSpPr>
          <p:cNvPr id="24" name="Text 22"/>
          <p:cNvSpPr txBox="1"/>
          <p:nvPr/>
        </p:nvSpPr>
        <p:spPr>
          <a:xfrm>
            <a:off x="7498080" y="3749040"/>
            <a:ext cx="4389120" cy="731520"/>
          </a:xfrm>
          <a:prstGeom prst="rect">
            <a:avLst/>
          </a:prstGeom>
          <a:noFill/>
          <a:ln/>
        </p:spPr>
        <p:txBody>
          <a:bodyPr wrap="square" lIns="0" tIns="0" rIns="0" bIns="0" rtlCol="0" anchor="ctr"/>
          <a:lstStyle/>
          <a:p>
            <a:pPr indent="0" marL="0">
              <a:buNone/>
            </a:pPr>
            <a:r>
              <a:rPr lang="en-US" sz="2000" dirty="0">
                <a:solidFill>
                  <a:srgbClr val="1F2933"/>
                </a:solidFill>
                <a:latin typeface="Calibri" pitchFamily="34" charset="0"/>
                <a:ea typeface="Calibri" pitchFamily="34" charset="-122"/>
                <a:cs typeface="Calibri" pitchFamily="34" charset="-120"/>
              </a:rPr>
              <a:t>Conclusions</a:t>
            </a:r>
            <a:endParaRPr lang="en-US" sz="2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320040"/>
            <a:ext cx="11247120" cy="640080"/>
          </a:xfrm>
          <a:prstGeom prst="rect">
            <a:avLst/>
          </a:prstGeom>
          <a:noFill/>
          <a:ln/>
        </p:spPr>
        <p:txBody>
          <a:bodyPr wrap="square" lIns="0" tIns="0" rIns="0" bIns="0" rtlCol="0" anchor="ctr"/>
          <a:lstStyle/>
          <a:p>
            <a:pPr indent="0" marL="0">
              <a:buNone/>
            </a:pPr>
            <a:r>
              <a:rPr lang="en-US" sz="2600" b="1" dirty="0">
                <a:solidFill>
                  <a:srgbClr val="1B2A41"/>
                </a:solidFill>
                <a:latin typeface="Arial" pitchFamily="34" charset="0"/>
                <a:ea typeface="Arial" pitchFamily="34" charset="-122"/>
                <a:cs typeface="Arial" pitchFamily="34" charset="-120"/>
              </a:rPr>
              <a:t>Project idea</a:t>
            </a:r>
            <a:endParaRPr lang="en-US" sz="2600" dirty="0"/>
          </a:p>
        </p:txBody>
      </p:sp>
      <p:sp>
        <p:nvSpPr>
          <p:cNvPr id="3" name="Text 1"/>
          <p:cNvSpPr txBox="1"/>
          <p:nvPr/>
        </p:nvSpPr>
        <p:spPr>
          <a:xfrm>
            <a:off x="457200" y="987552"/>
            <a:ext cx="11247120" cy="411480"/>
          </a:xfrm>
          <a:prstGeom prst="rect">
            <a:avLst/>
          </a:prstGeom>
          <a:noFill/>
          <a:ln/>
        </p:spPr>
        <p:txBody>
          <a:bodyPr wrap="square" lIns="0" tIns="0" rIns="0" bIns="0" rtlCol="0" anchor="t"/>
          <a:lstStyle/>
          <a:p>
            <a:pPr indent="0" marL="0">
              <a:buNone/>
            </a:pPr>
            <a:r>
              <a:rPr lang="en-US" sz="1500" i="1" dirty="0">
                <a:solidFill>
                  <a:srgbClr val="5B6B7C"/>
                </a:solidFill>
                <a:latin typeface="Calibri" pitchFamily="34" charset="0"/>
                <a:ea typeface="Calibri" pitchFamily="34" charset="-122"/>
                <a:cs typeface="Calibri" pitchFamily="34" charset="-120"/>
              </a:rPr>
              <a:t>CVSS says how bad a vulnerability could be. It does not say whether anyone will exploit it.</a:t>
            </a:r>
            <a:endParaRPr lang="en-US" sz="1500" dirty="0"/>
          </a:p>
        </p:txBody>
      </p:sp>
      <p:sp>
        <p:nvSpPr>
          <p:cNvPr id="4" name="Text 2"/>
          <p:cNvSpPr txBox="1"/>
          <p:nvPr/>
        </p:nvSpPr>
        <p:spPr>
          <a:xfrm>
            <a:off x="6675120" y="6446520"/>
            <a:ext cx="5056632" cy="274320"/>
          </a:xfrm>
          <a:prstGeom prst="rect">
            <a:avLst/>
          </a:prstGeom>
          <a:noFill/>
          <a:ln/>
        </p:spPr>
        <p:txBody>
          <a:bodyPr wrap="square" lIns="0" tIns="0" rIns="0" bIns="0" rtlCol="0" anchor="ctr"/>
          <a:lstStyle/>
          <a:p>
            <a:pPr algn="r" indent="0" marL="0">
              <a:buNone/>
            </a:pPr>
            <a:r>
              <a:rPr lang="en-US" sz="900" dirty="0">
                <a:solidFill>
                  <a:srgbClr val="5B6B7C"/>
                </a:solidFill>
                <a:latin typeface="Calibri" pitchFamily="34" charset="0"/>
                <a:ea typeface="Calibri" pitchFamily="34" charset="-122"/>
                <a:cs typeface="Calibri" pitchFamily="34" charset="-120"/>
              </a:rPr>
              <a:t>CVE Data Warehouse · Alessia Angele · 3</a:t>
            </a:r>
            <a:endParaRPr lang="en-US" sz="900" dirty="0"/>
          </a:p>
        </p:txBody>
      </p:sp>
      <p:sp>
        <p:nvSpPr>
          <p:cNvPr id="5" name="Text 3"/>
          <p:cNvSpPr txBox="1"/>
          <p:nvPr/>
        </p:nvSpPr>
        <p:spPr>
          <a:xfrm>
            <a:off x="457200" y="1600200"/>
            <a:ext cx="5120640" cy="1463040"/>
          </a:xfrm>
          <a:prstGeom prst="rect">
            <a:avLst/>
          </a:prstGeom>
          <a:noFill/>
          <a:ln/>
        </p:spPr>
        <p:txBody>
          <a:bodyPr wrap="square" lIns="0" tIns="0" rIns="0" bIns="0" rtlCol="0" anchor="t"/>
          <a:lstStyle/>
          <a:p>
            <a:pPr indent="0" marL="0">
              <a:buNone/>
            </a:pPr>
            <a:r>
              <a:rPr lang="en-US" sz="1600" dirty="0">
                <a:solidFill>
                  <a:srgbClr val="1F2933"/>
                </a:solidFill>
                <a:latin typeface="Calibri" pitchFamily="34" charset="0"/>
                <a:ea typeface="Calibri" pitchFamily="34" charset="-122"/>
                <a:cs typeface="Calibri" pitchFamily="34" charset="-120"/>
              </a:rPr>
              <a:t>The warehouse joins what is disclosed (NVD), what is predicted to be exploited (EPSS) and what is confirmed exploited (CISA KEV), so that these can be compared across time, vendors and weakness types.</a:t>
            </a:r>
            <a:endParaRPr lang="en-US" sz="1600" dirty="0"/>
          </a:p>
        </p:txBody>
      </p:sp>
      <p:sp>
        <p:nvSpPr>
          <p:cNvPr id="6" name="Shape 4"/>
          <p:cNvSpPr/>
          <p:nvPr/>
        </p:nvSpPr>
        <p:spPr>
          <a:xfrm>
            <a:off x="6035040" y="1600200"/>
            <a:ext cx="5696712" cy="868680"/>
          </a:xfrm>
          <a:prstGeom prst="rect">
            <a:avLst/>
          </a:prstGeom>
          <a:solidFill>
            <a:srgbClr val="F3F5F8"/>
          </a:solidFill>
          <a:ln w="12700">
            <a:solidFill>
              <a:srgbClr val="F3F5F8"/>
            </a:solidFill>
            <a:prstDash val="solid"/>
          </a:ln>
        </p:spPr>
      </p:sp>
      <p:sp>
        <p:nvSpPr>
          <p:cNvPr id="7" name="Text 5"/>
          <p:cNvSpPr txBox="1"/>
          <p:nvPr/>
        </p:nvSpPr>
        <p:spPr>
          <a:xfrm>
            <a:off x="6217920" y="1600200"/>
            <a:ext cx="4206240" cy="868680"/>
          </a:xfrm>
          <a:prstGeom prst="rect">
            <a:avLst/>
          </a:prstGeom>
          <a:noFill/>
          <a:ln/>
        </p:spPr>
        <p:txBody>
          <a:bodyPr wrap="square" lIns="0" tIns="0" rIns="0" bIns="0" rtlCol="0" anchor="ctr"/>
          <a:lstStyle/>
          <a:p>
            <a:pPr indent="0" marL="0">
              <a:buNone/>
            </a:pPr>
            <a:r>
              <a:rPr lang="en-US" sz="1400" dirty="0">
                <a:solidFill>
                  <a:srgbClr val="1F2933"/>
                </a:solidFill>
                <a:latin typeface="Calibri" pitchFamily="34" charset="0"/>
                <a:ea typeface="Calibri" pitchFamily="34" charset="-122"/>
                <a:cs typeface="Calibri" pitchFamily="34" charset="-120"/>
              </a:rPr>
              <a:t>How fast is the volume of vulnerabilities growing?</a:t>
            </a:r>
            <a:endParaRPr lang="en-US" sz="1400" dirty="0"/>
          </a:p>
        </p:txBody>
      </p:sp>
      <p:sp>
        <p:nvSpPr>
          <p:cNvPr id="8" name="Text 6"/>
          <p:cNvSpPr txBox="1"/>
          <p:nvPr/>
        </p:nvSpPr>
        <p:spPr>
          <a:xfrm>
            <a:off x="10424160" y="1600200"/>
            <a:ext cx="1143000" cy="868680"/>
          </a:xfrm>
          <a:prstGeom prst="rect">
            <a:avLst/>
          </a:prstGeom>
          <a:noFill/>
          <a:ln/>
        </p:spPr>
        <p:txBody>
          <a:bodyPr wrap="square" lIns="0" tIns="0" rIns="0" bIns="0" rtlCol="0" anchor="ctr"/>
          <a:lstStyle/>
          <a:p>
            <a:pPr algn="r" indent="0" marL="0">
              <a:buNone/>
            </a:pPr>
            <a:r>
              <a:rPr lang="en-US" sz="1200" b="1" dirty="0">
                <a:solidFill>
                  <a:srgbClr val="148C8C"/>
                </a:solidFill>
                <a:latin typeface="Arial" pitchFamily="34" charset="0"/>
                <a:ea typeface="Arial" pitchFamily="34" charset="-122"/>
                <a:cs typeface="Arial" pitchFamily="34" charset="-120"/>
              </a:rPr>
              <a:t>Q1</a:t>
            </a:r>
            <a:endParaRPr lang="en-US" sz="1200" dirty="0"/>
          </a:p>
        </p:txBody>
      </p:sp>
      <p:sp>
        <p:nvSpPr>
          <p:cNvPr id="9" name="Shape 7"/>
          <p:cNvSpPr/>
          <p:nvPr/>
        </p:nvSpPr>
        <p:spPr>
          <a:xfrm>
            <a:off x="6035040" y="2624328"/>
            <a:ext cx="5696712" cy="868680"/>
          </a:xfrm>
          <a:prstGeom prst="rect">
            <a:avLst/>
          </a:prstGeom>
          <a:solidFill>
            <a:srgbClr val="F3F5F8"/>
          </a:solidFill>
          <a:ln w="12700">
            <a:solidFill>
              <a:srgbClr val="F3F5F8"/>
            </a:solidFill>
            <a:prstDash val="solid"/>
          </a:ln>
        </p:spPr>
      </p:sp>
      <p:sp>
        <p:nvSpPr>
          <p:cNvPr id="10" name="Text 8"/>
          <p:cNvSpPr txBox="1"/>
          <p:nvPr/>
        </p:nvSpPr>
        <p:spPr>
          <a:xfrm>
            <a:off x="6217920" y="2624328"/>
            <a:ext cx="4206240" cy="868680"/>
          </a:xfrm>
          <a:prstGeom prst="rect">
            <a:avLst/>
          </a:prstGeom>
          <a:noFill/>
          <a:ln/>
        </p:spPr>
        <p:txBody>
          <a:bodyPr wrap="square" lIns="0" tIns="0" rIns="0" bIns="0" rtlCol="0" anchor="ctr"/>
          <a:lstStyle/>
          <a:p>
            <a:pPr indent="0" marL="0">
              <a:buNone/>
            </a:pPr>
            <a:r>
              <a:rPr lang="en-US" sz="1400" dirty="0">
                <a:solidFill>
                  <a:srgbClr val="1F2933"/>
                </a:solidFill>
                <a:latin typeface="Calibri" pitchFamily="34" charset="0"/>
                <a:ea typeface="Calibri" pitchFamily="34" charset="-122"/>
                <a:cs typeface="Calibri" pitchFamily="34" charset="-120"/>
              </a:rPr>
              <a:t>Which weakness families are exploited most, relative to how common they are?</a:t>
            </a:r>
            <a:endParaRPr lang="en-US" sz="1400" dirty="0"/>
          </a:p>
        </p:txBody>
      </p:sp>
      <p:sp>
        <p:nvSpPr>
          <p:cNvPr id="11" name="Text 9"/>
          <p:cNvSpPr txBox="1"/>
          <p:nvPr/>
        </p:nvSpPr>
        <p:spPr>
          <a:xfrm>
            <a:off x="10424160" y="2624328"/>
            <a:ext cx="1143000" cy="868680"/>
          </a:xfrm>
          <a:prstGeom prst="rect">
            <a:avLst/>
          </a:prstGeom>
          <a:noFill/>
          <a:ln/>
        </p:spPr>
        <p:txBody>
          <a:bodyPr wrap="square" lIns="0" tIns="0" rIns="0" bIns="0" rtlCol="0" anchor="ctr"/>
          <a:lstStyle/>
          <a:p>
            <a:pPr algn="r" indent="0" marL="0">
              <a:buNone/>
            </a:pPr>
            <a:r>
              <a:rPr lang="en-US" sz="1200" b="1" dirty="0">
                <a:solidFill>
                  <a:srgbClr val="148C8C"/>
                </a:solidFill>
                <a:latin typeface="Arial" pitchFamily="34" charset="0"/>
                <a:ea typeface="Arial" pitchFamily="34" charset="-122"/>
                <a:cs typeface="Arial" pitchFamily="34" charset="-120"/>
              </a:rPr>
              <a:t>Q2</a:t>
            </a:r>
            <a:endParaRPr lang="en-US" sz="1200" dirty="0"/>
          </a:p>
        </p:txBody>
      </p:sp>
      <p:sp>
        <p:nvSpPr>
          <p:cNvPr id="12" name="Shape 10"/>
          <p:cNvSpPr/>
          <p:nvPr/>
        </p:nvSpPr>
        <p:spPr>
          <a:xfrm>
            <a:off x="6035040" y="3648456"/>
            <a:ext cx="5696712" cy="868680"/>
          </a:xfrm>
          <a:prstGeom prst="rect">
            <a:avLst/>
          </a:prstGeom>
          <a:solidFill>
            <a:srgbClr val="F3F5F8"/>
          </a:solidFill>
          <a:ln w="12700">
            <a:solidFill>
              <a:srgbClr val="F3F5F8"/>
            </a:solidFill>
            <a:prstDash val="solid"/>
          </a:ln>
        </p:spPr>
      </p:sp>
      <p:sp>
        <p:nvSpPr>
          <p:cNvPr id="13" name="Text 11"/>
          <p:cNvSpPr txBox="1"/>
          <p:nvPr/>
        </p:nvSpPr>
        <p:spPr>
          <a:xfrm>
            <a:off x="6217920" y="3648456"/>
            <a:ext cx="4206240" cy="868680"/>
          </a:xfrm>
          <a:prstGeom prst="rect">
            <a:avLst/>
          </a:prstGeom>
          <a:noFill/>
          <a:ln/>
        </p:spPr>
        <p:txBody>
          <a:bodyPr wrap="square" lIns="0" tIns="0" rIns="0" bIns="0" rtlCol="0" anchor="ctr"/>
          <a:lstStyle/>
          <a:p>
            <a:pPr indent="0" marL="0">
              <a:buNone/>
            </a:pPr>
            <a:r>
              <a:rPr lang="en-US" sz="1400" dirty="0">
                <a:solidFill>
                  <a:srgbClr val="1F2933"/>
                </a:solidFill>
                <a:latin typeface="Calibri" pitchFamily="34" charset="0"/>
                <a:ea typeface="Calibri" pitchFamily="34" charset="-122"/>
                <a:cs typeface="Calibri" pitchFamily="34" charset="-120"/>
              </a:rPr>
              <a:t>Does CVSS severity agree with predicted exploitation?</a:t>
            </a:r>
            <a:endParaRPr lang="en-US" sz="1400" dirty="0"/>
          </a:p>
        </p:txBody>
      </p:sp>
      <p:sp>
        <p:nvSpPr>
          <p:cNvPr id="14" name="Text 12"/>
          <p:cNvSpPr txBox="1"/>
          <p:nvPr/>
        </p:nvSpPr>
        <p:spPr>
          <a:xfrm>
            <a:off x="10424160" y="3648456"/>
            <a:ext cx="1143000" cy="868680"/>
          </a:xfrm>
          <a:prstGeom prst="rect">
            <a:avLst/>
          </a:prstGeom>
          <a:noFill/>
          <a:ln/>
        </p:spPr>
        <p:txBody>
          <a:bodyPr wrap="square" lIns="0" tIns="0" rIns="0" bIns="0" rtlCol="0" anchor="ctr"/>
          <a:lstStyle/>
          <a:p>
            <a:pPr algn="r" indent="0" marL="0">
              <a:buNone/>
            </a:pPr>
            <a:r>
              <a:rPr lang="en-US" sz="1200" b="1" dirty="0">
                <a:solidFill>
                  <a:srgbClr val="148C8C"/>
                </a:solidFill>
                <a:latin typeface="Arial" pitchFamily="34" charset="0"/>
                <a:ea typeface="Arial" pitchFamily="34" charset="-122"/>
                <a:cs typeface="Arial" pitchFamily="34" charset="-120"/>
              </a:rPr>
              <a:t>Q5</a:t>
            </a:r>
            <a:endParaRPr lang="en-US" sz="1200" dirty="0"/>
          </a:p>
        </p:txBody>
      </p:sp>
      <p:sp>
        <p:nvSpPr>
          <p:cNvPr id="15" name="Shape 13"/>
          <p:cNvSpPr/>
          <p:nvPr/>
        </p:nvSpPr>
        <p:spPr>
          <a:xfrm>
            <a:off x="6035040" y="4672584"/>
            <a:ext cx="5696712" cy="868680"/>
          </a:xfrm>
          <a:prstGeom prst="rect">
            <a:avLst/>
          </a:prstGeom>
          <a:solidFill>
            <a:srgbClr val="F3F5F8"/>
          </a:solidFill>
          <a:ln w="12700">
            <a:solidFill>
              <a:srgbClr val="F3F5F8"/>
            </a:solidFill>
            <a:prstDash val="solid"/>
          </a:ln>
        </p:spPr>
      </p:sp>
      <p:sp>
        <p:nvSpPr>
          <p:cNvPr id="16" name="Text 14"/>
          <p:cNvSpPr txBox="1"/>
          <p:nvPr/>
        </p:nvSpPr>
        <p:spPr>
          <a:xfrm>
            <a:off x="6217920" y="4672584"/>
            <a:ext cx="4206240" cy="868680"/>
          </a:xfrm>
          <a:prstGeom prst="rect">
            <a:avLst/>
          </a:prstGeom>
          <a:noFill/>
          <a:ln/>
        </p:spPr>
        <p:txBody>
          <a:bodyPr wrap="square" lIns="0" tIns="0" rIns="0" bIns="0" rtlCol="0" anchor="ctr"/>
          <a:lstStyle/>
          <a:p>
            <a:pPr indent="0" marL="0">
              <a:buNone/>
            </a:pPr>
            <a:r>
              <a:rPr lang="en-US" sz="1400" dirty="0">
                <a:solidFill>
                  <a:srgbClr val="1F2933"/>
                </a:solidFill>
                <a:latin typeface="Calibri" pitchFamily="34" charset="0"/>
                <a:ea typeface="Calibri" pitchFamily="34" charset="-122"/>
                <a:cs typeface="Calibri" pitchFamily="34" charset="-120"/>
              </a:rPr>
              <a:t>Which vendors produce vulnerabilities that end up exploited, and how quickly?</a:t>
            </a:r>
            <a:endParaRPr lang="en-US" sz="1400" dirty="0"/>
          </a:p>
        </p:txBody>
      </p:sp>
      <p:sp>
        <p:nvSpPr>
          <p:cNvPr id="17" name="Text 15"/>
          <p:cNvSpPr txBox="1"/>
          <p:nvPr/>
        </p:nvSpPr>
        <p:spPr>
          <a:xfrm>
            <a:off x="10424160" y="4672584"/>
            <a:ext cx="1143000" cy="868680"/>
          </a:xfrm>
          <a:prstGeom prst="rect">
            <a:avLst/>
          </a:prstGeom>
          <a:noFill/>
          <a:ln/>
        </p:spPr>
        <p:txBody>
          <a:bodyPr wrap="square" lIns="0" tIns="0" rIns="0" bIns="0" rtlCol="0" anchor="ctr"/>
          <a:lstStyle/>
          <a:p>
            <a:pPr algn="r" indent="0" marL="0">
              <a:buNone/>
            </a:pPr>
            <a:r>
              <a:rPr lang="en-US" sz="1200" b="1" dirty="0">
                <a:solidFill>
                  <a:srgbClr val="148C8C"/>
                </a:solidFill>
                <a:latin typeface="Arial" pitchFamily="34" charset="0"/>
                <a:ea typeface="Arial" pitchFamily="34" charset="-122"/>
                <a:cs typeface="Arial" pitchFamily="34" charset="-120"/>
              </a:rPr>
              <a:t>Q4 · Q6 · Q7</a:t>
            </a:r>
            <a:endParaRPr lang="en-US" sz="1200" dirty="0"/>
          </a:p>
        </p:txBody>
      </p:sp>
      <p:sp>
        <p:nvSpPr>
          <p:cNvPr id="18" name="Text 16"/>
          <p:cNvSpPr txBox="1"/>
          <p:nvPr/>
        </p:nvSpPr>
        <p:spPr>
          <a:xfrm>
            <a:off x="457200" y="3383280"/>
            <a:ext cx="5120640" cy="1188720"/>
          </a:xfrm>
          <a:prstGeom prst="rect">
            <a:avLst/>
          </a:prstGeom>
          <a:noFill/>
          <a:ln/>
        </p:spPr>
        <p:txBody>
          <a:bodyPr wrap="square" lIns="0" tIns="0" rIns="0" bIns="0" rtlCol="0" anchor="t"/>
          <a:lstStyle/>
          <a:p>
            <a:pPr indent="0" marL="0">
              <a:buNone/>
            </a:pPr>
            <a:r>
              <a:rPr lang="en-US" sz="1500" b="1" dirty="0">
                <a:solidFill>
                  <a:srgbClr val="1B2A41"/>
                </a:solidFill>
                <a:latin typeface="Calibri" pitchFamily="34" charset="0"/>
                <a:ea typeface="Calibri" pitchFamily="34" charset="-122"/>
                <a:cs typeface="Calibri" pitchFamily="34" charset="-120"/>
              </a:rPr>
              <a:t>Two business processes → two fact tables</a:t>
            </a:r>
            <a:endParaRPr lang="en-US" sz="1500" dirty="0"/>
          </a:p>
          <a:p>
            <a:pPr indent="0" marL="0">
              <a:buNone/>
            </a:pPr>
            <a:r>
              <a:rPr lang="en-US" sz="1500" dirty="0">
                <a:solidFill>
                  <a:srgbClr val="1B2A41"/>
                </a:solidFill>
                <a:latin typeface="Calibri" pitchFamily="34" charset="0"/>
                <a:ea typeface="Calibri" pitchFamily="34" charset="-122"/>
                <a:cs typeface="Calibri" pitchFamily="34" charset="-120"/>
              </a:rPr>
              <a:t>1. a CVE is published in NVD</a:t>
            </a:r>
            <a:endParaRPr lang="en-US" sz="1500" dirty="0"/>
          </a:p>
          <a:p>
            <a:pPr indent="0" marL="0">
              <a:buNone/>
            </a:pPr>
            <a:r>
              <a:rPr lang="en-US" sz="1500" dirty="0">
                <a:solidFill>
                  <a:srgbClr val="1B2A41"/>
                </a:solidFill>
                <a:latin typeface="Calibri" pitchFamily="34" charset="0"/>
                <a:ea typeface="Calibri" pitchFamily="34" charset="-122"/>
                <a:cs typeface="Calibri" pitchFamily="34" charset="-120"/>
              </a:rPr>
              <a:t>2. a CVE is added to the CISA KEV catalog</a:t>
            </a:r>
            <a:endParaRPr lang="en-US" sz="15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320040"/>
            <a:ext cx="11247120" cy="640080"/>
          </a:xfrm>
          <a:prstGeom prst="rect">
            <a:avLst/>
          </a:prstGeom>
          <a:noFill/>
          <a:ln/>
        </p:spPr>
        <p:txBody>
          <a:bodyPr wrap="square" lIns="0" tIns="0" rIns="0" bIns="0" rtlCol="0" anchor="ctr"/>
          <a:lstStyle/>
          <a:p>
            <a:pPr indent="0" marL="0">
              <a:buNone/>
            </a:pPr>
            <a:r>
              <a:rPr lang="en-US" sz="2600" b="1" dirty="0">
                <a:solidFill>
                  <a:srgbClr val="1B2A41"/>
                </a:solidFill>
                <a:latin typeface="Arial" pitchFamily="34" charset="0"/>
                <a:ea typeface="Arial" pitchFamily="34" charset="-122"/>
                <a:cs typeface="Arial" pitchFamily="34" charset="-120"/>
              </a:rPr>
              <a:t>Data sources</a:t>
            </a:r>
            <a:endParaRPr lang="en-US" sz="2600" dirty="0"/>
          </a:p>
        </p:txBody>
      </p:sp>
      <p:sp>
        <p:nvSpPr>
          <p:cNvPr id="3" name="Text 1"/>
          <p:cNvSpPr txBox="1"/>
          <p:nvPr/>
        </p:nvSpPr>
        <p:spPr>
          <a:xfrm>
            <a:off x="457200" y="987552"/>
            <a:ext cx="11247120" cy="411480"/>
          </a:xfrm>
          <a:prstGeom prst="rect">
            <a:avLst/>
          </a:prstGeom>
          <a:noFill/>
          <a:ln/>
        </p:spPr>
        <p:txBody>
          <a:bodyPr wrap="square" lIns="0" tIns="0" rIns="0" bIns="0" rtlCol="0" anchor="t"/>
          <a:lstStyle/>
          <a:p>
            <a:pPr indent="0" marL="0">
              <a:buNone/>
            </a:pPr>
            <a:r>
              <a:rPr lang="en-US" sz="1500" i="1" dirty="0">
                <a:solidFill>
                  <a:srgbClr val="5B6B7C"/>
                </a:solidFill>
                <a:latin typeface="Calibri" pitchFamily="34" charset="0"/>
                <a:ea typeface="Calibri" pitchFamily="34" charset="-122"/>
                <a:cs typeface="Calibri" pitchFamily="34" charset="-120"/>
              </a:rPr>
              <a:t>Five files from four providers, integrated by the ETL (snapshot of 2 May 2026)</a:t>
            </a:r>
            <a:endParaRPr lang="en-US" sz="1500" dirty="0"/>
          </a:p>
        </p:txBody>
      </p:sp>
      <p:sp>
        <p:nvSpPr>
          <p:cNvPr id="4" name="Text 2"/>
          <p:cNvSpPr txBox="1"/>
          <p:nvPr/>
        </p:nvSpPr>
        <p:spPr>
          <a:xfrm>
            <a:off x="6675120" y="6446520"/>
            <a:ext cx="5056632" cy="274320"/>
          </a:xfrm>
          <a:prstGeom prst="rect">
            <a:avLst/>
          </a:prstGeom>
          <a:noFill/>
          <a:ln/>
        </p:spPr>
        <p:txBody>
          <a:bodyPr wrap="square" lIns="0" tIns="0" rIns="0" bIns="0" rtlCol="0" anchor="ctr"/>
          <a:lstStyle/>
          <a:p>
            <a:pPr algn="r" indent="0" marL="0">
              <a:buNone/>
            </a:pPr>
            <a:r>
              <a:rPr lang="en-US" sz="900" dirty="0">
                <a:solidFill>
                  <a:srgbClr val="5B6B7C"/>
                </a:solidFill>
                <a:latin typeface="Calibri" pitchFamily="34" charset="0"/>
                <a:ea typeface="Calibri" pitchFamily="34" charset="-122"/>
                <a:cs typeface="Calibri" pitchFamily="34" charset="-120"/>
              </a:rPr>
              <a:t>CVE Data Warehouse · Alessia Angele · 4</a:t>
            </a:r>
            <a:endParaRPr lang="en-US" sz="90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457200" y="1600200"/>
          <a:ext cx="11274552" cy="914400"/>
        </p:xfrm>
        <a:graphic>
          <a:graphicData uri="http://schemas.openxmlformats.org/drawingml/2006/table">
            <a:tbl>
              <a:tblPr/>
              <a:tblGrid>
                <a:gridCol w="2194560"/>
                <a:gridCol w="1005840"/>
                <a:gridCol w="2651760"/>
                <a:gridCol w="1280160"/>
                <a:gridCol w="4142232"/>
              </a:tblGrid>
              <a:tr h="438912">
                <a:tc>
                  <a:txBody>
                    <a:bodyPr/>
                    <a:lstStyle/>
                    <a:p>
                      <a:pPr indent="0" marL="0">
                        <a:buNone/>
                      </a:pPr>
                      <a:r>
                        <a:rPr lang="en-US" sz="1250" b="1" dirty="0">
                          <a:solidFill>
                            <a:srgbClr val="FFFFFF"/>
                          </a:solidFill>
                          <a:latin typeface="Calibri" pitchFamily="34" charset="0"/>
                          <a:ea typeface="Calibri" pitchFamily="34" charset="-122"/>
                          <a:cs typeface="Calibri" pitchFamily="34" charset="-120"/>
                        </a:rPr>
                        <a:t>Source</a:t>
                      </a:r>
                      <a:endParaRPr lang="en-US" sz="1250" dirty="0">
                        <a:latin typeface="Calibri" charset="0"/>
                        <a:ea typeface="Calibri" charset="0"/>
                        <a:cs typeface="Calibr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1B2A41"/>
                    </a:solidFill>
                  </a:tcPr>
                </a:tc>
                <a:tc>
                  <a:txBody>
                    <a:bodyPr/>
                    <a:lstStyle/>
                    <a:p>
                      <a:pPr indent="0" marL="0">
                        <a:buNone/>
                      </a:pPr>
                      <a:r>
                        <a:rPr lang="en-US" sz="1250" b="1" dirty="0">
                          <a:solidFill>
                            <a:srgbClr val="FFFFFF"/>
                          </a:solidFill>
                          <a:latin typeface="Calibri" pitchFamily="34" charset="0"/>
                          <a:ea typeface="Calibri" pitchFamily="34" charset="-122"/>
                          <a:cs typeface="Calibri" pitchFamily="34" charset="-120"/>
                        </a:rPr>
                        <a:t>Provider</a:t>
                      </a:r>
                      <a:endParaRPr lang="en-US" sz="1250" dirty="0">
                        <a:latin typeface="Calibri" charset="0"/>
                        <a:ea typeface="Calibri" charset="0"/>
                        <a:cs typeface="Calibr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1B2A41"/>
                    </a:solidFill>
                  </a:tcPr>
                </a:tc>
                <a:tc>
                  <a:txBody>
                    <a:bodyPr/>
                    <a:lstStyle/>
                    <a:p>
                      <a:pPr indent="0" marL="0">
                        <a:buNone/>
                      </a:pPr>
                      <a:r>
                        <a:rPr lang="en-US" sz="1250" b="1" dirty="0">
                          <a:solidFill>
                            <a:srgbClr val="FFFFFF"/>
                          </a:solidFill>
                          <a:latin typeface="Calibri" pitchFamily="34" charset="0"/>
                          <a:ea typeface="Calibri" pitchFamily="34" charset="-122"/>
                          <a:cs typeface="Calibri" pitchFamily="34" charset="-120"/>
                        </a:rPr>
                        <a:t>File</a:t>
                      </a:r>
                      <a:endParaRPr lang="en-US" sz="1250" dirty="0">
                        <a:latin typeface="Calibri" charset="0"/>
                        <a:ea typeface="Calibri" charset="0"/>
                        <a:cs typeface="Calibr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1B2A41"/>
                    </a:solidFill>
                  </a:tcPr>
                </a:tc>
                <a:tc>
                  <a:txBody>
                    <a:bodyPr/>
                    <a:lstStyle/>
                    <a:p>
                      <a:pPr indent="0" marL="0">
                        <a:buNone/>
                      </a:pPr>
                      <a:r>
                        <a:rPr lang="en-US" sz="1250" b="1" dirty="0">
                          <a:solidFill>
                            <a:srgbClr val="FFFFFF"/>
                          </a:solidFill>
                          <a:latin typeface="Calibri" pitchFamily="34" charset="0"/>
                          <a:ea typeface="Calibri" pitchFamily="34" charset="-122"/>
                          <a:cs typeface="Calibri" pitchFamily="34" charset="-120"/>
                        </a:rPr>
                        <a:t>Rows read</a:t>
                      </a:r>
                      <a:endParaRPr lang="en-US" sz="1250" dirty="0">
                        <a:latin typeface="Calibri" charset="0"/>
                        <a:ea typeface="Calibri" charset="0"/>
                        <a:cs typeface="Calibr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1B2A41"/>
                    </a:solidFill>
                  </a:tcPr>
                </a:tc>
                <a:tc>
                  <a:txBody>
                    <a:bodyPr/>
                    <a:lstStyle/>
                    <a:p>
                      <a:pPr indent="0" marL="0">
                        <a:buNone/>
                      </a:pPr>
                      <a:r>
                        <a:rPr lang="en-US" sz="1250" b="1" dirty="0">
                          <a:solidFill>
                            <a:srgbClr val="FFFFFF"/>
                          </a:solidFill>
                          <a:latin typeface="Calibri" pitchFamily="34" charset="0"/>
                          <a:ea typeface="Calibri" pitchFamily="34" charset="-122"/>
                          <a:cs typeface="Calibri" pitchFamily="34" charset="-120"/>
                        </a:rPr>
                        <a:t>Used for</a:t>
                      </a:r>
                      <a:endParaRPr lang="en-US" sz="1250" dirty="0">
                        <a:latin typeface="Calibri" charset="0"/>
                        <a:ea typeface="Calibri" charset="0"/>
                        <a:cs typeface="Calibr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1B2A41"/>
                    </a:solidFill>
                  </a:tcPr>
                </a:tc>
              </a:tr>
              <a:tr h="438912">
                <a:tc>
                  <a:txBody>
                    <a:bodyPr/>
                    <a:lstStyle/>
                    <a:p>
                      <a:pPr indent="0" marL="0">
                        <a:buNone/>
                      </a:pPr>
                      <a:r>
                        <a:rPr lang="en-US" sz="1250" dirty="0">
                          <a:solidFill>
                            <a:srgbClr val="1F2933"/>
                          </a:solidFill>
                          <a:latin typeface="Calibri" pitchFamily="34" charset="0"/>
                          <a:ea typeface="Calibri" pitchFamily="34" charset="-122"/>
                          <a:cs typeface="Calibri" pitchFamily="34" charset="-120"/>
                        </a:rPr>
                        <a:t>NVD CVE records</a:t>
                      </a:r>
                      <a:endParaRPr lang="en-US" sz="1250" dirty="0">
                        <a:latin typeface="Calibri" charset="0"/>
                        <a:ea typeface="Calibri" charset="0"/>
                        <a:cs typeface="Calibr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c>
                  <a:txBody>
                    <a:bodyPr/>
                    <a:lstStyle/>
                    <a:p>
                      <a:pPr indent="0" marL="0">
                        <a:buNone/>
                      </a:pPr>
                      <a:r>
                        <a:rPr lang="en-US" sz="1250" dirty="0">
                          <a:solidFill>
                            <a:srgbClr val="1F2933"/>
                          </a:solidFill>
                          <a:latin typeface="Calibri" pitchFamily="34" charset="0"/>
                          <a:ea typeface="Calibri" pitchFamily="34" charset="-122"/>
                          <a:cs typeface="Calibri" pitchFamily="34" charset="-120"/>
                        </a:rPr>
                        <a:t>NIST</a:t>
                      </a:r>
                      <a:endParaRPr lang="en-US" sz="1250" dirty="0">
                        <a:latin typeface="Calibri" charset="0"/>
                        <a:ea typeface="Calibri" charset="0"/>
                        <a:cs typeface="Calibr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c>
                  <a:txBody>
                    <a:bodyPr/>
                    <a:lstStyle/>
                    <a:p>
                      <a:pPr indent="0" marL="0">
                        <a:buNone/>
                      </a:pPr>
                      <a:r>
                        <a:rPr lang="en-US" sz="1250" dirty="0">
                          <a:solidFill>
                            <a:srgbClr val="1F2933"/>
                          </a:solidFill>
                          <a:latin typeface="Calibri" pitchFamily="34" charset="0"/>
                          <a:ea typeface="Calibri" pitchFamily="34" charset="-122"/>
                          <a:cs typeface="Calibri" pitchFamily="34" charset="-120"/>
                        </a:rPr>
                        <a:t>nvd_cve_records.csv</a:t>
                      </a:r>
                      <a:endParaRPr lang="en-US" sz="1250" dirty="0">
                        <a:latin typeface="Calibri" charset="0"/>
                        <a:ea typeface="Calibri" charset="0"/>
                        <a:cs typeface="Calibr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c>
                  <a:txBody>
                    <a:bodyPr/>
                    <a:lstStyle/>
                    <a:p>
                      <a:pPr indent="0" marL="0">
                        <a:buNone/>
                      </a:pPr>
                      <a:r>
                        <a:rPr lang="en-US" sz="1250" dirty="0">
                          <a:solidFill>
                            <a:srgbClr val="1F2933"/>
                          </a:solidFill>
                          <a:latin typeface="Calibri" pitchFamily="34" charset="0"/>
                          <a:ea typeface="Calibri" pitchFamily="34" charset="-122"/>
                          <a:cs typeface="Calibri" pitchFamily="34" charset="-120"/>
                        </a:rPr>
                        <a:t>201,542</a:t>
                      </a:r>
                      <a:endParaRPr lang="en-US" sz="1250" dirty="0">
                        <a:latin typeface="Calibri" charset="0"/>
                        <a:ea typeface="Calibri" charset="0"/>
                        <a:cs typeface="Calibr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c>
                  <a:txBody>
                    <a:bodyPr/>
                    <a:lstStyle/>
                    <a:p>
                      <a:pPr indent="0" marL="0">
                        <a:buNone/>
                      </a:pPr>
                      <a:r>
                        <a:rPr lang="en-US" sz="1250" dirty="0">
                          <a:solidFill>
                            <a:srgbClr val="1F2933"/>
                          </a:solidFill>
                          <a:latin typeface="Calibri" pitchFamily="34" charset="0"/>
                          <a:ea typeface="Calibri" pitchFamily="34" charset="-122"/>
                          <a:cs typeface="Calibri" pitchFamily="34" charset="-120"/>
                        </a:rPr>
                        <a:t>CVE, dates, CVSS, severity, attack vector</a:t>
                      </a:r>
                      <a:endParaRPr lang="en-US" sz="1250" dirty="0">
                        <a:latin typeface="Calibri" charset="0"/>
                        <a:ea typeface="Calibri" charset="0"/>
                        <a:cs typeface="Calibr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r>
              <a:tr h="438912">
                <a:tc>
                  <a:txBody>
                    <a:bodyPr/>
                    <a:lstStyle/>
                    <a:p>
                      <a:pPr indent="0" marL="0">
                        <a:buNone/>
                      </a:pPr>
                      <a:r>
                        <a:rPr lang="en-US" sz="1250" dirty="0">
                          <a:solidFill>
                            <a:srgbClr val="1F2933"/>
                          </a:solidFill>
                          <a:latin typeface="Calibri" pitchFamily="34" charset="0"/>
                          <a:ea typeface="Calibri" pitchFamily="34" charset="-122"/>
                          <a:cs typeface="Calibri" pitchFamily="34" charset="-120"/>
                        </a:rPr>
                        <a:t>NVD weaknesses</a:t>
                      </a:r>
                      <a:endParaRPr lang="en-US" sz="1250" dirty="0">
                        <a:latin typeface="Calibri" charset="0"/>
                        <a:ea typeface="Calibri" charset="0"/>
                        <a:cs typeface="Calibr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c>
                  <a:txBody>
                    <a:bodyPr/>
                    <a:lstStyle/>
                    <a:p>
                      <a:pPr indent="0" marL="0">
                        <a:buNone/>
                      </a:pPr>
                      <a:r>
                        <a:rPr lang="en-US" sz="1250" dirty="0">
                          <a:solidFill>
                            <a:srgbClr val="1F2933"/>
                          </a:solidFill>
                          <a:latin typeface="Calibri" pitchFamily="34" charset="0"/>
                          <a:ea typeface="Calibri" pitchFamily="34" charset="-122"/>
                          <a:cs typeface="Calibri" pitchFamily="34" charset="-120"/>
                        </a:rPr>
                        <a:t>NIST</a:t>
                      </a:r>
                      <a:endParaRPr lang="en-US" sz="1250" dirty="0">
                        <a:latin typeface="Calibri" charset="0"/>
                        <a:ea typeface="Calibri" charset="0"/>
                        <a:cs typeface="Calibr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c>
                  <a:txBody>
                    <a:bodyPr/>
                    <a:lstStyle/>
                    <a:p>
                      <a:pPr indent="0" marL="0">
                        <a:buNone/>
                      </a:pPr>
                      <a:r>
                        <a:rPr lang="en-US" sz="1250" dirty="0">
                          <a:solidFill>
                            <a:srgbClr val="1F2933"/>
                          </a:solidFill>
                          <a:latin typeface="Calibri" pitchFamily="34" charset="0"/>
                          <a:ea typeface="Calibri" pitchFamily="34" charset="-122"/>
                          <a:cs typeface="Calibri" pitchFamily="34" charset="-120"/>
                        </a:rPr>
                        <a:t>nvd_cve_weaknesses.csv</a:t>
                      </a:r>
                      <a:endParaRPr lang="en-US" sz="1250" dirty="0">
                        <a:latin typeface="Calibri" charset="0"/>
                        <a:ea typeface="Calibri" charset="0"/>
                        <a:cs typeface="Calibr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c>
                  <a:txBody>
                    <a:bodyPr/>
                    <a:lstStyle/>
                    <a:p>
                      <a:pPr indent="0" marL="0">
                        <a:buNone/>
                      </a:pPr>
                      <a:r>
                        <a:rPr lang="en-US" sz="1250" dirty="0">
                          <a:solidFill>
                            <a:srgbClr val="1F2933"/>
                          </a:solidFill>
                          <a:latin typeface="Calibri" pitchFamily="34" charset="0"/>
                          <a:ea typeface="Calibri" pitchFamily="34" charset="-122"/>
                          <a:cs typeface="Calibri" pitchFamily="34" charset="-120"/>
                        </a:rPr>
                        <a:t>260,862</a:t>
                      </a:r>
                      <a:endParaRPr lang="en-US" sz="1250" dirty="0">
                        <a:latin typeface="Calibri" charset="0"/>
                        <a:ea typeface="Calibri" charset="0"/>
                        <a:cs typeface="Calibr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c>
                  <a:txBody>
                    <a:bodyPr/>
                    <a:lstStyle/>
                    <a:p>
                      <a:pPr indent="0" marL="0">
                        <a:buNone/>
                      </a:pPr>
                      <a:r>
                        <a:rPr lang="en-US" sz="1250" dirty="0">
                          <a:solidFill>
                            <a:srgbClr val="1F2933"/>
                          </a:solidFill>
                          <a:latin typeface="Calibri" pitchFamily="34" charset="0"/>
                          <a:ea typeface="Calibri" pitchFamily="34" charset="-122"/>
                          <a:cs typeface="Calibri" pitchFamily="34" charset="-120"/>
                        </a:rPr>
                        <a:t>CVE → CWE</a:t>
                      </a:r>
                      <a:endParaRPr lang="en-US" sz="1250" dirty="0">
                        <a:latin typeface="Calibri" charset="0"/>
                        <a:ea typeface="Calibri" charset="0"/>
                        <a:cs typeface="Calibr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r>
              <a:tr h="438912">
                <a:tc>
                  <a:txBody>
                    <a:bodyPr/>
                    <a:lstStyle/>
                    <a:p>
                      <a:pPr indent="0" marL="0">
                        <a:buNone/>
                      </a:pPr>
                      <a:r>
                        <a:rPr lang="en-US" sz="1250" dirty="0">
                          <a:solidFill>
                            <a:srgbClr val="1F2933"/>
                          </a:solidFill>
                          <a:latin typeface="Calibri" pitchFamily="34" charset="0"/>
                          <a:ea typeface="Calibri" pitchFamily="34" charset="-122"/>
                          <a:cs typeface="Calibri" pitchFamily="34" charset="-120"/>
                        </a:rPr>
                        <a:t>NVD CPE matches</a:t>
                      </a:r>
                      <a:endParaRPr lang="en-US" sz="1250" dirty="0">
                        <a:latin typeface="Calibri" charset="0"/>
                        <a:ea typeface="Calibri" charset="0"/>
                        <a:cs typeface="Calibr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c>
                  <a:txBody>
                    <a:bodyPr/>
                    <a:lstStyle/>
                    <a:p>
                      <a:pPr indent="0" marL="0">
                        <a:buNone/>
                      </a:pPr>
                      <a:r>
                        <a:rPr lang="en-US" sz="1250" dirty="0">
                          <a:solidFill>
                            <a:srgbClr val="1F2933"/>
                          </a:solidFill>
                          <a:latin typeface="Calibri" pitchFamily="34" charset="0"/>
                          <a:ea typeface="Calibri" pitchFamily="34" charset="-122"/>
                          <a:cs typeface="Calibri" pitchFamily="34" charset="-120"/>
                        </a:rPr>
                        <a:t>NIST</a:t>
                      </a:r>
                      <a:endParaRPr lang="en-US" sz="1250" dirty="0">
                        <a:latin typeface="Calibri" charset="0"/>
                        <a:ea typeface="Calibri" charset="0"/>
                        <a:cs typeface="Calibr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c>
                  <a:txBody>
                    <a:bodyPr/>
                    <a:lstStyle/>
                    <a:p>
                      <a:pPr indent="0" marL="0">
                        <a:buNone/>
                      </a:pPr>
                      <a:r>
                        <a:rPr lang="en-US" sz="1250" dirty="0">
                          <a:solidFill>
                            <a:srgbClr val="1F2933"/>
                          </a:solidFill>
                          <a:latin typeface="Calibri" pitchFamily="34" charset="0"/>
                          <a:ea typeface="Calibri" pitchFamily="34" charset="-122"/>
                          <a:cs typeface="Calibri" pitchFamily="34" charset="-120"/>
                        </a:rPr>
                        <a:t>nvd_cve_cpe_matches.csv</a:t>
                      </a:r>
                      <a:endParaRPr lang="en-US" sz="1250" dirty="0">
                        <a:latin typeface="Calibri" charset="0"/>
                        <a:ea typeface="Calibri" charset="0"/>
                        <a:cs typeface="Calibr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c>
                  <a:txBody>
                    <a:bodyPr/>
                    <a:lstStyle/>
                    <a:p>
                      <a:pPr indent="0" marL="0">
                        <a:buNone/>
                      </a:pPr>
                      <a:r>
                        <a:rPr lang="en-US" sz="1250" dirty="0">
                          <a:solidFill>
                            <a:srgbClr val="1F2933"/>
                          </a:solidFill>
                          <a:latin typeface="Calibri" pitchFamily="34" charset="0"/>
                          <a:ea typeface="Calibri" pitchFamily="34" charset="-122"/>
                          <a:cs typeface="Calibri" pitchFamily="34" charset="-120"/>
                        </a:rPr>
                        <a:t>1,550,739</a:t>
                      </a:r>
                      <a:endParaRPr lang="en-US" sz="1250" dirty="0">
                        <a:latin typeface="Calibri" charset="0"/>
                        <a:ea typeface="Calibri" charset="0"/>
                        <a:cs typeface="Calibr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c>
                  <a:txBody>
                    <a:bodyPr/>
                    <a:lstStyle/>
                    <a:p>
                      <a:pPr indent="0" marL="0">
                        <a:buNone/>
                      </a:pPr>
                      <a:r>
                        <a:rPr lang="en-US" sz="1250" dirty="0">
                          <a:solidFill>
                            <a:srgbClr val="1F2933"/>
                          </a:solidFill>
                          <a:latin typeface="Calibri" pitchFamily="34" charset="0"/>
                          <a:ea typeface="Calibri" pitchFamily="34" charset="-122"/>
                          <a:cs typeface="Calibri" pitchFamily="34" charset="-120"/>
                        </a:rPr>
                        <a:t>CVE → vendor / product</a:t>
                      </a:r>
                      <a:endParaRPr lang="en-US" sz="1250" dirty="0">
                        <a:latin typeface="Calibri" charset="0"/>
                        <a:ea typeface="Calibri" charset="0"/>
                        <a:cs typeface="Calibr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r>
              <a:tr h="438912">
                <a:tc>
                  <a:txBody>
                    <a:bodyPr/>
                    <a:lstStyle/>
                    <a:p>
                      <a:pPr indent="0" marL="0">
                        <a:buNone/>
                      </a:pPr>
                      <a:r>
                        <a:rPr lang="en-US" sz="1250" dirty="0">
                          <a:solidFill>
                            <a:srgbClr val="1F2933"/>
                          </a:solidFill>
                          <a:latin typeface="Calibri" pitchFamily="34" charset="0"/>
                          <a:ea typeface="Calibri" pitchFamily="34" charset="-122"/>
                          <a:cs typeface="Calibri" pitchFamily="34" charset="-120"/>
                        </a:rPr>
                        <a:t>EPSS scores</a:t>
                      </a:r>
                      <a:endParaRPr lang="en-US" sz="1250" dirty="0">
                        <a:latin typeface="Calibri" charset="0"/>
                        <a:ea typeface="Calibri" charset="0"/>
                        <a:cs typeface="Calibr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c>
                  <a:txBody>
                    <a:bodyPr/>
                    <a:lstStyle/>
                    <a:p>
                      <a:pPr indent="0" marL="0">
                        <a:buNone/>
                      </a:pPr>
                      <a:r>
                        <a:rPr lang="en-US" sz="1250" dirty="0">
                          <a:solidFill>
                            <a:srgbClr val="1F2933"/>
                          </a:solidFill>
                          <a:latin typeface="Calibri" pitchFamily="34" charset="0"/>
                          <a:ea typeface="Calibri" pitchFamily="34" charset="-122"/>
                          <a:cs typeface="Calibri" pitchFamily="34" charset="-120"/>
                        </a:rPr>
                        <a:t>FIRST</a:t>
                      </a:r>
                      <a:endParaRPr lang="en-US" sz="1250" dirty="0">
                        <a:latin typeface="Calibri" charset="0"/>
                        <a:ea typeface="Calibri" charset="0"/>
                        <a:cs typeface="Calibr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c>
                  <a:txBody>
                    <a:bodyPr/>
                    <a:lstStyle/>
                    <a:p>
                      <a:pPr indent="0" marL="0">
                        <a:buNone/>
                      </a:pPr>
                      <a:r>
                        <a:rPr lang="en-US" sz="1250" dirty="0">
                          <a:solidFill>
                            <a:srgbClr val="1F2933"/>
                          </a:solidFill>
                          <a:latin typeface="Calibri" pitchFamily="34" charset="0"/>
                          <a:ea typeface="Calibri" pitchFamily="34" charset="-122"/>
                          <a:cs typeface="Calibri" pitchFamily="34" charset="-120"/>
                        </a:rPr>
                        <a:t>first_epss_current.csv</a:t>
                      </a:r>
                      <a:endParaRPr lang="en-US" sz="1250" dirty="0">
                        <a:latin typeface="Calibri" charset="0"/>
                        <a:ea typeface="Calibri" charset="0"/>
                        <a:cs typeface="Calibr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c>
                  <a:txBody>
                    <a:bodyPr/>
                    <a:lstStyle/>
                    <a:p>
                      <a:pPr indent="0" marL="0">
                        <a:buNone/>
                      </a:pPr>
                      <a:r>
                        <a:rPr lang="en-US" sz="1250" dirty="0">
                          <a:solidFill>
                            <a:srgbClr val="1F2933"/>
                          </a:solidFill>
                          <a:latin typeface="Calibri" pitchFamily="34" charset="0"/>
                          <a:ea typeface="Calibri" pitchFamily="34" charset="-122"/>
                          <a:cs typeface="Calibri" pitchFamily="34" charset="-120"/>
                        </a:rPr>
                        <a:t>329,934</a:t>
                      </a:r>
                      <a:endParaRPr lang="en-US" sz="1250" dirty="0">
                        <a:latin typeface="Calibri" charset="0"/>
                        <a:ea typeface="Calibri" charset="0"/>
                        <a:cs typeface="Calibr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c>
                  <a:txBody>
                    <a:bodyPr/>
                    <a:lstStyle/>
                    <a:p>
                      <a:pPr indent="0" marL="0">
                        <a:buNone/>
                      </a:pPr>
                      <a:r>
                        <a:rPr lang="en-US" sz="1250" dirty="0">
                          <a:solidFill>
                            <a:srgbClr val="1F2933"/>
                          </a:solidFill>
                          <a:latin typeface="Calibri" pitchFamily="34" charset="0"/>
                          <a:ea typeface="Calibri" pitchFamily="34" charset="-122"/>
                          <a:cs typeface="Calibri" pitchFamily="34" charset="-120"/>
                        </a:rPr>
                        <a:t>probability of exploitation in 30 days</a:t>
                      </a:r>
                      <a:endParaRPr lang="en-US" sz="1250" dirty="0">
                        <a:latin typeface="Calibri" charset="0"/>
                        <a:ea typeface="Calibri" charset="0"/>
                        <a:cs typeface="Calibr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r>
              <a:tr h="438912">
                <a:tc>
                  <a:txBody>
                    <a:bodyPr/>
                    <a:lstStyle/>
                    <a:p>
                      <a:pPr indent="0" marL="0">
                        <a:buNone/>
                      </a:pPr>
                      <a:r>
                        <a:rPr lang="en-US" sz="1250" dirty="0">
                          <a:solidFill>
                            <a:srgbClr val="1F2933"/>
                          </a:solidFill>
                          <a:latin typeface="Calibri" pitchFamily="34" charset="0"/>
                          <a:ea typeface="Calibri" pitchFamily="34" charset="-122"/>
                          <a:cs typeface="Calibri" pitchFamily="34" charset="-120"/>
                        </a:rPr>
                        <a:t>KEV catalog</a:t>
                      </a:r>
                      <a:endParaRPr lang="en-US" sz="1250" dirty="0">
                        <a:latin typeface="Calibri" charset="0"/>
                        <a:ea typeface="Calibri" charset="0"/>
                        <a:cs typeface="Calibr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c>
                  <a:txBody>
                    <a:bodyPr/>
                    <a:lstStyle/>
                    <a:p>
                      <a:pPr indent="0" marL="0">
                        <a:buNone/>
                      </a:pPr>
                      <a:r>
                        <a:rPr lang="en-US" sz="1250" dirty="0">
                          <a:solidFill>
                            <a:srgbClr val="1F2933"/>
                          </a:solidFill>
                          <a:latin typeface="Calibri" pitchFamily="34" charset="0"/>
                          <a:ea typeface="Calibri" pitchFamily="34" charset="-122"/>
                          <a:cs typeface="Calibri" pitchFamily="34" charset="-120"/>
                        </a:rPr>
                        <a:t>CISA</a:t>
                      </a:r>
                      <a:endParaRPr lang="en-US" sz="1250" dirty="0">
                        <a:latin typeface="Calibri" charset="0"/>
                        <a:ea typeface="Calibri" charset="0"/>
                        <a:cs typeface="Calibr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c>
                  <a:txBody>
                    <a:bodyPr/>
                    <a:lstStyle/>
                    <a:p>
                      <a:pPr indent="0" marL="0">
                        <a:buNone/>
                      </a:pPr>
                      <a:r>
                        <a:rPr lang="en-US" sz="1250" dirty="0">
                          <a:solidFill>
                            <a:srgbClr val="1F2933"/>
                          </a:solidFill>
                          <a:latin typeface="Calibri" pitchFamily="34" charset="0"/>
                          <a:ea typeface="Calibri" pitchFamily="34" charset="-122"/>
                          <a:cs typeface="Calibri" pitchFamily="34" charset="-120"/>
                        </a:rPr>
                        <a:t>cisa_kev_catalog.csv</a:t>
                      </a:r>
                      <a:endParaRPr lang="en-US" sz="1250" dirty="0">
                        <a:latin typeface="Calibri" charset="0"/>
                        <a:ea typeface="Calibri" charset="0"/>
                        <a:cs typeface="Calibr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c>
                  <a:txBody>
                    <a:bodyPr/>
                    <a:lstStyle/>
                    <a:p>
                      <a:pPr indent="0" marL="0">
                        <a:buNone/>
                      </a:pPr>
                      <a:r>
                        <a:rPr lang="en-US" sz="1250" dirty="0">
                          <a:solidFill>
                            <a:srgbClr val="1F2933"/>
                          </a:solidFill>
                          <a:latin typeface="Calibri" pitchFamily="34" charset="0"/>
                          <a:ea typeface="Calibri" pitchFamily="34" charset="-122"/>
                          <a:cs typeface="Calibri" pitchFamily="34" charset="-120"/>
                        </a:rPr>
                        <a:t>1,585</a:t>
                      </a:r>
                      <a:endParaRPr lang="en-US" sz="1250" dirty="0">
                        <a:latin typeface="Calibri" charset="0"/>
                        <a:ea typeface="Calibri" charset="0"/>
                        <a:cs typeface="Calibr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c>
                  <a:txBody>
                    <a:bodyPr/>
                    <a:lstStyle/>
                    <a:p>
                      <a:pPr indent="0" marL="0">
                        <a:buNone/>
                      </a:pPr>
                      <a:r>
                        <a:rPr lang="en-US" sz="1250" dirty="0">
                          <a:solidFill>
                            <a:srgbClr val="1F2933"/>
                          </a:solidFill>
                          <a:latin typeface="Calibri" pitchFamily="34" charset="0"/>
                          <a:ea typeface="Calibri" pitchFamily="34" charset="-122"/>
                          <a:cs typeface="Calibri" pitchFamily="34" charset="-120"/>
                        </a:rPr>
                        <a:t>confirmed exploitation, due date, ransomware</a:t>
                      </a:r>
                      <a:endParaRPr lang="en-US" sz="1250" dirty="0">
                        <a:latin typeface="Calibri" charset="0"/>
                        <a:ea typeface="Calibri" charset="0"/>
                        <a:cs typeface="Calibr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r>
              <a:tr h="438912">
                <a:tc>
                  <a:txBody>
                    <a:bodyPr/>
                    <a:lstStyle/>
                    <a:p>
                      <a:pPr indent="0" marL="0">
                        <a:buNone/>
                      </a:pPr>
                      <a:r>
                        <a:rPr lang="en-US" sz="1250" dirty="0">
                          <a:solidFill>
                            <a:srgbClr val="1F2933"/>
                          </a:solidFill>
                          <a:latin typeface="Calibri" pitchFamily="34" charset="0"/>
                          <a:ea typeface="Calibri" pitchFamily="34" charset="-122"/>
                          <a:cs typeface="Calibri" pitchFamily="34" charset="-120"/>
                        </a:rPr>
                        <a:t>CWE catalog (view 1000)</a:t>
                      </a:r>
                      <a:endParaRPr lang="en-US" sz="1250" dirty="0">
                        <a:latin typeface="Calibri" charset="0"/>
                        <a:ea typeface="Calibri" charset="0"/>
                        <a:cs typeface="Calibr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c>
                  <a:txBody>
                    <a:bodyPr/>
                    <a:lstStyle/>
                    <a:p>
                      <a:pPr indent="0" marL="0">
                        <a:buNone/>
                      </a:pPr>
                      <a:r>
                        <a:rPr lang="en-US" sz="1250" dirty="0">
                          <a:solidFill>
                            <a:srgbClr val="1F2933"/>
                          </a:solidFill>
                          <a:latin typeface="Calibri" pitchFamily="34" charset="0"/>
                          <a:ea typeface="Calibri" pitchFamily="34" charset="-122"/>
                          <a:cs typeface="Calibri" pitchFamily="34" charset="-120"/>
                        </a:rPr>
                        <a:t>MITRE</a:t>
                      </a:r>
                      <a:endParaRPr lang="en-US" sz="1250" dirty="0">
                        <a:latin typeface="Calibri" charset="0"/>
                        <a:ea typeface="Calibri" charset="0"/>
                        <a:cs typeface="Calibr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c>
                  <a:txBody>
                    <a:bodyPr/>
                    <a:lstStyle/>
                    <a:p>
                      <a:pPr indent="0" marL="0">
                        <a:buNone/>
                      </a:pPr>
                      <a:r>
                        <a:rPr lang="en-US" sz="1250" dirty="0">
                          <a:solidFill>
                            <a:srgbClr val="1F2933"/>
                          </a:solidFill>
                          <a:latin typeface="Calibri" pitchFamily="34" charset="0"/>
                          <a:ea typeface="Calibri" pitchFamily="34" charset="-122"/>
                          <a:cs typeface="Calibri" pitchFamily="34" charset="-120"/>
                        </a:rPr>
                        <a:t>cwe_1000.csv</a:t>
                      </a:r>
                      <a:endParaRPr lang="en-US" sz="1250" dirty="0">
                        <a:latin typeface="Calibri" charset="0"/>
                        <a:ea typeface="Calibri" charset="0"/>
                        <a:cs typeface="Calibr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c>
                  <a:txBody>
                    <a:bodyPr/>
                    <a:lstStyle/>
                    <a:p>
                      <a:pPr indent="0" marL="0">
                        <a:buNone/>
                      </a:pPr>
                      <a:r>
                        <a:rPr lang="en-US" sz="1250" dirty="0">
                          <a:solidFill>
                            <a:srgbClr val="1F2933"/>
                          </a:solidFill>
                          <a:latin typeface="Calibri" pitchFamily="34" charset="0"/>
                          <a:ea typeface="Calibri" pitchFamily="34" charset="-122"/>
                          <a:cs typeface="Calibri" pitchFamily="34" charset="-120"/>
                        </a:rPr>
                        <a:t>944</a:t>
                      </a:r>
                      <a:endParaRPr lang="en-US" sz="1250" dirty="0">
                        <a:latin typeface="Calibri" charset="0"/>
                        <a:ea typeface="Calibri" charset="0"/>
                        <a:cs typeface="Calibr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c>
                  <a:txBody>
                    <a:bodyPr/>
                    <a:lstStyle/>
                    <a:p>
                      <a:pPr indent="0" marL="0">
                        <a:buNone/>
                      </a:pPr>
                      <a:r>
                        <a:rPr lang="en-US" sz="1250" dirty="0">
                          <a:solidFill>
                            <a:srgbClr val="1F2933"/>
                          </a:solidFill>
                          <a:latin typeface="Calibri" pitchFamily="34" charset="0"/>
                          <a:ea typeface="Calibri" pitchFamily="34" charset="-122"/>
                          <a:cs typeface="Calibri" pitchFamily="34" charset="-120"/>
                        </a:rPr>
                        <a:t>CWE names and CWE → pillar hierarchy</a:t>
                      </a:r>
                      <a:endParaRPr lang="en-US" sz="1250" dirty="0">
                        <a:latin typeface="Calibri" charset="0"/>
                        <a:ea typeface="Calibri" charset="0"/>
                        <a:cs typeface="Calibr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r>
            </a:tbl>
          </a:graphicData>
        </a:graphic>
      </p:graphicFrame>
      <p:sp>
        <p:nvSpPr>
          <p:cNvPr id="6" name="Shape 3"/>
          <p:cNvSpPr/>
          <p:nvPr/>
        </p:nvSpPr>
        <p:spPr>
          <a:xfrm>
            <a:off x="457200" y="5074920"/>
            <a:ext cx="11274552" cy="640080"/>
          </a:xfrm>
          <a:prstGeom prst="rect">
            <a:avLst/>
          </a:prstGeom>
          <a:solidFill>
            <a:srgbClr val="F3F5F8"/>
          </a:solidFill>
          <a:ln w="12700">
            <a:solidFill>
              <a:srgbClr val="F3F5F8"/>
            </a:solidFill>
            <a:prstDash val="solid"/>
          </a:ln>
        </p:spPr>
      </p:sp>
      <p:sp>
        <p:nvSpPr>
          <p:cNvPr id="7" name="Text 4"/>
          <p:cNvSpPr txBox="1"/>
          <p:nvPr/>
        </p:nvSpPr>
        <p:spPr>
          <a:xfrm>
            <a:off x="640080" y="5074920"/>
            <a:ext cx="10908792" cy="640080"/>
          </a:xfrm>
          <a:prstGeom prst="rect">
            <a:avLst/>
          </a:prstGeom>
          <a:noFill/>
          <a:ln/>
        </p:spPr>
        <p:txBody>
          <a:bodyPr wrap="square" lIns="0" tIns="0" rIns="0" bIns="0" rtlCol="0" anchor="ctr"/>
          <a:lstStyle/>
          <a:p>
            <a:pPr indent="0" marL="0">
              <a:buNone/>
            </a:pPr>
            <a:r>
              <a:rPr lang="en-US" sz="1300" dirty="0">
                <a:solidFill>
                  <a:srgbClr val="1F2933"/>
                </a:solidFill>
                <a:latin typeface="Calibri" pitchFamily="34" charset="0"/>
                <a:ea typeface="Calibri" pitchFamily="34" charset="-122"/>
                <a:cs typeface="Calibri" pitchFamily="34" charset="-120"/>
              </a:rPr>
              <a:t>The Kaggle mirror (afr1ste/nvd-cve-cvss-kev-vulnerabilities-2020-2026) also ships a pre-joined table: it is used only to cross-check our joins, never as input.</a:t>
            </a:r>
            <a:endParaRPr lang="en-US" sz="13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320040"/>
            <a:ext cx="11247120" cy="640080"/>
          </a:xfrm>
          <a:prstGeom prst="rect">
            <a:avLst/>
          </a:prstGeom>
          <a:noFill/>
          <a:ln/>
        </p:spPr>
        <p:txBody>
          <a:bodyPr wrap="square" lIns="0" tIns="0" rIns="0" bIns="0" rtlCol="0" anchor="ctr"/>
          <a:lstStyle/>
          <a:p>
            <a:pPr indent="0" marL="0">
              <a:buNone/>
            </a:pPr>
            <a:r>
              <a:rPr lang="en-US" sz="2600" b="1" dirty="0">
                <a:solidFill>
                  <a:srgbClr val="1B2A41"/>
                </a:solidFill>
                <a:latin typeface="Arial" pitchFamily="34" charset="0"/>
                <a:ea typeface="Arial" pitchFamily="34" charset="-122"/>
                <a:cs typeface="Arial" pitchFamily="34" charset="-120"/>
              </a:rPr>
              <a:t>ETL pipeline</a:t>
            </a:r>
            <a:endParaRPr lang="en-US" sz="2600" dirty="0"/>
          </a:p>
        </p:txBody>
      </p:sp>
      <p:sp>
        <p:nvSpPr>
          <p:cNvPr id="3" name="Text 1"/>
          <p:cNvSpPr txBox="1"/>
          <p:nvPr/>
        </p:nvSpPr>
        <p:spPr>
          <a:xfrm>
            <a:off x="457200" y="987552"/>
            <a:ext cx="11247120" cy="411480"/>
          </a:xfrm>
          <a:prstGeom prst="rect">
            <a:avLst/>
          </a:prstGeom>
          <a:noFill/>
          <a:ln/>
        </p:spPr>
        <p:txBody>
          <a:bodyPr wrap="square" lIns="0" tIns="0" rIns="0" bIns="0" rtlCol="0" anchor="t"/>
          <a:lstStyle/>
          <a:p>
            <a:pPr indent="0" marL="0">
              <a:buNone/>
            </a:pPr>
            <a:r>
              <a:rPr lang="en-US" sz="1500" i="1" dirty="0">
                <a:solidFill>
                  <a:srgbClr val="5B6B7C"/>
                </a:solidFill>
                <a:latin typeface="Calibri" pitchFamily="34" charset="0"/>
                <a:ea typeface="Calibri" pitchFamily="34" charset="-122"/>
                <a:cs typeface="Calibri" pitchFamily="34" charset="-120"/>
              </a:rPr>
              <a:t>etl.py: pandas + psycopg2, idempotent (drops and rebuilds the warehouse), writes etl_report.json</a:t>
            </a:r>
            <a:endParaRPr lang="en-US" sz="1500" dirty="0"/>
          </a:p>
        </p:txBody>
      </p:sp>
      <p:sp>
        <p:nvSpPr>
          <p:cNvPr id="4" name="Text 2"/>
          <p:cNvSpPr txBox="1"/>
          <p:nvPr/>
        </p:nvSpPr>
        <p:spPr>
          <a:xfrm>
            <a:off x="6675120" y="6446520"/>
            <a:ext cx="5056632" cy="274320"/>
          </a:xfrm>
          <a:prstGeom prst="rect">
            <a:avLst/>
          </a:prstGeom>
          <a:noFill/>
          <a:ln/>
        </p:spPr>
        <p:txBody>
          <a:bodyPr wrap="square" lIns="0" tIns="0" rIns="0" bIns="0" rtlCol="0" anchor="ctr"/>
          <a:lstStyle/>
          <a:p>
            <a:pPr algn="r" indent="0" marL="0">
              <a:buNone/>
            </a:pPr>
            <a:r>
              <a:rPr lang="en-US" sz="900" dirty="0">
                <a:solidFill>
                  <a:srgbClr val="5B6B7C"/>
                </a:solidFill>
                <a:latin typeface="Calibri" pitchFamily="34" charset="0"/>
                <a:ea typeface="Calibri" pitchFamily="34" charset="-122"/>
                <a:cs typeface="Calibri" pitchFamily="34" charset="-120"/>
              </a:rPr>
              <a:t>CVE Data Warehouse · Alessia Angele · 5</a:t>
            </a:r>
            <a:endParaRPr lang="en-US" sz="900" dirty="0"/>
          </a:p>
        </p:txBody>
      </p:sp>
      <p:sp>
        <p:nvSpPr>
          <p:cNvPr id="5" name="Shape 3"/>
          <p:cNvSpPr/>
          <p:nvPr/>
        </p:nvSpPr>
        <p:spPr>
          <a:xfrm>
            <a:off x="457200" y="1737360"/>
            <a:ext cx="2011680" cy="594360"/>
          </a:xfrm>
          <a:prstGeom prst="rect">
            <a:avLst/>
          </a:prstGeom>
          <a:solidFill>
            <a:srgbClr val="1B2A41"/>
          </a:solidFill>
          <a:ln w="12700">
            <a:solidFill>
              <a:srgbClr val="1B2A41"/>
            </a:solidFill>
            <a:prstDash val="solid"/>
          </a:ln>
        </p:spPr>
      </p:sp>
      <p:sp>
        <p:nvSpPr>
          <p:cNvPr id="6" name="Text 4"/>
          <p:cNvSpPr txBox="1"/>
          <p:nvPr/>
        </p:nvSpPr>
        <p:spPr>
          <a:xfrm>
            <a:off x="457200" y="1737360"/>
            <a:ext cx="2011680" cy="594360"/>
          </a:xfrm>
          <a:prstGeom prst="rect">
            <a:avLst/>
          </a:prstGeom>
          <a:noFill/>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EXTRACT</a:t>
            </a:r>
            <a:endParaRPr lang="en-US" sz="1400" dirty="0"/>
          </a:p>
        </p:txBody>
      </p:sp>
      <p:sp>
        <p:nvSpPr>
          <p:cNvPr id="7" name="Text 5"/>
          <p:cNvSpPr txBox="1"/>
          <p:nvPr/>
        </p:nvSpPr>
        <p:spPr>
          <a:xfrm>
            <a:off x="457200" y="2468880"/>
            <a:ext cx="2011680" cy="1188720"/>
          </a:xfrm>
          <a:prstGeom prst="rect">
            <a:avLst/>
          </a:prstGeom>
          <a:noFill/>
          <a:ln/>
        </p:spPr>
        <p:txBody>
          <a:bodyPr wrap="square" lIns="0" tIns="0" rIns="0" bIns="0" rtlCol="0" anchor="t"/>
          <a:lstStyle/>
          <a:p>
            <a:pPr indent="0" marL="0">
              <a:buNone/>
            </a:pPr>
            <a:r>
              <a:rPr lang="en-US" sz="1250" dirty="0">
                <a:solidFill>
                  <a:srgbClr val="1F2933"/>
                </a:solidFill>
                <a:latin typeface="Calibri" pitchFamily="34" charset="0"/>
                <a:ea typeface="Calibri" pitchFamily="34" charset="-122"/>
                <a:cs typeface="Calibri" pitchFamily="34" charset="-120"/>
              </a:rPr>
              <a:t>Read 6 CSVs, only needed columns, column names checked</a:t>
            </a:r>
            <a:endParaRPr lang="en-US" sz="1250" dirty="0"/>
          </a:p>
        </p:txBody>
      </p:sp>
      <p:sp>
        <p:nvSpPr>
          <p:cNvPr id="8" name="Shape 6"/>
          <p:cNvSpPr/>
          <p:nvPr/>
        </p:nvSpPr>
        <p:spPr>
          <a:xfrm rot="5400000">
            <a:off x="2532888" y="1901952"/>
            <a:ext cx="182880" cy="274320"/>
          </a:xfrm>
          <a:prstGeom prst="triangle">
            <a:avLst/>
          </a:prstGeom>
          <a:solidFill>
            <a:srgbClr val="5B6B7C"/>
          </a:solidFill>
          <a:ln w="12700">
            <a:solidFill>
              <a:srgbClr val="5B6B7C"/>
            </a:solidFill>
            <a:prstDash val="solid"/>
          </a:ln>
        </p:spPr>
      </p:sp>
      <p:sp>
        <p:nvSpPr>
          <p:cNvPr id="9" name="Shape 7"/>
          <p:cNvSpPr/>
          <p:nvPr/>
        </p:nvSpPr>
        <p:spPr>
          <a:xfrm>
            <a:off x="2743200" y="1737360"/>
            <a:ext cx="2011680" cy="594360"/>
          </a:xfrm>
          <a:prstGeom prst="rect">
            <a:avLst/>
          </a:prstGeom>
          <a:solidFill>
            <a:srgbClr val="1B2A41"/>
          </a:solidFill>
          <a:ln w="12700">
            <a:solidFill>
              <a:srgbClr val="1B2A41"/>
            </a:solidFill>
            <a:prstDash val="solid"/>
          </a:ln>
        </p:spPr>
      </p:sp>
      <p:sp>
        <p:nvSpPr>
          <p:cNvPr id="10" name="Text 8"/>
          <p:cNvSpPr txBox="1"/>
          <p:nvPr/>
        </p:nvSpPr>
        <p:spPr>
          <a:xfrm>
            <a:off x="2743200" y="1737360"/>
            <a:ext cx="2011680" cy="594360"/>
          </a:xfrm>
          <a:prstGeom prst="rect">
            <a:avLst/>
          </a:prstGeom>
          <a:noFill/>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CLEAN</a:t>
            </a:r>
            <a:endParaRPr lang="en-US" sz="1400" dirty="0"/>
          </a:p>
        </p:txBody>
      </p:sp>
      <p:sp>
        <p:nvSpPr>
          <p:cNvPr id="11" name="Text 9"/>
          <p:cNvSpPr txBox="1"/>
          <p:nvPr/>
        </p:nvSpPr>
        <p:spPr>
          <a:xfrm>
            <a:off x="2743200" y="2468880"/>
            <a:ext cx="2011680" cy="1188720"/>
          </a:xfrm>
          <a:prstGeom prst="rect">
            <a:avLst/>
          </a:prstGeom>
          <a:noFill/>
          <a:ln/>
        </p:spPr>
        <p:txBody>
          <a:bodyPr wrap="square" lIns="0" tIns="0" rIns="0" bIns="0" rtlCol="0" anchor="t"/>
          <a:lstStyle/>
          <a:p>
            <a:pPr indent="0" marL="0">
              <a:buNone/>
            </a:pPr>
            <a:r>
              <a:rPr lang="en-US" sz="1250" dirty="0">
                <a:solidFill>
                  <a:srgbClr val="1F2933"/>
                </a:solidFill>
                <a:latin typeface="Calibri" pitchFamily="34" charset="0"/>
                <a:ea typeface="Calibri" pitchFamily="34" charset="-122"/>
                <a:cs typeface="Calibri" pitchFamily="34" charset="-120"/>
              </a:rPr>
              <a:t>Validate IDs, parse dates, NaN / ±∞ → NULL, range checks</a:t>
            </a:r>
            <a:endParaRPr lang="en-US" sz="1250" dirty="0"/>
          </a:p>
        </p:txBody>
      </p:sp>
      <p:sp>
        <p:nvSpPr>
          <p:cNvPr id="12" name="Shape 10"/>
          <p:cNvSpPr/>
          <p:nvPr/>
        </p:nvSpPr>
        <p:spPr>
          <a:xfrm rot="5400000">
            <a:off x="4818888" y="1901952"/>
            <a:ext cx="182880" cy="274320"/>
          </a:xfrm>
          <a:prstGeom prst="triangle">
            <a:avLst/>
          </a:prstGeom>
          <a:solidFill>
            <a:srgbClr val="5B6B7C"/>
          </a:solidFill>
          <a:ln w="12700">
            <a:solidFill>
              <a:srgbClr val="5B6B7C"/>
            </a:solidFill>
            <a:prstDash val="solid"/>
          </a:ln>
        </p:spPr>
      </p:sp>
      <p:sp>
        <p:nvSpPr>
          <p:cNvPr id="13" name="Shape 11"/>
          <p:cNvSpPr/>
          <p:nvPr/>
        </p:nvSpPr>
        <p:spPr>
          <a:xfrm>
            <a:off x="5029200" y="1737360"/>
            <a:ext cx="2011680" cy="594360"/>
          </a:xfrm>
          <a:prstGeom prst="rect">
            <a:avLst/>
          </a:prstGeom>
          <a:solidFill>
            <a:srgbClr val="148C8C"/>
          </a:solidFill>
          <a:ln w="12700">
            <a:solidFill>
              <a:srgbClr val="148C8C"/>
            </a:solidFill>
            <a:prstDash val="solid"/>
          </a:ln>
        </p:spPr>
      </p:sp>
      <p:sp>
        <p:nvSpPr>
          <p:cNvPr id="14" name="Text 12"/>
          <p:cNvSpPr txBox="1"/>
          <p:nvPr/>
        </p:nvSpPr>
        <p:spPr>
          <a:xfrm>
            <a:off x="5029200" y="1737360"/>
            <a:ext cx="2011680" cy="594360"/>
          </a:xfrm>
          <a:prstGeom prst="rect">
            <a:avLst/>
          </a:prstGeom>
          <a:noFill/>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INTEGRATE</a:t>
            </a:r>
            <a:endParaRPr lang="en-US" sz="1400" dirty="0"/>
          </a:p>
        </p:txBody>
      </p:sp>
      <p:sp>
        <p:nvSpPr>
          <p:cNvPr id="15" name="Text 13"/>
          <p:cNvSpPr txBox="1"/>
          <p:nvPr/>
        </p:nvSpPr>
        <p:spPr>
          <a:xfrm>
            <a:off x="5029200" y="2468880"/>
            <a:ext cx="2011680" cy="1188720"/>
          </a:xfrm>
          <a:prstGeom prst="rect">
            <a:avLst/>
          </a:prstGeom>
          <a:noFill/>
          <a:ln/>
        </p:spPr>
        <p:txBody>
          <a:bodyPr wrap="square" lIns="0" tIns="0" rIns="0" bIns="0" rtlCol="0" anchor="t"/>
          <a:lstStyle/>
          <a:p>
            <a:pPr indent="0" marL="0">
              <a:buNone/>
            </a:pPr>
            <a:r>
              <a:rPr lang="en-US" sz="1250" dirty="0">
                <a:solidFill>
                  <a:srgbClr val="1F2933"/>
                </a:solidFill>
                <a:latin typeface="Calibri" pitchFamily="34" charset="0"/>
                <a:ea typeface="Calibri" pitchFamily="34" charset="-122"/>
                <a:cs typeface="Calibri" pitchFamily="34" charset="-120"/>
              </a:rPr>
              <a:t>Join sources on CVE id, reconcile vendor names, pick primary CWE / product</a:t>
            </a:r>
            <a:endParaRPr lang="en-US" sz="1250" dirty="0"/>
          </a:p>
        </p:txBody>
      </p:sp>
      <p:sp>
        <p:nvSpPr>
          <p:cNvPr id="16" name="Shape 14"/>
          <p:cNvSpPr/>
          <p:nvPr/>
        </p:nvSpPr>
        <p:spPr>
          <a:xfrm rot="5400000">
            <a:off x="7104888" y="1901952"/>
            <a:ext cx="182880" cy="274320"/>
          </a:xfrm>
          <a:prstGeom prst="triangle">
            <a:avLst/>
          </a:prstGeom>
          <a:solidFill>
            <a:srgbClr val="5B6B7C"/>
          </a:solidFill>
          <a:ln w="12700">
            <a:solidFill>
              <a:srgbClr val="5B6B7C"/>
            </a:solidFill>
            <a:prstDash val="solid"/>
          </a:ln>
        </p:spPr>
      </p:sp>
      <p:sp>
        <p:nvSpPr>
          <p:cNvPr id="17" name="Shape 15"/>
          <p:cNvSpPr/>
          <p:nvPr/>
        </p:nvSpPr>
        <p:spPr>
          <a:xfrm>
            <a:off x="7315200" y="1737360"/>
            <a:ext cx="2011680" cy="594360"/>
          </a:xfrm>
          <a:prstGeom prst="rect">
            <a:avLst/>
          </a:prstGeom>
          <a:solidFill>
            <a:srgbClr val="1B2A41"/>
          </a:solidFill>
          <a:ln w="12700">
            <a:solidFill>
              <a:srgbClr val="1B2A41"/>
            </a:solidFill>
            <a:prstDash val="solid"/>
          </a:ln>
        </p:spPr>
      </p:sp>
      <p:sp>
        <p:nvSpPr>
          <p:cNvPr id="18" name="Text 16"/>
          <p:cNvSpPr txBox="1"/>
          <p:nvPr/>
        </p:nvSpPr>
        <p:spPr>
          <a:xfrm>
            <a:off x="7315200" y="1737360"/>
            <a:ext cx="2011680" cy="594360"/>
          </a:xfrm>
          <a:prstGeom prst="rect">
            <a:avLst/>
          </a:prstGeom>
          <a:noFill/>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BUILD</a:t>
            </a:r>
            <a:endParaRPr lang="en-US" sz="1400" dirty="0"/>
          </a:p>
        </p:txBody>
      </p:sp>
      <p:sp>
        <p:nvSpPr>
          <p:cNvPr id="19" name="Text 17"/>
          <p:cNvSpPr txBox="1"/>
          <p:nvPr/>
        </p:nvSpPr>
        <p:spPr>
          <a:xfrm>
            <a:off x="7315200" y="2468880"/>
            <a:ext cx="2011680" cy="1188720"/>
          </a:xfrm>
          <a:prstGeom prst="rect">
            <a:avLst/>
          </a:prstGeom>
          <a:noFill/>
          <a:ln/>
        </p:spPr>
        <p:txBody>
          <a:bodyPr wrap="square" lIns="0" tIns="0" rIns="0" bIns="0" rtlCol="0" anchor="t"/>
          <a:lstStyle/>
          <a:p>
            <a:pPr indent="0" marL="0">
              <a:buNone/>
            </a:pPr>
            <a:r>
              <a:rPr lang="en-US" sz="1250" dirty="0">
                <a:solidFill>
                  <a:srgbClr val="1F2933"/>
                </a:solidFill>
                <a:latin typeface="Calibri" pitchFamily="34" charset="0"/>
                <a:ea typeface="Calibri" pitchFamily="34" charset="-122"/>
                <a:cs typeface="Calibri" pitchFamily="34" charset="-120"/>
              </a:rPr>
              <a:t>5 dimensions with surrogate keys + Unknown member, 2 fact tables</a:t>
            </a:r>
            <a:endParaRPr lang="en-US" sz="1250" dirty="0"/>
          </a:p>
        </p:txBody>
      </p:sp>
      <p:sp>
        <p:nvSpPr>
          <p:cNvPr id="20" name="Shape 18"/>
          <p:cNvSpPr/>
          <p:nvPr/>
        </p:nvSpPr>
        <p:spPr>
          <a:xfrm rot="5400000">
            <a:off x="9390888" y="1901952"/>
            <a:ext cx="182880" cy="274320"/>
          </a:xfrm>
          <a:prstGeom prst="triangle">
            <a:avLst/>
          </a:prstGeom>
          <a:solidFill>
            <a:srgbClr val="5B6B7C"/>
          </a:solidFill>
          <a:ln w="12700">
            <a:solidFill>
              <a:srgbClr val="5B6B7C"/>
            </a:solidFill>
            <a:prstDash val="solid"/>
          </a:ln>
        </p:spPr>
      </p:sp>
      <p:sp>
        <p:nvSpPr>
          <p:cNvPr id="21" name="Shape 19"/>
          <p:cNvSpPr/>
          <p:nvPr/>
        </p:nvSpPr>
        <p:spPr>
          <a:xfrm>
            <a:off x="9601200" y="1737360"/>
            <a:ext cx="2011680" cy="594360"/>
          </a:xfrm>
          <a:prstGeom prst="rect">
            <a:avLst/>
          </a:prstGeom>
          <a:solidFill>
            <a:srgbClr val="1B2A41"/>
          </a:solidFill>
          <a:ln w="12700">
            <a:solidFill>
              <a:srgbClr val="1B2A41"/>
            </a:solidFill>
            <a:prstDash val="solid"/>
          </a:ln>
        </p:spPr>
      </p:sp>
      <p:sp>
        <p:nvSpPr>
          <p:cNvPr id="22" name="Text 20"/>
          <p:cNvSpPr txBox="1"/>
          <p:nvPr/>
        </p:nvSpPr>
        <p:spPr>
          <a:xfrm>
            <a:off x="9601200" y="1737360"/>
            <a:ext cx="2011680" cy="594360"/>
          </a:xfrm>
          <a:prstGeom prst="rect">
            <a:avLst/>
          </a:prstGeom>
          <a:noFill/>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LOAD &amp; CHECK</a:t>
            </a:r>
            <a:endParaRPr lang="en-US" sz="1400" dirty="0"/>
          </a:p>
        </p:txBody>
      </p:sp>
      <p:sp>
        <p:nvSpPr>
          <p:cNvPr id="23" name="Text 21"/>
          <p:cNvSpPr txBox="1"/>
          <p:nvPr/>
        </p:nvSpPr>
        <p:spPr>
          <a:xfrm>
            <a:off x="9601200" y="2468880"/>
            <a:ext cx="2011680" cy="1188720"/>
          </a:xfrm>
          <a:prstGeom prst="rect">
            <a:avLst/>
          </a:prstGeom>
          <a:noFill/>
          <a:ln/>
        </p:spPr>
        <p:txBody>
          <a:bodyPr wrap="square" lIns="0" tIns="0" rIns="0" bIns="0" rtlCol="0" anchor="t"/>
          <a:lstStyle/>
          <a:p>
            <a:pPr indent="0" marL="0">
              <a:buNone/>
            </a:pPr>
            <a:r>
              <a:rPr lang="en-US" sz="1250" dirty="0">
                <a:solidFill>
                  <a:srgbClr val="1F2933"/>
                </a:solidFill>
                <a:latin typeface="Calibri" pitchFamily="34" charset="0"/>
                <a:ea typeface="Calibri" pitchFamily="34" charset="-122"/>
                <a:cs typeface="Calibri" pitchFamily="34" charset="-120"/>
              </a:rPr>
              <a:t>Constraints, FKs, indexes; post-load checks in SQL</a:t>
            </a:r>
            <a:endParaRPr lang="en-US" sz="1250" dirty="0"/>
          </a:p>
        </p:txBody>
      </p:sp>
      <p:sp>
        <p:nvSpPr>
          <p:cNvPr id="24" name="Text 22"/>
          <p:cNvSpPr txBox="1"/>
          <p:nvPr/>
        </p:nvSpPr>
        <p:spPr>
          <a:xfrm>
            <a:off x="457200" y="3977640"/>
            <a:ext cx="2651760" cy="731520"/>
          </a:xfrm>
          <a:prstGeom prst="rect">
            <a:avLst/>
          </a:prstGeom>
          <a:noFill/>
          <a:ln/>
        </p:spPr>
        <p:txBody>
          <a:bodyPr wrap="square" lIns="0" tIns="0" rIns="0" bIns="0" rtlCol="0" anchor="b"/>
          <a:lstStyle/>
          <a:p>
            <a:pPr indent="0" marL="0">
              <a:buNone/>
            </a:pPr>
            <a:r>
              <a:rPr lang="en-US" sz="3600" b="1" dirty="0">
                <a:solidFill>
                  <a:srgbClr val="1B2A41"/>
                </a:solidFill>
                <a:latin typeface="Arial" pitchFamily="34" charset="0"/>
                <a:ea typeface="Arial" pitchFamily="34" charset="-122"/>
                <a:cs typeface="Arial" pitchFamily="34" charset="-120"/>
              </a:rPr>
              <a:t>2,324</a:t>
            </a:r>
            <a:endParaRPr lang="en-US" sz="3600" dirty="0"/>
          </a:p>
        </p:txBody>
      </p:sp>
      <p:sp>
        <p:nvSpPr>
          <p:cNvPr id="25" name="Text 23"/>
          <p:cNvSpPr txBox="1"/>
          <p:nvPr/>
        </p:nvSpPr>
        <p:spPr>
          <a:xfrm>
            <a:off x="457200" y="4754880"/>
            <a:ext cx="2651760" cy="548640"/>
          </a:xfrm>
          <a:prstGeom prst="rect">
            <a:avLst/>
          </a:prstGeom>
          <a:noFill/>
          <a:ln/>
        </p:spPr>
        <p:txBody>
          <a:bodyPr wrap="square" lIns="0" tIns="0" rIns="0" bIns="0" rtlCol="0" anchor="t"/>
          <a:lstStyle/>
          <a:p>
            <a:pPr indent="0" marL="0">
              <a:buNone/>
            </a:pPr>
            <a:r>
              <a:rPr lang="en-US" sz="1200" dirty="0">
                <a:solidFill>
                  <a:srgbClr val="5B6B7C"/>
                </a:solidFill>
                <a:latin typeface="Calibri" pitchFamily="34" charset="0"/>
                <a:ea typeface="Calibri" pitchFamily="34" charset="-122"/>
                <a:cs typeface="Calibri" pitchFamily="34" charset="-120"/>
              </a:rPr>
              <a:t>rows in dim_date (was 201,542: one per CVE)</a:t>
            </a:r>
            <a:endParaRPr lang="en-US" sz="1200" dirty="0"/>
          </a:p>
        </p:txBody>
      </p:sp>
      <p:sp>
        <p:nvSpPr>
          <p:cNvPr id="26" name="Text 24"/>
          <p:cNvSpPr txBox="1"/>
          <p:nvPr/>
        </p:nvSpPr>
        <p:spPr>
          <a:xfrm>
            <a:off x="3291840" y="3977640"/>
            <a:ext cx="2651760" cy="731520"/>
          </a:xfrm>
          <a:prstGeom prst="rect">
            <a:avLst/>
          </a:prstGeom>
          <a:noFill/>
          <a:ln/>
        </p:spPr>
        <p:txBody>
          <a:bodyPr wrap="square" lIns="0" tIns="0" rIns="0" bIns="0" rtlCol="0" anchor="b"/>
          <a:lstStyle/>
          <a:p>
            <a:pPr indent="0" marL="0">
              <a:buNone/>
            </a:pPr>
            <a:r>
              <a:rPr lang="en-US" sz="3600" b="1" dirty="0">
                <a:solidFill>
                  <a:srgbClr val="1B2A41"/>
                </a:solidFill>
                <a:latin typeface="Arial" pitchFamily="34" charset="0"/>
                <a:ea typeface="Arial" pitchFamily="34" charset="-122"/>
                <a:cs typeface="Arial" pitchFamily="34" charset="-120"/>
              </a:rPr>
              <a:t>31,987</a:t>
            </a:r>
            <a:endParaRPr lang="en-US" sz="3600" dirty="0"/>
          </a:p>
        </p:txBody>
      </p:sp>
      <p:sp>
        <p:nvSpPr>
          <p:cNvPr id="27" name="Text 25"/>
          <p:cNvSpPr txBox="1"/>
          <p:nvPr/>
        </p:nvSpPr>
        <p:spPr>
          <a:xfrm>
            <a:off x="3291840" y="4754880"/>
            <a:ext cx="2651760" cy="548640"/>
          </a:xfrm>
          <a:prstGeom prst="rect">
            <a:avLst/>
          </a:prstGeom>
          <a:noFill/>
          <a:ln/>
        </p:spPr>
        <p:txBody>
          <a:bodyPr wrap="square" lIns="0" tIns="0" rIns="0" bIns="0" rtlCol="0" anchor="t"/>
          <a:lstStyle/>
          <a:p>
            <a:pPr indent="0" marL="0">
              <a:buNone/>
            </a:pPr>
            <a:r>
              <a:rPr lang="en-US" sz="1200" dirty="0">
                <a:solidFill>
                  <a:srgbClr val="5B6B7C"/>
                </a:solidFill>
                <a:latin typeface="Calibri" pitchFamily="34" charset="0"/>
                <a:ea typeface="Calibri" pitchFamily="34" charset="-122"/>
                <a:cs typeface="Calibri" pitchFamily="34" charset="-120"/>
              </a:rPr>
              <a:t>products in dim_product (was: KEV vendors only)</a:t>
            </a:r>
            <a:endParaRPr lang="en-US" sz="1200" dirty="0"/>
          </a:p>
        </p:txBody>
      </p:sp>
      <p:sp>
        <p:nvSpPr>
          <p:cNvPr id="28" name="Text 26"/>
          <p:cNvSpPr txBox="1"/>
          <p:nvPr/>
        </p:nvSpPr>
        <p:spPr>
          <a:xfrm>
            <a:off x="6126480" y="3977640"/>
            <a:ext cx="2651760" cy="731520"/>
          </a:xfrm>
          <a:prstGeom prst="rect">
            <a:avLst/>
          </a:prstGeom>
          <a:noFill/>
          <a:ln/>
        </p:spPr>
        <p:txBody>
          <a:bodyPr wrap="square" lIns="0" tIns="0" rIns="0" bIns="0" rtlCol="0" anchor="b"/>
          <a:lstStyle/>
          <a:p>
            <a:pPr indent="0" marL="0">
              <a:buNone/>
            </a:pPr>
            <a:r>
              <a:rPr lang="en-US" sz="3600" b="1" dirty="0">
                <a:solidFill>
                  <a:srgbClr val="1B2A41"/>
                </a:solidFill>
                <a:latin typeface="Arial" pitchFamily="34" charset="0"/>
                <a:ea typeface="Arial" pitchFamily="34" charset="-122"/>
                <a:cs typeface="Arial" pitchFamily="34" charset="-120"/>
              </a:rPr>
              <a:t>622 / 644</a:t>
            </a:r>
            <a:endParaRPr lang="en-US" sz="3600" dirty="0"/>
          </a:p>
        </p:txBody>
      </p:sp>
      <p:sp>
        <p:nvSpPr>
          <p:cNvPr id="29" name="Text 27"/>
          <p:cNvSpPr txBox="1"/>
          <p:nvPr/>
        </p:nvSpPr>
        <p:spPr>
          <a:xfrm>
            <a:off x="6126480" y="4754880"/>
            <a:ext cx="2651760" cy="548640"/>
          </a:xfrm>
          <a:prstGeom prst="rect">
            <a:avLst/>
          </a:prstGeom>
          <a:noFill/>
          <a:ln/>
        </p:spPr>
        <p:txBody>
          <a:bodyPr wrap="square" lIns="0" tIns="0" rIns="0" bIns="0" rtlCol="0" anchor="t"/>
          <a:lstStyle/>
          <a:p>
            <a:pPr indent="0" marL="0">
              <a:buNone/>
            </a:pPr>
            <a:r>
              <a:rPr lang="en-US" sz="1200" dirty="0">
                <a:solidFill>
                  <a:srgbClr val="5B6B7C"/>
                </a:solidFill>
                <a:latin typeface="Calibri" pitchFamily="34" charset="0"/>
                <a:ea typeface="Calibri" pitchFamily="34" charset="-122"/>
                <a:cs typeface="Calibri" pitchFamily="34" charset="-120"/>
              </a:rPr>
              <a:t>CWEs enriched with MITRE name and pillar</a:t>
            </a:r>
            <a:endParaRPr lang="en-US" sz="1200" dirty="0"/>
          </a:p>
        </p:txBody>
      </p:sp>
      <p:sp>
        <p:nvSpPr>
          <p:cNvPr id="30" name="Text 28"/>
          <p:cNvSpPr txBox="1"/>
          <p:nvPr/>
        </p:nvSpPr>
        <p:spPr>
          <a:xfrm>
            <a:off x="8961120" y="3977640"/>
            <a:ext cx="2651760" cy="731520"/>
          </a:xfrm>
          <a:prstGeom prst="rect">
            <a:avLst/>
          </a:prstGeom>
          <a:noFill/>
          <a:ln/>
        </p:spPr>
        <p:txBody>
          <a:bodyPr wrap="square" lIns="0" tIns="0" rIns="0" bIns="0" rtlCol="0" anchor="b"/>
          <a:lstStyle/>
          <a:p>
            <a:pPr indent="0" marL="0">
              <a:buNone/>
            </a:pPr>
            <a:r>
              <a:rPr lang="en-US" sz="3600" b="1" dirty="0">
                <a:solidFill>
                  <a:srgbClr val="C8102E"/>
                </a:solidFill>
                <a:latin typeface="Arial" pitchFamily="34" charset="0"/>
                <a:ea typeface="Arial" pitchFamily="34" charset="-122"/>
                <a:cs typeface="Arial" pitchFamily="34" charset="-120"/>
              </a:rPr>
              <a:t>0</a:t>
            </a:r>
            <a:endParaRPr lang="en-US" sz="3600" dirty="0"/>
          </a:p>
        </p:txBody>
      </p:sp>
      <p:sp>
        <p:nvSpPr>
          <p:cNvPr id="31" name="Text 29"/>
          <p:cNvSpPr txBox="1"/>
          <p:nvPr/>
        </p:nvSpPr>
        <p:spPr>
          <a:xfrm>
            <a:off x="8961120" y="4754880"/>
            <a:ext cx="2651760" cy="548640"/>
          </a:xfrm>
          <a:prstGeom prst="rect">
            <a:avLst/>
          </a:prstGeom>
          <a:noFill/>
          <a:ln/>
        </p:spPr>
        <p:txBody>
          <a:bodyPr wrap="square" lIns="0" tIns="0" rIns="0" bIns="0" rtlCol="0" anchor="t"/>
          <a:lstStyle/>
          <a:p>
            <a:pPr indent="0" marL="0">
              <a:buNone/>
            </a:pPr>
            <a:r>
              <a:rPr lang="en-US" sz="1200" dirty="0">
                <a:solidFill>
                  <a:srgbClr val="5B6B7C"/>
                </a:solidFill>
                <a:latin typeface="Calibri" pitchFamily="34" charset="0"/>
                <a:ea typeface="Calibri" pitchFamily="34" charset="-122"/>
                <a:cs typeface="Calibri" pitchFamily="34" charset="-120"/>
              </a:rPr>
              <a:t>IEEE 754 NaN values reaching PostgreSQL</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320040"/>
            <a:ext cx="11247120" cy="640080"/>
          </a:xfrm>
          <a:prstGeom prst="rect">
            <a:avLst/>
          </a:prstGeom>
          <a:noFill/>
          <a:ln/>
        </p:spPr>
        <p:txBody>
          <a:bodyPr wrap="square" lIns="0" tIns="0" rIns="0" bIns="0" rtlCol="0" anchor="ctr"/>
          <a:lstStyle/>
          <a:p>
            <a:pPr indent="0" marL="0">
              <a:buNone/>
            </a:pPr>
            <a:r>
              <a:rPr lang="en-US" sz="2600" b="1" dirty="0">
                <a:solidFill>
                  <a:srgbClr val="1B2A41"/>
                </a:solidFill>
                <a:latin typeface="Arial" pitchFamily="34" charset="0"/>
                <a:ea typeface="Arial" pitchFamily="34" charset="-122"/>
                <a:cs typeface="Arial" pitchFamily="34" charset="-120"/>
              </a:rPr>
              <a:t>ETL: what the transformations actually do</a:t>
            </a:r>
            <a:endParaRPr lang="en-US" sz="2600" dirty="0"/>
          </a:p>
        </p:txBody>
      </p:sp>
      <p:sp>
        <p:nvSpPr>
          <p:cNvPr id="3" name="Text 1"/>
          <p:cNvSpPr txBox="1"/>
          <p:nvPr/>
        </p:nvSpPr>
        <p:spPr>
          <a:xfrm>
            <a:off x="457200" y="987552"/>
            <a:ext cx="11247120" cy="411480"/>
          </a:xfrm>
          <a:prstGeom prst="rect">
            <a:avLst/>
          </a:prstGeom>
          <a:noFill/>
          <a:ln/>
        </p:spPr>
        <p:txBody>
          <a:bodyPr wrap="square" lIns="0" tIns="0" rIns="0" bIns="0" rtlCol="0" anchor="t"/>
          <a:lstStyle/>
          <a:p>
            <a:pPr indent="0" marL="0">
              <a:buNone/>
            </a:pPr>
            <a:r>
              <a:rPr lang="en-US" sz="1500" i="1" dirty="0">
                <a:solidFill>
                  <a:srgbClr val="5B6B7C"/>
                </a:solidFill>
                <a:latin typeface="Calibri" pitchFamily="34" charset="0"/>
                <a:ea typeface="Calibri" pitchFamily="34" charset="-122"/>
                <a:cs typeface="Calibri" pitchFamily="34" charset="-120"/>
              </a:rPr>
              <a:t>All counts from etl_report.json on the real data</a:t>
            </a:r>
            <a:endParaRPr lang="en-US" sz="1500" dirty="0"/>
          </a:p>
        </p:txBody>
      </p:sp>
      <p:sp>
        <p:nvSpPr>
          <p:cNvPr id="4" name="Text 2"/>
          <p:cNvSpPr txBox="1"/>
          <p:nvPr/>
        </p:nvSpPr>
        <p:spPr>
          <a:xfrm>
            <a:off x="6675120" y="6446520"/>
            <a:ext cx="5056632" cy="274320"/>
          </a:xfrm>
          <a:prstGeom prst="rect">
            <a:avLst/>
          </a:prstGeom>
          <a:noFill/>
          <a:ln/>
        </p:spPr>
        <p:txBody>
          <a:bodyPr wrap="square" lIns="0" tIns="0" rIns="0" bIns="0" rtlCol="0" anchor="ctr"/>
          <a:lstStyle/>
          <a:p>
            <a:pPr algn="r" indent="0" marL="0">
              <a:buNone/>
            </a:pPr>
            <a:r>
              <a:rPr lang="en-US" sz="900" dirty="0">
                <a:solidFill>
                  <a:srgbClr val="5B6B7C"/>
                </a:solidFill>
                <a:latin typeface="Calibri" pitchFamily="34" charset="0"/>
                <a:ea typeface="Calibri" pitchFamily="34" charset="-122"/>
                <a:cs typeface="Calibri" pitchFamily="34" charset="-120"/>
              </a:rPr>
              <a:t>CVE Data Warehouse · Alessia Angele · 6</a:t>
            </a:r>
            <a:endParaRPr lang="en-US" sz="900" dirty="0"/>
          </a:p>
        </p:txBody>
      </p:sp>
      <p:sp>
        <p:nvSpPr>
          <p:cNvPr id="5" name="Shape 3"/>
          <p:cNvSpPr/>
          <p:nvPr/>
        </p:nvSpPr>
        <p:spPr>
          <a:xfrm>
            <a:off x="457200" y="1508760"/>
            <a:ext cx="3657600" cy="2148840"/>
          </a:xfrm>
          <a:prstGeom prst="rect">
            <a:avLst/>
          </a:prstGeom>
          <a:solidFill>
            <a:srgbClr val="F3F5F8"/>
          </a:solidFill>
          <a:ln w="12700">
            <a:solidFill>
              <a:srgbClr val="F3F5F8"/>
            </a:solidFill>
            <a:prstDash val="solid"/>
          </a:ln>
        </p:spPr>
      </p:sp>
      <p:sp>
        <p:nvSpPr>
          <p:cNvPr id="6" name="Text 4"/>
          <p:cNvSpPr txBox="1"/>
          <p:nvPr/>
        </p:nvSpPr>
        <p:spPr>
          <a:xfrm>
            <a:off x="640080" y="1645920"/>
            <a:ext cx="3291840" cy="365760"/>
          </a:xfrm>
          <a:prstGeom prst="rect">
            <a:avLst/>
          </a:prstGeom>
          <a:noFill/>
          <a:ln/>
        </p:spPr>
        <p:txBody>
          <a:bodyPr wrap="square" lIns="0" tIns="0" rIns="0" bIns="0" rtlCol="0" anchor="t"/>
          <a:lstStyle/>
          <a:p>
            <a:pPr indent="0" marL="0">
              <a:buNone/>
            </a:pPr>
            <a:r>
              <a:rPr lang="en-US" sz="1400" b="1" dirty="0">
                <a:solidFill>
                  <a:srgbClr val="1B2A41"/>
                </a:solidFill>
                <a:latin typeface="Arial" pitchFamily="34" charset="0"/>
                <a:ea typeface="Arial" pitchFamily="34" charset="-122"/>
                <a:cs typeface="Arial" pitchFamily="34" charset="-120"/>
              </a:rPr>
              <a:t>Numeric cleaning</a:t>
            </a:r>
            <a:endParaRPr lang="en-US" sz="1400" dirty="0"/>
          </a:p>
        </p:txBody>
      </p:sp>
      <p:sp>
        <p:nvSpPr>
          <p:cNvPr id="7" name="Text 5"/>
          <p:cNvSpPr txBox="1"/>
          <p:nvPr/>
        </p:nvSpPr>
        <p:spPr>
          <a:xfrm>
            <a:off x="640080" y="2057400"/>
            <a:ext cx="3291840" cy="1463040"/>
          </a:xfrm>
          <a:prstGeom prst="rect">
            <a:avLst/>
          </a:prstGeom>
          <a:noFill/>
          <a:ln/>
        </p:spPr>
        <p:txBody>
          <a:bodyPr wrap="square" lIns="0" tIns="0" rIns="0" bIns="0" rtlCol="0" anchor="t"/>
          <a:lstStyle/>
          <a:p>
            <a:pPr indent="0" marL="0">
              <a:buNone/>
            </a:pPr>
            <a:r>
              <a:rPr lang="en-US" sz="1250" dirty="0">
                <a:solidFill>
                  <a:srgbClr val="1F2933"/>
                </a:solidFill>
                <a:latin typeface="Calibri" pitchFamily="34" charset="0"/>
                <a:ea typeface="Calibri" pitchFamily="34" charset="-122"/>
                <a:cs typeface="Calibri" pitchFamily="34" charset="-120"/>
              </a:rPr>
              <a:t>CVSS, EPSS and percentile are parsed with range checks (0–10, 0–1). Empty cells, 'NaN' and ±Infinity become NULL in pandas, so AVG and ORDER BY work without SQL workarounds.</a:t>
            </a:r>
            <a:endParaRPr lang="en-US" sz="1250" dirty="0"/>
          </a:p>
          <a:p>
            <a:pPr indent="0" marL="0">
              <a:buNone/>
            </a:pPr>
            <a:r>
              <a:rPr lang="en-US" sz="1250" dirty="0">
                <a:solidFill>
                  <a:srgbClr val="1F2933"/>
                </a:solidFill>
                <a:latin typeface="Calibri" pitchFamily="34" charset="0"/>
                <a:ea typeface="Calibri" pitchFamily="34" charset="-122"/>
                <a:cs typeface="Calibri" pitchFamily="34" charset="-120"/>
              </a:rPr>
              <a:t>8,974 CVEs without CVSS → NULL.</a:t>
            </a:r>
            <a:endParaRPr lang="en-US" sz="1250" dirty="0"/>
          </a:p>
        </p:txBody>
      </p:sp>
      <p:sp>
        <p:nvSpPr>
          <p:cNvPr id="8" name="Shape 6"/>
          <p:cNvSpPr/>
          <p:nvPr/>
        </p:nvSpPr>
        <p:spPr>
          <a:xfrm>
            <a:off x="4270248" y="1508760"/>
            <a:ext cx="3657600" cy="2148840"/>
          </a:xfrm>
          <a:prstGeom prst="rect">
            <a:avLst/>
          </a:prstGeom>
          <a:solidFill>
            <a:srgbClr val="F3F5F8"/>
          </a:solidFill>
          <a:ln w="12700">
            <a:solidFill>
              <a:srgbClr val="F3F5F8"/>
            </a:solidFill>
            <a:prstDash val="solid"/>
          </a:ln>
        </p:spPr>
      </p:sp>
      <p:sp>
        <p:nvSpPr>
          <p:cNvPr id="9" name="Text 7"/>
          <p:cNvSpPr txBox="1"/>
          <p:nvPr/>
        </p:nvSpPr>
        <p:spPr>
          <a:xfrm>
            <a:off x="4453128" y="1645920"/>
            <a:ext cx="3291840" cy="365760"/>
          </a:xfrm>
          <a:prstGeom prst="rect">
            <a:avLst/>
          </a:prstGeom>
          <a:noFill/>
          <a:ln/>
        </p:spPr>
        <p:txBody>
          <a:bodyPr wrap="square" lIns="0" tIns="0" rIns="0" bIns="0" rtlCol="0" anchor="t"/>
          <a:lstStyle/>
          <a:p>
            <a:pPr indent="0" marL="0">
              <a:buNone/>
            </a:pPr>
            <a:r>
              <a:rPr lang="en-US" sz="1400" b="1" dirty="0">
                <a:solidFill>
                  <a:srgbClr val="1B2A41"/>
                </a:solidFill>
                <a:latin typeface="Arial" pitchFamily="34" charset="0"/>
                <a:ea typeface="Arial" pitchFamily="34" charset="-122"/>
                <a:cs typeface="Arial" pitchFamily="34" charset="-120"/>
              </a:rPr>
              <a:t>Time grain fixed</a:t>
            </a:r>
            <a:endParaRPr lang="en-US" sz="1400" dirty="0"/>
          </a:p>
        </p:txBody>
      </p:sp>
      <p:sp>
        <p:nvSpPr>
          <p:cNvPr id="10" name="Text 8"/>
          <p:cNvSpPr txBox="1"/>
          <p:nvPr/>
        </p:nvSpPr>
        <p:spPr>
          <a:xfrm>
            <a:off x="4453128" y="2057400"/>
            <a:ext cx="3291840" cy="1463040"/>
          </a:xfrm>
          <a:prstGeom prst="rect">
            <a:avLst/>
          </a:prstGeom>
          <a:noFill/>
          <a:ln/>
        </p:spPr>
        <p:txBody>
          <a:bodyPr wrap="square" lIns="0" tIns="0" rIns="0" bIns="0" rtlCol="0" anchor="t"/>
          <a:lstStyle/>
          <a:p>
            <a:pPr indent="0" marL="0">
              <a:buNone/>
            </a:pPr>
            <a:r>
              <a:rPr lang="en-US" sz="1250" dirty="0">
                <a:solidFill>
                  <a:srgbClr val="1F2933"/>
                </a:solidFill>
                <a:latin typeface="Calibri" pitchFamily="34" charset="0"/>
                <a:ea typeface="Calibri" pitchFamily="34" charset="-122"/>
                <a:cs typeface="Calibri" pitchFamily="34" charset="-120"/>
              </a:rPr>
              <a:t>Timestamps are truncated to the calendar day. dim_date is a full calendar (Jan 2020 – May 2026) with a smart key YYYYMMDD and month / quarter / year levels.</a:t>
            </a:r>
            <a:endParaRPr lang="en-US" sz="1250" dirty="0"/>
          </a:p>
          <a:p>
            <a:pPr indent="0" marL="0">
              <a:buNone/>
            </a:pPr>
            <a:r>
              <a:rPr lang="en-US" sz="1250" dirty="0">
                <a:solidFill>
                  <a:srgbClr val="1F2933"/>
                </a:solidFill>
                <a:latin typeface="Calibri" pitchFamily="34" charset="0"/>
                <a:ea typeface="Calibri" pitchFamily="34" charset="-122"/>
                <a:cs typeface="Calibri" pitchFamily="34" charset="-120"/>
              </a:rPr>
              <a:t>KEV dates use the same dimension.</a:t>
            </a:r>
            <a:endParaRPr lang="en-US" sz="1250" dirty="0"/>
          </a:p>
        </p:txBody>
      </p:sp>
      <p:sp>
        <p:nvSpPr>
          <p:cNvPr id="11" name="Shape 9"/>
          <p:cNvSpPr/>
          <p:nvPr/>
        </p:nvSpPr>
        <p:spPr>
          <a:xfrm>
            <a:off x="8074152" y="1508760"/>
            <a:ext cx="3657600" cy="2148840"/>
          </a:xfrm>
          <a:prstGeom prst="rect">
            <a:avLst/>
          </a:prstGeom>
          <a:solidFill>
            <a:srgbClr val="F3F5F8"/>
          </a:solidFill>
          <a:ln w="12700">
            <a:solidFill>
              <a:srgbClr val="F3F5F8"/>
            </a:solidFill>
            <a:prstDash val="solid"/>
          </a:ln>
        </p:spPr>
      </p:sp>
      <p:sp>
        <p:nvSpPr>
          <p:cNvPr id="12" name="Text 10"/>
          <p:cNvSpPr txBox="1"/>
          <p:nvPr/>
        </p:nvSpPr>
        <p:spPr>
          <a:xfrm>
            <a:off x="8257032" y="1645920"/>
            <a:ext cx="3291840" cy="365760"/>
          </a:xfrm>
          <a:prstGeom prst="rect">
            <a:avLst/>
          </a:prstGeom>
          <a:noFill/>
          <a:ln/>
        </p:spPr>
        <p:txBody>
          <a:bodyPr wrap="square" lIns="0" tIns="0" rIns="0" bIns="0" rtlCol="0" anchor="t"/>
          <a:lstStyle/>
          <a:p>
            <a:pPr indent="0" marL="0">
              <a:buNone/>
            </a:pPr>
            <a:r>
              <a:rPr lang="en-US" sz="1400" b="1" dirty="0">
                <a:solidFill>
                  <a:srgbClr val="1B2A41"/>
                </a:solidFill>
                <a:latin typeface="Arial" pitchFamily="34" charset="0"/>
                <a:ea typeface="Arial" pitchFamily="34" charset="-122"/>
                <a:cs typeface="Arial" pitchFamily="34" charset="-120"/>
              </a:rPr>
              <a:t>Primary CWE and product</a:t>
            </a:r>
            <a:endParaRPr lang="en-US" sz="1400" dirty="0"/>
          </a:p>
        </p:txBody>
      </p:sp>
      <p:sp>
        <p:nvSpPr>
          <p:cNvPr id="13" name="Text 11"/>
          <p:cNvSpPr txBox="1"/>
          <p:nvPr/>
        </p:nvSpPr>
        <p:spPr>
          <a:xfrm>
            <a:off x="8257032" y="2057400"/>
            <a:ext cx="3291840" cy="1463040"/>
          </a:xfrm>
          <a:prstGeom prst="rect">
            <a:avLst/>
          </a:prstGeom>
          <a:noFill/>
          <a:ln/>
        </p:spPr>
        <p:txBody>
          <a:bodyPr wrap="square" lIns="0" tIns="0" rIns="0" bIns="0" rtlCol="0" anchor="t"/>
          <a:lstStyle/>
          <a:p>
            <a:pPr indent="0" marL="0">
              <a:buNone/>
            </a:pPr>
            <a:r>
              <a:rPr lang="en-US" sz="1250" dirty="0">
                <a:solidFill>
                  <a:srgbClr val="1F2933"/>
                </a:solidFill>
                <a:latin typeface="Calibri" pitchFamily="34" charset="0"/>
                <a:ea typeface="Calibri" pitchFamily="34" charset="-122"/>
                <a:cs typeface="Calibri" pitchFamily="34" charset="-120"/>
              </a:rPr>
              <a:t>62,418 CVEs have several CWEs: the Primary one from NVD is kept. CPE strings are parsed (cpe:2.3:part:vendor:product); 445,848 non-vulnerable platform rows dropped; the most frequent vulnerable product is kept.</a:t>
            </a:r>
            <a:endParaRPr lang="en-US" sz="1250" dirty="0"/>
          </a:p>
        </p:txBody>
      </p:sp>
      <p:sp>
        <p:nvSpPr>
          <p:cNvPr id="14" name="Shape 12"/>
          <p:cNvSpPr/>
          <p:nvPr/>
        </p:nvSpPr>
        <p:spPr>
          <a:xfrm>
            <a:off x="457200" y="3794760"/>
            <a:ext cx="5559552" cy="1920240"/>
          </a:xfrm>
          <a:prstGeom prst="rect">
            <a:avLst/>
          </a:prstGeom>
          <a:solidFill>
            <a:srgbClr val="F3F5F8"/>
          </a:solidFill>
          <a:ln w="12700">
            <a:solidFill>
              <a:srgbClr val="F3F5F8"/>
            </a:solidFill>
            <a:prstDash val="solid"/>
          </a:ln>
        </p:spPr>
      </p:sp>
      <p:sp>
        <p:nvSpPr>
          <p:cNvPr id="15" name="Text 13"/>
          <p:cNvSpPr txBox="1"/>
          <p:nvPr/>
        </p:nvSpPr>
        <p:spPr>
          <a:xfrm>
            <a:off x="640080" y="3931920"/>
            <a:ext cx="5193792" cy="365760"/>
          </a:xfrm>
          <a:prstGeom prst="rect">
            <a:avLst/>
          </a:prstGeom>
          <a:noFill/>
          <a:ln/>
        </p:spPr>
        <p:txBody>
          <a:bodyPr wrap="square" lIns="0" tIns="0" rIns="0" bIns="0" rtlCol="0" anchor="t"/>
          <a:lstStyle/>
          <a:p>
            <a:pPr indent="0" marL="0">
              <a:buNone/>
            </a:pPr>
            <a:r>
              <a:rPr lang="en-US" sz="1400" b="1" dirty="0">
                <a:solidFill>
                  <a:srgbClr val="148C8C"/>
                </a:solidFill>
                <a:latin typeface="Arial" pitchFamily="34" charset="0"/>
                <a:ea typeface="Arial" pitchFamily="34" charset="-122"/>
                <a:cs typeface="Arial" pitchFamily="34" charset="-120"/>
              </a:rPr>
              <a:t>Entity resolution: CISA vendor → NVD vendor</a:t>
            </a:r>
            <a:endParaRPr lang="en-US" sz="1400" dirty="0"/>
          </a:p>
        </p:txBody>
      </p:sp>
      <p:sp>
        <p:nvSpPr>
          <p:cNvPr id="16" name="Text 14"/>
          <p:cNvSpPr txBox="1"/>
          <p:nvPr/>
        </p:nvSpPr>
        <p:spPr>
          <a:xfrm>
            <a:off x="640080" y="4343400"/>
            <a:ext cx="5193792" cy="1234440"/>
          </a:xfrm>
          <a:prstGeom prst="rect">
            <a:avLst/>
          </a:prstGeom>
          <a:noFill/>
          <a:ln/>
        </p:spPr>
        <p:txBody>
          <a:bodyPr wrap="square" lIns="0" tIns="0" rIns="0" bIns="0" rtlCol="0" anchor="t"/>
          <a:lstStyle/>
          <a:p>
            <a:pPr indent="0" marL="0">
              <a:buNone/>
            </a:pPr>
            <a:r>
              <a:rPr lang="en-US" sz="1250" dirty="0">
                <a:solidFill>
                  <a:srgbClr val="1F2933"/>
                </a:solidFill>
                <a:latin typeface="Calibri" pitchFamily="34" charset="0"/>
                <a:ea typeface="Calibri" pitchFamily="34" charset="-122"/>
                <a:cs typeface="Calibri" pitchFamily="34" charset="-120"/>
              </a:rPr>
              <a:t>258 vendor names in KEV: 149 identical to NVD, 62 remapped by majority vote over shared CVEs, 47 kept as in CISA.</a:t>
            </a:r>
            <a:endParaRPr lang="en-US" sz="1250" dirty="0"/>
          </a:p>
          <a:p>
            <a:pPr indent="0" marL="0">
              <a:buNone/>
            </a:pPr>
            <a:r>
              <a:rPr lang="en-US" sz="1250" dirty="0">
                <a:solidFill>
                  <a:srgbClr val="1F2933"/>
                </a:solidFill>
                <a:latin typeface="Calibri" pitchFamily="34" charset="0"/>
                <a:ea typeface="Calibri" pitchFamily="34" charset="-122"/>
                <a:cs typeface="Calibri" pitchFamily="34" charset="-120"/>
              </a:rPr>
              <a:t>d_link → dlink · check_point → checkpoint · android → google · barracuda_networks → barracuda</a:t>
            </a:r>
            <a:endParaRPr lang="en-US" sz="1250" dirty="0"/>
          </a:p>
        </p:txBody>
      </p:sp>
      <p:sp>
        <p:nvSpPr>
          <p:cNvPr id="17" name="Shape 15"/>
          <p:cNvSpPr/>
          <p:nvPr/>
        </p:nvSpPr>
        <p:spPr>
          <a:xfrm>
            <a:off x="6172200" y="3794760"/>
            <a:ext cx="5559552" cy="1920240"/>
          </a:xfrm>
          <a:prstGeom prst="rect">
            <a:avLst/>
          </a:prstGeom>
          <a:solidFill>
            <a:srgbClr val="F3F5F8"/>
          </a:solidFill>
          <a:ln w="12700">
            <a:solidFill>
              <a:srgbClr val="F3F5F8"/>
            </a:solidFill>
            <a:prstDash val="solid"/>
          </a:ln>
        </p:spPr>
      </p:sp>
      <p:sp>
        <p:nvSpPr>
          <p:cNvPr id="18" name="Text 16"/>
          <p:cNvSpPr txBox="1"/>
          <p:nvPr/>
        </p:nvSpPr>
        <p:spPr>
          <a:xfrm>
            <a:off x="6355080" y="3931920"/>
            <a:ext cx="5193792" cy="365760"/>
          </a:xfrm>
          <a:prstGeom prst="rect">
            <a:avLst/>
          </a:prstGeom>
          <a:noFill/>
          <a:ln/>
        </p:spPr>
        <p:txBody>
          <a:bodyPr wrap="square" lIns="0" tIns="0" rIns="0" bIns="0" rtlCol="0" anchor="t"/>
          <a:lstStyle/>
          <a:p>
            <a:pPr indent="0" marL="0">
              <a:buNone/>
            </a:pPr>
            <a:r>
              <a:rPr lang="en-US" sz="1400" b="1" dirty="0">
                <a:solidFill>
                  <a:srgbClr val="148C8C"/>
                </a:solidFill>
                <a:latin typeface="Arial" pitchFamily="34" charset="0"/>
                <a:ea typeface="Arial" pitchFamily="34" charset="-122"/>
                <a:cs typeface="Arial" pitchFamily="34" charset="-120"/>
              </a:rPr>
              <a:t>Hierarchy from MITRE</a:t>
            </a:r>
            <a:endParaRPr lang="en-US" sz="1400" dirty="0"/>
          </a:p>
        </p:txBody>
      </p:sp>
      <p:sp>
        <p:nvSpPr>
          <p:cNvPr id="19" name="Text 17"/>
          <p:cNvSpPr txBox="1"/>
          <p:nvPr/>
        </p:nvSpPr>
        <p:spPr>
          <a:xfrm>
            <a:off x="6355080" y="4343400"/>
            <a:ext cx="5193792" cy="1234440"/>
          </a:xfrm>
          <a:prstGeom prst="rect">
            <a:avLst/>
          </a:prstGeom>
          <a:noFill/>
          <a:ln/>
        </p:spPr>
        <p:txBody>
          <a:bodyPr wrap="square" lIns="0" tIns="0" rIns="0" bIns="0" rtlCol="0" anchor="t"/>
          <a:lstStyle/>
          <a:p>
            <a:pPr indent="0" marL="0">
              <a:buNone/>
            </a:pPr>
            <a:r>
              <a:rPr lang="en-US" sz="1250" dirty="0">
                <a:solidFill>
                  <a:srgbClr val="1F2933"/>
                </a:solidFill>
                <a:latin typeface="Calibri" pitchFamily="34" charset="0"/>
                <a:ea typeface="Calibri" pitchFamily="34" charset="-122"/>
                <a:cs typeface="Calibri" pitchFamily="34" charset="-120"/>
              </a:rPr>
              <a:t>The ChildOf relations of CWE view 1000 are walked up to the root, giving the level cwe → pillar used for Roll-Up / Drill-Down (Q2).</a:t>
            </a:r>
            <a:endParaRPr lang="en-US" sz="1250" dirty="0"/>
          </a:p>
          <a:p>
            <a:pPr indent="0" marL="0">
              <a:buNone/>
            </a:pPr>
            <a:r>
              <a:rPr lang="en-US" sz="1250" dirty="0">
                <a:solidFill>
                  <a:srgbClr val="1F2933"/>
                </a:solidFill>
                <a:latin typeface="Calibri" pitchFamily="34" charset="0"/>
                <a:ea typeface="Calibri" pitchFamily="34" charset="-122"/>
                <a:cs typeface="Calibri" pitchFamily="34" charset="-120"/>
              </a:rPr>
              <a:t>NVD placeholders (NVD-CWE-noinfo, NVD-CWE-Other) are labelled as not classified.</a:t>
            </a:r>
            <a:endParaRPr lang="en-US" sz="12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320040"/>
            <a:ext cx="11247120" cy="640080"/>
          </a:xfrm>
          <a:prstGeom prst="rect">
            <a:avLst/>
          </a:prstGeom>
          <a:noFill/>
          <a:ln/>
        </p:spPr>
        <p:txBody>
          <a:bodyPr wrap="square" lIns="0" tIns="0" rIns="0" bIns="0" rtlCol="0" anchor="ctr"/>
          <a:lstStyle/>
          <a:p>
            <a:pPr indent="0" marL="0">
              <a:buNone/>
            </a:pPr>
            <a:r>
              <a:rPr lang="en-US" sz="2600" b="1" dirty="0">
                <a:solidFill>
                  <a:srgbClr val="1B2A41"/>
                </a:solidFill>
                <a:latin typeface="Arial" pitchFamily="34" charset="0"/>
                <a:ea typeface="Arial" pitchFamily="34" charset="-122"/>
                <a:cs typeface="Arial" pitchFamily="34" charset="-120"/>
              </a:rPr>
              <a:t>ETL: validation</a:t>
            </a:r>
            <a:endParaRPr lang="en-US" sz="2600" dirty="0"/>
          </a:p>
        </p:txBody>
      </p:sp>
      <p:sp>
        <p:nvSpPr>
          <p:cNvPr id="3" name="Text 1"/>
          <p:cNvSpPr txBox="1"/>
          <p:nvPr/>
        </p:nvSpPr>
        <p:spPr>
          <a:xfrm>
            <a:off x="457200" y="987552"/>
            <a:ext cx="11247120" cy="411480"/>
          </a:xfrm>
          <a:prstGeom prst="rect">
            <a:avLst/>
          </a:prstGeom>
          <a:noFill/>
          <a:ln/>
        </p:spPr>
        <p:txBody>
          <a:bodyPr wrap="square" lIns="0" tIns="0" rIns="0" bIns="0" rtlCol="0" anchor="t"/>
          <a:lstStyle/>
          <a:p>
            <a:pPr indent="0" marL="0">
              <a:buNone/>
            </a:pPr>
            <a:r>
              <a:rPr lang="en-US" sz="1500" i="1" dirty="0">
                <a:solidFill>
                  <a:srgbClr val="5B6B7C"/>
                </a:solidFill>
                <a:latin typeface="Calibri" pitchFamily="34" charset="0"/>
                <a:ea typeface="Calibri" pitchFamily="34" charset="-122"/>
                <a:cs typeface="Calibri" pitchFamily="34" charset="-120"/>
              </a:rPr>
              <a:t>Our joins reproduce the reference counts exactly</a:t>
            </a:r>
            <a:endParaRPr lang="en-US" sz="1500" dirty="0"/>
          </a:p>
        </p:txBody>
      </p:sp>
      <p:sp>
        <p:nvSpPr>
          <p:cNvPr id="4" name="Text 2"/>
          <p:cNvSpPr txBox="1"/>
          <p:nvPr/>
        </p:nvSpPr>
        <p:spPr>
          <a:xfrm>
            <a:off x="6675120" y="6446520"/>
            <a:ext cx="5056632" cy="274320"/>
          </a:xfrm>
          <a:prstGeom prst="rect">
            <a:avLst/>
          </a:prstGeom>
          <a:noFill/>
          <a:ln/>
        </p:spPr>
        <p:txBody>
          <a:bodyPr wrap="square" lIns="0" tIns="0" rIns="0" bIns="0" rtlCol="0" anchor="ctr"/>
          <a:lstStyle/>
          <a:p>
            <a:pPr algn="r" indent="0" marL="0">
              <a:buNone/>
            </a:pPr>
            <a:r>
              <a:rPr lang="en-US" sz="900" dirty="0">
                <a:solidFill>
                  <a:srgbClr val="5B6B7C"/>
                </a:solidFill>
                <a:latin typeface="Calibri" pitchFamily="34" charset="0"/>
                <a:ea typeface="Calibri" pitchFamily="34" charset="-122"/>
                <a:cs typeface="Calibri" pitchFamily="34" charset="-120"/>
              </a:rPr>
              <a:t>CVE Data Warehouse · Alessia Angele · 7</a:t>
            </a:r>
            <a:endParaRPr lang="en-US" sz="900" dirty="0"/>
          </a:p>
        </p:txBody>
      </p:sp>
      <p:sp>
        <p:nvSpPr>
          <p:cNvPr id="5" name="Text 3"/>
          <p:cNvSpPr txBox="1"/>
          <p:nvPr/>
        </p:nvSpPr>
        <p:spPr>
          <a:xfrm>
            <a:off x="457200" y="1600200"/>
            <a:ext cx="2743200" cy="731520"/>
          </a:xfrm>
          <a:prstGeom prst="rect">
            <a:avLst/>
          </a:prstGeom>
          <a:noFill/>
          <a:ln/>
        </p:spPr>
        <p:txBody>
          <a:bodyPr wrap="square" lIns="0" tIns="0" rIns="0" bIns="0" rtlCol="0" anchor="b"/>
          <a:lstStyle/>
          <a:p>
            <a:pPr indent="0" marL="0">
              <a:buNone/>
            </a:pPr>
            <a:r>
              <a:rPr lang="en-US" sz="3600" b="1" dirty="0">
                <a:solidFill>
                  <a:srgbClr val="148C8C"/>
                </a:solidFill>
                <a:latin typeface="Arial" pitchFamily="34" charset="0"/>
                <a:ea typeface="Arial" pitchFamily="34" charset="-122"/>
                <a:cs typeface="Arial" pitchFamily="34" charset="-120"/>
              </a:rPr>
              <a:t>194,478</a:t>
            </a:r>
            <a:endParaRPr lang="en-US" sz="3600" dirty="0"/>
          </a:p>
        </p:txBody>
      </p:sp>
      <p:sp>
        <p:nvSpPr>
          <p:cNvPr id="6" name="Text 4"/>
          <p:cNvSpPr txBox="1"/>
          <p:nvPr/>
        </p:nvSpPr>
        <p:spPr>
          <a:xfrm>
            <a:off x="457200" y="2377440"/>
            <a:ext cx="2743200" cy="548640"/>
          </a:xfrm>
          <a:prstGeom prst="rect">
            <a:avLst/>
          </a:prstGeom>
          <a:noFill/>
          <a:ln/>
        </p:spPr>
        <p:txBody>
          <a:bodyPr wrap="square" lIns="0" tIns="0" rIns="0" bIns="0" rtlCol="0" anchor="t"/>
          <a:lstStyle/>
          <a:p>
            <a:pPr indent="0" marL="0">
              <a:buNone/>
            </a:pPr>
            <a:r>
              <a:rPr lang="en-US" sz="1200" dirty="0">
                <a:solidFill>
                  <a:srgbClr val="5B6B7C"/>
                </a:solidFill>
                <a:latin typeface="Calibri" pitchFamily="34" charset="0"/>
                <a:ea typeface="Calibri" pitchFamily="34" charset="-122"/>
                <a:cs typeface="Calibri" pitchFamily="34" charset="-120"/>
              </a:rPr>
              <a:t>CVEs with an EPSS score (reference: 194,478)</a:t>
            </a:r>
            <a:endParaRPr lang="en-US" sz="1200" dirty="0"/>
          </a:p>
        </p:txBody>
      </p:sp>
      <p:sp>
        <p:nvSpPr>
          <p:cNvPr id="7" name="Text 5"/>
          <p:cNvSpPr txBox="1"/>
          <p:nvPr/>
        </p:nvSpPr>
        <p:spPr>
          <a:xfrm>
            <a:off x="3291840" y="1600200"/>
            <a:ext cx="2743200" cy="731520"/>
          </a:xfrm>
          <a:prstGeom prst="rect">
            <a:avLst/>
          </a:prstGeom>
          <a:noFill/>
          <a:ln/>
        </p:spPr>
        <p:txBody>
          <a:bodyPr wrap="square" lIns="0" tIns="0" rIns="0" bIns="0" rtlCol="0" anchor="b"/>
          <a:lstStyle/>
          <a:p>
            <a:pPr indent="0" marL="0">
              <a:buNone/>
            </a:pPr>
            <a:r>
              <a:rPr lang="en-US" sz="3600" b="1" dirty="0">
                <a:solidFill>
                  <a:srgbClr val="148C8C"/>
                </a:solidFill>
                <a:latin typeface="Arial" pitchFamily="34" charset="0"/>
                <a:ea typeface="Arial" pitchFamily="34" charset="-122"/>
                <a:cs typeface="Arial" pitchFamily="34" charset="-120"/>
              </a:rPr>
              <a:t>1,039</a:t>
            </a:r>
            <a:endParaRPr lang="en-US" sz="3600" dirty="0"/>
          </a:p>
        </p:txBody>
      </p:sp>
      <p:sp>
        <p:nvSpPr>
          <p:cNvPr id="8" name="Text 6"/>
          <p:cNvSpPr txBox="1"/>
          <p:nvPr/>
        </p:nvSpPr>
        <p:spPr>
          <a:xfrm>
            <a:off x="3291840" y="2377440"/>
            <a:ext cx="2743200" cy="548640"/>
          </a:xfrm>
          <a:prstGeom prst="rect">
            <a:avLst/>
          </a:prstGeom>
          <a:noFill/>
          <a:ln/>
        </p:spPr>
        <p:txBody>
          <a:bodyPr wrap="square" lIns="0" tIns="0" rIns="0" bIns="0" rtlCol="0" anchor="t"/>
          <a:lstStyle/>
          <a:p>
            <a:pPr indent="0" marL="0">
              <a:buNone/>
            </a:pPr>
            <a:r>
              <a:rPr lang="en-US" sz="1200" dirty="0">
                <a:solidFill>
                  <a:srgbClr val="5B6B7C"/>
                </a:solidFill>
                <a:latin typeface="Calibri" pitchFamily="34" charset="0"/>
                <a:ea typeface="Calibri" pitchFamily="34" charset="-122"/>
                <a:cs typeface="Calibri" pitchFamily="34" charset="-120"/>
              </a:rPr>
              <a:t>CVEs of 2020–2026 found in KEV (reference: 1,039)</a:t>
            </a:r>
            <a:endParaRPr lang="en-US" sz="1200" dirty="0"/>
          </a:p>
        </p:txBody>
      </p:sp>
      <p:sp>
        <p:nvSpPr>
          <p:cNvPr id="9" name="Text 7"/>
          <p:cNvSpPr txBox="1"/>
          <p:nvPr/>
        </p:nvSpPr>
        <p:spPr>
          <a:xfrm>
            <a:off x="6126480" y="1600200"/>
            <a:ext cx="2743200" cy="731520"/>
          </a:xfrm>
          <a:prstGeom prst="rect">
            <a:avLst/>
          </a:prstGeom>
          <a:noFill/>
          <a:ln/>
        </p:spPr>
        <p:txBody>
          <a:bodyPr wrap="square" lIns="0" tIns="0" rIns="0" bIns="0" rtlCol="0" anchor="b"/>
          <a:lstStyle/>
          <a:p>
            <a:pPr indent="0" marL="0">
              <a:buNone/>
            </a:pPr>
            <a:r>
              <a:rPr lang="en-US" sz="3600" b="1" dirty="0">
                <a:solidFill>
                  <a:srgbClr val="148C8C"/>
                </a:solidFill>
                <a:latin typeface="Arial" pitchFamily="34" charset="0"/>
                <a:ea typeface="Arial" pitchFamily="34" charset="-122"/>
                <a:cs typeface="Arial" pitchFamily="34" charset="-120"/>
              </a:rPr>
              <a:t>0</a:t>
            </a:r>
            <a:endParaRPr lang="en-US" sz="3600" dirty="0"/>
          </a:p>
        </p:txBody>
      </p:sp>
      <p:sp>
        <p:nvSpPr>
          <p:cNvPr id="10" name="Text 8"/>
          <p:cNvSpPr txBox="1"/>
          <p:nvPr/>
        </p:nvSpPr>
        <p:spPr>
          <a:xfrm>
            <a:off x="6126480" y="2377440"/>
            <a:ext cx="2743200" cy="548640"/>
          </a:xfrm>
          <a:prstGeom prst="rect">
            <a:avLst/>
          </a:prstGeom>
          <a:noFill/>
          <a:ln/>
        </p:spPr>
        <p:txBody>
          <a:bodyPr wrap="square" lIns="0" tIns="0" rIns="0" bIns="0" rtlCol="0" anchor="t"/>
          <a:lstStyle/>
          <a:p>
            <a:pPr indent="0" marL="0">
              <a:buNone/>
            </a:pPr>
            <a:r>
              <a:rPr lang="en-US" sz="1200" dirty="0">
                <a:solidFill>
                  <a:srgbClr val="5B6B7C"/>
                </a:solidFill>
                <a:latin typeface="Calibri" pitchFamily="34" charset="0"/>
                <a:ea typeface="Calibri" pitchFamily="34" charset="-122"/>
                <a:cs typeface="Calibri" pitchFamily="34" charset="-120"/>
              </a:rPr>
              <a:t>disagreements with the pre-joined KEV flag</a:t>
            </a:r>
            <a:endParaRPr lang="en-US" sz="1200" dirty="0"/>
          </a:p>
        </p:txBody>
      </p:sp>
      <p:sp>
        <p:nvSpPr>
          <p:cNvPr id="11" name="Text 9"/>
          <p:cNvSpPr txBox="1"/>
          <p:nvPr/>
        </p:nvSpPr>
        <p:spPr>
          <a:xfrm>
            <a:off x="8961120" y="1600200"/>
            <a:ext cx="2743200" cy="731520"/>
          </a:xfrm>
          <a:prstGeom prst="rect">
            <a:avLst/>
          </a:prstGeom>
          <a:noFill/>
          <a:ln/>
        </p:spPr>
        <p:txBody>
          <a:bodyPr wrap="square" lIns="0" tIns="0" rIns="0" bIns="0" rtlCol="0" anchor="b"/>
          <a:lstStyle/>
          <a:p>
            <a:pPr indent="0" marL="0">
              <a:buNone/>
            </a:pPr>
            <a:r>
              <a:rPr lang="en-US" sz="3600" b="1" dirty="0">
                <a:solidFill>
                  <a:srgbClr val="148C8C"/>
                </a:solidFill>
                <a:latin typeface="Arial" pitchFamily="34" charset="0"/>
                <a:ea typeface="Arial" pitchFamily="34" charset="-122"/>
                <a:cs typeface="Arial" pitchFamily="34" charset="-120"/>
              </a:rPr>
              <a:t>3 / 3</a:t>
            </a:r>
            <a:endParaRPr lang="en-US" sz="3600" dirty="0"/>
          </a:p>
        </p:txBody>
      </p:sp>
      <p:sp>
        <p:nvSpPr>
          <p:cNvPr id="12" name="Text 10"/>
          <p:cNvSpPr txBox="1"/>
          <p:nvPr/>
        </p:nvSpPr>
        <p:spPr>
          <a:xfrm>
            <a:off x="8961120" y="2377440"/>
            <a:ext cx="2743200" cy="548640"/>
          </a:xfrm>
          <a:prstGeom prst="rect">
            <a:avLst/>
          </a:prstGeom>
          <a:noFill/>
          <a:ln/>
        </p:spPr>
        <p:txBody>
          <a:bodyPr wrap="square" lIns="0" tIns="0" rIns="0" bIns="0" rtlCol="0" anchor="t"/>
          <a:lstStyle/>
          <a:p>
            <a:pPr indent="0" marL="0">
              <a:buNone/>
            </a:pPr>
            <a:r>
              <a:rPr lang="en-US" sz="1200" dirty="0">
                <a:solidFill>
                  <a:srgbClr val="5B6B7C"/>
                </a:solidFill>
                <a:latin typeface="Calibri" pitchFamily="34" charset="0"/>
                <a:ea typeface="Calibri" pitchFamily="34" charset="-122"/>
                <a:cs typeface="Calibri" pitchFamily="34" charset="-120"/>
              </a:rPr>
              <a:t>post-load SQL checks passed</a:t>
            </a:r>
            <a:endParaRPr lang="en-US" sz="1200" dirty="0"/>
          </a:p>
        </p:txBody>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457200" y="3291840"/>
          <a:ext cx="6949440" cy="914400"/>
        </p:xfrm>
        <a:graphic>
          <a:graphicData uri="http://schemas.openxmlformats.org/drawingml/2006/table">
            <a:tbl>
              <a:tblPr/>
              <a:tblGrid>
                <a:gridCol w="5852160"/>
                <a:gridCol w="1097280"/>
              </a:tblGrid>
              <a:tr h="411480">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Post-load check (SQL, run by etl.py)</a:t>
                      </a:r>
                      <a:endParaRPr lang="en-US" sz="1300" dirty="0">
                        <a:latin typeface="Calibri" charset="0"/>
                        <a:ea typeface="Calibri" charset="0"/>
                        <a:cs typeface="Calibr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1B2A41"/>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Result</a:t>
                      </a:r>
                      <a:endParaRPr lang="en-US" sz="1300" dirty="0">
                        <a:latin typeface="Calibri" charset="0"/>
                        <a:ea typeface="Calibri" charset="0"/>
                        <a:cs typeface="Calibr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1B2A41"/>
                    </a:solidFill>
                  </a:tcPr>
                </a:tc>
              </a:tr>
              <a:tr h="411480">
                <a:tc>
                  <a:txBody>
                    <a:bodyPr/>
                    <a:lstStyle/>
                    <a:p>
                      <a:pPr indent="0" marL="0">
                        <a:buNone/>
                      </a:pPr>
                      <a:r>
                        <a:rPr lang="en-US" sz="1300" dirty="0">
                          <a:solidFill>
                            <a:srgbClr val="1F2933"/>
                          </a:solidFill>
                          <a:latin typeface="Calibri" pitchFamily="34" charset="0"/>
                          <a:ea typeface="Calibri" pitchFamily="34" charset="-122"/>
                          <a:cs typeface="Calibri" pitchFamily="34" charset="-120"/>
                        </a:rPr>
                        <a:t>dim_date rows = distinct dates + Unknown member</a:t>
                      </a:r>
                      <a:endParaRPr lang="en-US" sz="1300" dirty="0">
                        <a:latin typeface="Calibri" charset="0"/>
                        <a:ea typeface="Calibri" charset="0"/>
                        <a:cs typeface="Calibr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a:txBody>
                    <a:bodyPr/>
                    <a:lstStyle/>
                    <a:p>
                      <a:pPr indent="0" marL="0">
                        <a:buNone/>
                      </a:pPr>
                      <a:r>
                        <a:rPr lang="en-US" sz="1300" dirty="0">
                          <a:solidFill>
                            <a:srgbClr val="1F2933"/>
                          </a:solidFill>
                          <a:latin typeface="Calibri" pitchFamily="34" charset="0"/>
                          <a:ea typeface="Calibri" pitchFamily="34" charset="-122"/>
                          <a:cs typeface="Calibri" pitchFamily="34" charset="-120"/>
                        </a:rPr>
                        <a:t>OK</a:t>
                      </a:r>
                      <a:endParaRPr lang="en-US" sz="1300" dirty="0">
                        <a:latin typeface="Calibri" charset="0"/>
                        <a:ea typeface="Calibri" charset="0"/>
                        <a:cs typeface="Calibr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r>
              <a:tr h="411480">
                <a:tc>
                  <a:txBody>
                    <a:bodyPr/>
                    <a:lstStyle/>
                    <a:p>
                      <a:pPr indent="0" marL="0">
                        <a:buNone/>
                      </a:pPr>
                      <a:r>
                        <a:rPr lang="en-US" sz="1300" dirty="0">
                          <a:solidFill>
                            <a:srgbClr val="1F2933"/>
                          </a:solidFill>
                          <a:latin typeface="Calibri" pitchFamily="34" charset="0"/>
                          <a:ea typeface="Calibri" pitchFamily="34" charset="-122"/>
                          <a:cs typeface="Calibri" pitchFamily="34" charset="-120"/>
                        </a:rPr>
                        <a:t>fact_vulnerability.is_in_kev = KEV rows inside the NVD snapshot</a:t>
                      </a:r>
                      <a:endParaRPr lang="en-US" sz="1300" dirty="0">
                        <a:latin typeface="Calibri" charset="0"/>
                        <a:ea typeface="Calibri" charset="0"/>
                        <a:cs typeface="Calibr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a:txBody>
                    <a:bodyPr/>
                    <a:lstStyle/>
                    <a:p>
                      <a:pPr indent="0" marL="0">
                        <a:buNone/>
                      </a:pPr>
                      <a:r>
                        <a:rPr lang="en-US" sz="1300" dirty="0">
                          <a:solidFill>
                            <a:srgbClr val="1F2933"/>
                          </a:solidFill>
                          <a:latin typeface="Calibri" pitchFamily="34" charset="0"/>
                          <a:ea typeface="Calibri" pitchFamily="34" charset="-122"/>
                          <a:cs typeface="Calibri" pitchFamily="34" charset="-120"/>
                        </a:rPr>
                        <a:t>OK</a:t>
                      </a:r>
                      <a:endParaRPr lang="en-US" sz="1300" dirty="0">
                        <a:latin typeface="Calibri" charset="0"/>
                        <a:ea typeface="Calibri" charset="0"/>
                        <a:cs typeface="Calibr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r>
              <a:tr h="411480">
                <a:tc>
                  <a:txBody>
                    <a:bodyPr/>
                    <a:lstStyle/>
                    <a:p>
                      <a:pPr indent="0" marL="0">
                        <a:buNone/>
                      </a:pPr>
                      <a:r>
                        <a:rPr lang="en-US" sz="1300" dirty="0">
                          <a:solidFill>
                            <a:srgbClr val="1F2933"/>
                          </a:solidFill>
                          <a:latin typeface="Calibri" pitchFamily="34" charset="0"/>
                          <a:ea typeface="Calibri" pitchFamily="34" charset="-122"/>
                          <a:cs typeface="Calibri" pitchFamily="34" charset="-120"/>
                        </a:rPr>
                        <a:t>no NaN in any numeric measure</a:t>
                      </a:r>
                      <a:endParaRPr lang="en-US" sz="1300" dirty="0">
                        <a:latin typeface="Calibri" charset="0"/>
                        <a:ea typeface="Calibri" charset="0"/>
                        <a:cs typeface="Calibr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a:txBody>
                    <a:bodyPr/>
                    <a:lstStyle/>
                    <a:p>
                      <a:pPr indent="0" marL="0">
                        <a:buNone/>
                      </a:pPr>
                      <a:r>
                        <a:rPr lang="en-US" sz="1300" dirty="0">
                          <a:solidFill>
                            <a:srgbClr val="1F2933"/>
                          </a:solidFill>
                          <a:latin typeface="Calibri" pitchFamily="34" charset="0"/>
                          <a:ea typeface="Calibri" pitchFamily="34" charset="-122"/>
                          <a:cs typeface="Calibri" pitchFamily="34" charset="-120"/>
                        </a:rPr>
                        <a:t>OK</a:t>
                      </a:r>
                      <a:endParaRPr lang="en-US" sz="1300" dirty="0">
                        <a:latin typeface="Calibri" charset="0"/>
                        <a:ea typeface="Calibri" charset="0"/>
                        <a:cs typeface="Calibr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r>
            </a:tbl>
          </a:graphicData>
        </a:graphic>
      </p:graphicFrame>
      <p:sp>
        <p:nvSpPr>
          <p:cNvPr id="14" name="Shape 11"/>
          <p:cNvSpPr/>
          <p:nvPr/>
        </p:nvSpPr>
        <p:spPr>
          <a:xfrm>
            <a:off x="7772400" y="3291840"/>
            <a:ext cx="3959352" cy="2286000"/>
          </a:xfrm>
          <a:prstGeom prst="rect">
            <a:avLst/>
          </a:prstGeom>
          <a:solidFill>
            <a:srgbClr val="F3F5F8"/>
          </a:solidFill>
          <a:ln w="12700">
            <a:solidFill>
              <a:srgbClr val="F3F5F8"/>
            </a:solidFill>
            <a:prstDash val="solid"/>
          </a:ln>
        </p:spPr>
      </p:sp>
      <p:sp>
        <p:nvSpPr>
          <p:cNvPr id="15" name="Text 12"/>
          <p:cNvSpPr txBox="1"/>
          <p:nvPr/>
        </p:nvSpPr>
        <p:spPr>
          <a:xfrm>
            <a:off x="7955280" y="3429000"/>
            <a:ext cx="3593592" cy="365760"/>
          </a:xfrm>
          <a:prstGeom prst="rect">
            <a:avLst/>
          </a:prstGeom>
          <a:noFill/>
          <a:ln/>
        </p:spPr>
        <p:txBody>
          <a:bodyPr wrap="square" lIns="0" tIns="0" rIns="0" bIns="0" rtlCol="0" anchor="t"/>
          <a:lstStyle/>
          <a:p>
            <a:pPr indent="0" marL="0">
              <a:buNone/>
            </a:pPr>
            <a:r>
              <a:rPr lang="en-US" sz="1400" b="1" dirty="0">
                <a:solidFill>
                  <a:srgbClr val="C8102E"/>
                </a:solidFill>
                <a:latin typeface="Arial" pitchFamily="34" charset="0"/>
                <a:ea typeface="Arial" pitchFamily="34" charset="-122"/>
                <a:cs typeface="Arial" pitchFamily="34" charset="-120"/>
              </a:rPr>
              <a:t>Known limits, stated</a:t>
            </a:r>
            <a:endParaRPr lang="en-US" sz="1400" dirty="0"/>
          </a:p>
        </p:txBody>
      </p:sp>
      <p:sp>
        <p:nvSpPr>
          <p:cNvPr id="16" name="Text 13"/>
          <p:cNvSpPr txBox="1"/>
          <p:nvPr/>
        </p:nvSpPr>
        <p:spPr>
          <a:xfrm>
            <a:off x="7955280" y="3840480"/>
            <a:ext cx="3593592" cy="1600200"/>
          </a:xfrm>
          <a:prstGeom prst="rect">
            <a:avLst/>
          </a:prstGeom>
          <a:noFill/>
          <a:ln/>
        </p:spPr>
        <p:txBody>
          <a:bodyPr wrap="square" lIns="0" tIns="0" rIns="0" bIns="0" rtlCol="0" anchor="t"/>
          <a:lstStyle/>
          <a:p>
            <a:pPr indent="0" marL="0">
              <a:buNone/>
            </a:pPr>
            <a:r>
              <a:rPr lang="en-US" sz="1250" dirty="0">
                <a:solidFill>
                  <a:srgbClr val="1F2933"/>
                </a:solidFill>
                <a:latin typeface="Calibri" pitchFamily="34" charset="0"/>
                <a:ea typeface="Calibri" pitchFamily="34" charset="-122"/>
                <a:cs typeface="Calibri" pitchFamily="34" charset="-120"/>
              </a:rPr>
              <a:t>40,398 CVEs (20%) have no CPE → product = Unknown.</a:t>
            </a:r>
            <a:endParaRPr lang="en-US" sz="1250" dirty="0"/>
          </a:p>
          <a:p>
            <a:pPr indent="0" marL="0">
              <a:buNone/>
            </a:pPr>
            <a:r>
              <a:rPr lang="en-US" sz="1250" dirty="0">
                <a:solidFill>
                  <a:srgbClr val="1F2933"/>
                </a:solidFill>
                <a:latin typeface="Calibri" pitchFamily="34" charset="0"/>
                <a:ea typeface="Calibri" pitchFamily="34" charset="-122"/>
                <a:cs typeface="Calibri" pitchFamily="34" charset="-120"/>
              </a:rPr>
              <a:t>546 KEV entries are CVEs older than 2020: kept in the KEV fact, flagged in_nvd_snapshot = false.</a:t>
            </a:r>
            <a:endParaRPr lang="en-US" sz="1250" dirty="0"/>
          </a:p>
          <a:p>
            <a:pPr indent="0" marL="0">
              <a:buNone/>
            </a:pPr>
            <a:r>
              <a:rPr lang="en-US" sz="1250" dirty="0">
                <a:solidFill>
                  <a:srgbClr val="1F2933"/>
                </a:solidFill>
                <a:latin typeface="Calibri" pitchFamily="34" charset="0"/>
                <a:ea typeface="Calibri" pitchFamily="34" charset="-122"/>
                <a:cs typeface="Calibri" pitchFamily="34" charset="-120"/>
              </a:rPr>
              <a:t>EPSS is a current score, not historical.</a:t>
            </a:r>
            <a:endParaRPr lang="en-US" sz="12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320040"/>
            <a:ext cx="11247120" cy="640080"/>
          </a:xfrm>
          <a:prstGeom prst="rect">
            <a:avLst/>
          </a:prstGeom>
          <a:noFill/>
          <a:ln/>
        </p:spPr>
        <p:txBody>
          <a:bodyPr wrap="square" lIns="0" tIns="0" rIns="0" bIns="0" rtlCol="0" anchor="ctr"/>
          <a:lstStyle/>
          <a:p>
            <a:pPr indent="0" marL="0">
              <a:buNone/>
            </a:pPr>
            <a:r>
              <a:rPr lang="en-US" sz="2600" b="1" dirty="0">
                <a:solidFill>
                  <a:srgbClr val="1B2A41"/>
                </a:solidFill>
                <a:latin typeface="Arial" pitchFamily="34" charset="0"/>
                <a:ea typeface="Arial" pitchFamily="34" charset="-122"/>
                <a:cs typeface="Arial" pitchFamily="34" charset="-120"/>
              </a:rPr>
              <a:t>DFM 1: vulnerability disclosure</a:t>
            </a:r>
            <a:endParaRPr lang="en-US" sz="2600" dirty="0"/>
          </a:p>
        </p:txBody>
      </p:sp>
      <p:sp>
        <p:nvSpPr>
          <p:cNvPr id="3" name="Text 1"/>
          <p:cNvSpPr txBox="1"/>
          <p:nvPr/>
        </p:nvSpPr>
        <p:spPr>
          <a:xfrm>
            <a:off x="457200" y="987552"/>
            <a:ext cx="11247120" cy="411480"/>
          </a:xfrm>
          <a:prstGeom prst="rect">
            <a:avLst/>
          </a:prstGeom>
          <a:noFill/>
          <a:ln/>
        </p:spPr>
        <p:txBody>
          <a:bodyPr wrap="square" lIns="0" tIns="0" rIns="0" bIns="0" rtlCol="0" anchor="t"/>
          <a:lstStyle/>
          <a:p>
            <a:pPr indent="0" marL="0">
              <a:buNone/>
            </a:pPr>
            <a:r>
              <a:rPr lang="en-US" sz="1500" i="1" dirty="0">
                <a:solidFill>
                  <a:srgbClr val="5B6B7C"/>
                </a:solidFill>
                <a:latin typeface="Calibri" pitchFamily="34" charset="0"/>
                <a:ea typeface="Calibri" pitchFamily="34" charset="-122"/>
                <a:cs typeface="Calibri" pitchFamily="34" charset="-120"/>
              </a:rPr>
              <a:t>Grain: one CVE published in NVD   ·   teal = dimensions shared with DFM 2</a:t>
            </a:r>
            <a:endParaRPr lang="en-US" sz="1500" dirty="0"/>
          </a:p>
        </p:txBody>
      </p:sp>
      <p:sp>
        <p:nvSpPr>
          <p:cNvPr id="4" name="Text 2"/>
          <p:cNvSpPr txBox="1"/>
          <p:nvPr/>
        </p:nvSpPr>
        <p:spPr>
          <a:xfrm>
            <a:off x="6675120" y="6446520"/>
            <a:ext cx="5056632" cy="274320"/>
          </a:xfrm>
          <a:prstGeom prst="rect">
            <a:avLst/>
          </a:prstGeom>
          <a:noFill/>
          <a:ln/>
        </p:spPr>
        <p:txBody>
          <a:bodyPr wrap="square" lIns="0" tIns="0" rIns="0" bIns="0" rtlCol="0" anchor="ctr"/>
          <a:lstStyle/>
          <a:p>
            <a:pPr algn="r" indent="0" marL="0">
              <a:buNone/>
            </a:pPr>
            <a:r>
              <a:rPr lang="en-US" sz="900" dirty="0">
                <a:solidFill>
                  <a:srgbClr val="5B6B7C"/>
                </a:solidFill>
                <a:latin typeface="Calibri" pitchFamily="34" charset="0"/>
                <a:ea typeface="Calibri" pitchFamily="34" charset="-122"/>
                <a:cs typeface="Calibri" pitchFamily="34" charset="-120"/>
              </a:rPr>
              <a:t>CVE Data Warehouse · Alessia Angele · 8</a:t>
            </a:r>
            <a:endParaRPr lang="en-US" sz="900" dirty="0"/>
          </a:p>
        </p:txBody>
      </p:sp>
      <p:sp>
        <p:nvSpPr>
          <p:cNvPr id="5" name="Shape 3"/>
          <p:cNvSpPr/>
          <p:nvPr/>
        </p:nvSpPr>
        <p:spPr>
          <a:xfrm>
            <a:off x="4572000" y="2331720"/>
            <a:ext cx="2834640" cy="2286000"/>
          </a:xfrm>
          <a:prstGeom prst="rect">
            <a:avLst/>
          </a:prstGeom>
          <a:solidFill>
            <a:srgbClr val="FFFFFF"/>
          </a:solidFill>
          <a:ln w="25400">
            <a:solidFill>
              <a:srgbClr val="1B2A41"/>
            </a:solidFill>
            <a:prstDash val="solid"/>
          </a:ln>
        </p:spPr>
      </p:sp>
      <p:sp>
        <p:nvSpPr>
          <p:cNvPr id="6" name="Shape 4"/>
          <p:cNvSpPr/>
          <p:nvPr/>
        </p:nvSpPr>
        <p:spPr>
          <a:xfrm>
            <a:off x="4572000" y="2331720"/>
            <a:ext cx="2834640" cy="411480"/>
          </a:xfrm>
          <a:prstGeom prst="rect">
            <a:avLst/>
          </a:prstGeom>
          <a:solidFill>
            <a:srgbClr val="1B2A41"/>
          </a:solidFill>
          <a:ln w="25400">
            <a:solidFill>
              <a:srgbClr val="1B2A41"/>
            </a:solidFill>
            <a:prstDash val="solid"/>
          </a:ln>
        </p:spPr>
      </p:sp>
      <p:sp>
        <p:nvSpPr>
          <p:cNvPr id="7" name="Text 5"/>
          <p:cNvSpPr txBox="1"/>
          <p:nvPr/>
        </p:nvSpPr>
        <p:spPr>
          <a:xfrm>
            <a:off x="4572000" y="2331720"/>
            <a:ext cx="2834640" cy="411480"/>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VULNERABILITY</a:t>
            </a:r>
            <a:endParaRPr lang="en-US" sz="1300" dirty="0"/>
          </a:p>
        </p:txBody>
      </p:sp>
      <p:sp>
        <p:nvSpPr>
          <p:cNvPr id="8" name="Text 6"/>
          <p:cNvSpPr txBox="1"/>
          <p:nvPr/>
        </p:nvSpPr>
        <p:spPr>
          <a:xfrm>
            <a:off x="4754880" y="2834640"/>
            <a:ext cx="2468880" cy="1691640"/>
          </a:xfrm>
          <a:prstGeom prst="rect">
            <a:avLst/>
          </a:prstGeom>
          <a:noFill/>
          <a:ln/>
        </p:spPr>
        <p:txBody>
          <a:bodyPr wrap="square" lIns="0" tIns="0" rIns="0" bIns="0" rtlCol="0" anchor="t"/>
          <a:lstStyle/>
          <a:p>
            <a:pPr indent="0" marL="0">
              <a:buNone/>
            </a:pPr>
            <a:r>
              <a:rPr lang="en-US" sz="1200" dirty="0">
                <a:solidFill>
                  <a:srgbClr val="1F2933"/>
                </a:solidFill>
                <a:latin typeface="Calibri" pitchFamily="34" charset="0"/>
                <a:ea typeface="Calibri" pitchFamily="34" charset="-122"/>
                <a:cs typeface="Calibri" pitchFamily="34" charset="-120"/>
              </a:rPr>
              <a:t>cvss_score (AVG)</a:t>
            </a:r>
            <a:endParaRPr lang="en-US" sz="1200" dirty="0"/>
          </a:p>
          <a:p>
            <a:pPr indent="0" marL="0">
              <a:buNone/>
            </a:pPr>
            <a:r>
              <a:rPr lang="en-US" sz="1200" dirty="0">
                <a:solidFill>
                  <a:srgbClr val="1F2933"/>
                </a:solidFill>
                <a:latin typeface="Calibri" pitchFamily="34" charset="0"/>
                <a:ea typeface="Calibri" pitchFamily="34" charset="-122"/>
                <a:cs typeface="Calibri" pitchFamily="34" charset="-120"/>
              </a:rPr>
              <a:t>epss_score (AVG)</a:t>
            </a:r>
            <a:endParaRPr lang="en-US" sz="1200" dirty="0"/>
          </a:p>
          <a:p>
            <a:pPr indent="0" marL="0">
              <a:buNone/>
            </a:pPr>
            <a:r>
              <a:rPr lang="en-US" sz="1200" dirty="0">
                <a:solidFill>
                  <a:srgbClr val="1F2933"/>
                </a:solidFill>
                <a:latin typeface="Calibri" pitchFamily="34" charset="0"/>
                <a:ea typeface="Calibri" pitchFamily="34" charset="-122"/>
                <a:cs typeface="Calibri" pitchFamily="34" charset="-120"/>
              </a:rPr>
              <a:t>epss_percentile (AVG)</a:t>
            </a:r>
            <a:endParaRPr lang="en-US" sz="1200" dirty="0"/>
          </a:p>
          <a:p>
            <a:pPr indent="0" marL="0">
              <a:buNone/>
            </a:pPr>
            <a:r>
              <a:rPr lang="en-US" sz="1200" dirty="0">
                <a:solidFill>
                  <a:srgbClr val="1F2933"/>
                </a:solidFill>
                <a:latin typeface="Calibri" pitchFamily="34" charset="0"/>
                <a:ea typeface="Calibri" pitchFamily="34" charset="-122"/>
                <a:cs typeface="Calibri" pitchFamily="34" charset="-120"/>
              </a:rPr>
              <a:t>affected_products (SUM)</a:t>
            </a:r>
            <a:endParaRPr lang="en-US" sz="1200" dirty="0"/>
          </a:p>
          <a:p>
            <a:pPr indent="0" marL="0">
              <a:buNone/>
            </a:pPr>
            <a:r>
              <a:rPr lang="en-US" sz="1200" dirty="0">
                <a:solidFill>
                  <a:srgbClr val="1F2933"/>
                </a:solidFill>
                <a:latin typeface="Calibri" pitchFamily="34" charset="0"/>
                <a:ea typeface="Calibri" pitchFamily="34" charset="-122"/>
                <a:cs typeface="Calibri" pitchFamily="34" charset="-120"/>
              </a:rPr>
              <a:t>is_in_kev (COUNT IF)</a:t>
            </a:r>
            <a:endParaRPr lang="en-US" sz="1200" dirty="0"/>
          </a:p>
          <a:p>
            <a:pPr indent="0" marL="0">
              <a:buNone/>
            </a:pPr>
            <a:r>
              <a:rPr lang="en-US" sz="1200" dirty="0">
                <a:solidFill>
                  <a:srgbClr val="1F2933"/>
                </a:solidFill>
                <a:latin typeface="Calibri" pitchFamily="34" charset="0"/>
                <a:ea typeface="Calibri" pitchFamily="34" charset="-122"/>
                <a:cs typeface="Calibri" pitchFamily="34" charset="-120"/>
              </a:rPr>
              <a:t>count (COUNT)</a:t>
            </a:r>
            <a:endParaRPr lang="en-US" sz="1200" dirty="0"/>
          </a:p>
        </p:txBody>
      </p:sp>
      <p:sp>
        <p:nvSpPr>
          <p:cNvPr id="9" name="Shape 7"/>
          <p:cNvSpPr/>
          <p:nvPr/>
        </p:nvSpPr>
        <p:spPr>
          <a:xfrm>
            <a:off x="3931920" y="3063240"/>
            <a:ext cx="640080" cy="914"/>
          </a:xfrm>
          <a:prstGeom prst="line">
            <a:avLst/>
          </a:prstGeom>
          <a:noFill/>
          <a:ln w="19050">
            <a:solidFill>
              <a:srgbClr val="148C8C"/>
            </a:solidFill>
            <a:prstDash val="solid"/>
          </a:ln>
        </p:spPr>
      </p:sp>
      <p:sp>
        <p:nvSpPr>
          <p:cNvPr id="10" name="Shape 8"/>
          <p:cNvSpPr/>
          <p:nvPr/>
        </p:nvSpPr>
        <p:spPr>
          <a:xfrm>
            <a:off x="3854196" y="2985516"/>
            <a:ext cx="155448" cy="155448"/>
          </a:xfrm>
          <a:prstGeom prst="ellipse">
            <a:avLst/>
          </a:prstGeom>
          <a:solidFill>
            <a:srgbClr val="FFFFFF"/>
          </a:solidFill>
          <a:ln w="19050">
            <a:solidFill>
              <a:srgbClr val="148C8C"/>
            </a:solidFill>
            <a:prstDash val="solid"/>
          </a:ln>
        </p:spPr>
      </p:sp>
      <p:sp>
        <p:nvSpPr>
          <p:cNvPr id="11" name="Text 9"/>
          <p:cNvSpPr txBox="1"/>
          <p:nvPr/>
        </p:nvSpPr>
        <p:spPr>
          <a:xfrm>
            <a:off x="3063240" y="2651760"/>
            <a:ext cx="1737360" cy="274320"/>
          </a:xfrm>
          <a:prstGeom prst="rect">
            <a:avLst/>
          </a:prstGeom>
          <a:noFill/>
          <a:ln/>
        </p:spPr>
        <p:txBody>
          <a:bodyPr wrap="square" lIns="0" tIns="0" rIns="0" bIns="0" rtlCol="0" anchor="b"/>
          <a:lstStyle/>
          <a:p>
            <a:pPr algn="ctr" indent="0" marL="0">
              <a:buNone/>
            </a:pPr>
            <a:r>
              <a:rPr lang="en-US" sz="1150" dirty="0">
                <a:solidFill>
                  <a:srgbClr val="1F2933"/>
                </a:solidFill>
                <a:latin typeface="Calibri" pitchFamily="34" charset="0"/>
                <a:ea typeface="Calibri" pitchFamily="34" charset="-122"/>
                <a:cs typeface="Calibri" pitchFamily="34" charset="-120"/>
              </a:rPr>
              <a:t>date</a:t>
            </a:r>
            <a:endParaRPr lang="en-US" sz="1150" dirty="0"/>
          </a:p>
        </p:txBody>
      </p:sp>
      <p:sp>
        <p:nvSpPr>
          <p:cNvPr id="12" name="Shape 10"/>
          <p:cNvSpPr/>
          <p:nvPr/>
        </p:nvSpPr>
        <p:spPr>
          <a:xfrm>
            <a:off x="3017520" y="3063240"/>
            <a:ext cx="914400" cy="914"/>
          </a:xfrm>
          <a:prstGeom prst="line">
            <a:avLst/>
          </a:prstGeom>
          <a:noFill/>
          <a:ln w="19050">
            <a:solidFill>
              <a:srgbClr val="148C8C"/>
            </a:solidFill>
            <a:prstDash val="solid"/>
          </a:ln>
        </p:spPr>
      </p:sp>
      <p:sp>
        <p:nvSpPr>
          <p:cNvPr id="13" name="Shape 11"/>
          <p:cNvSpPr/>
          <p:nvPr/>
        </p:nvSpPr>
        <p:spPr>
          <a:xfrm>
            <a:off x="2939796" y="2985516"/>
            <a:ext cx="155448" cy="155448"/>
          </a:xfrm>
          <a:prstGeom prst="ellipse">
            <a:avLst/>
          </a:prstGeom>
          <a:solidFill>
            <a:srgbClr val="FFFFFF"/>
          </a:solidFill>
          <a:ln w="19050">
            <a:solidFill>
              <a:srgbClr val="148C8C"/>
            </a:solidFill>
            <a:prstDash val="solid"/>
          </a:ln>
        </p:spPr>
      </p:sp>
      <p:sp>
        <p:nvSpPr>
          <p:cNvPr id="14" name="Text 12"/>
          <p:cNvSpPr txBox="1"/>
          <p:nvPr/>
        </p:nvSpPr>
        <p:spPr>
          <a:xfrm>
            <a:off x="2148840" y="2651760"/>
            <a:ext cx="1737360" cy="274320"/>
          </a:xfrm>
          <a:prstGeom prst="rect">
            <a:avLst/>
          </a:prstGeom>
          <a:noFill/>
          <a:ln/>
        </p:spPr>
        <p:txBody>
          <a:bodyPr wrap="square" lIns="0" tIns="0" rIns="0" bIns="0" rtlCol="0" anchor="b"/>
          <a:lstStyle/>
          <a:p>
            <a:pPr algn="ctr" indent="0" marL="0">
              <a:buNone/>
            </a:pPr>
            <a:r>
              <a:rPr lang="en-US" sz="1150" dirty="0">
                <a:solidFill>
                  <a:srgbClr val="1F2933"/>
                </a:solidFill>
                <a:latin typeface="Calibri" pitchFamily="34" charset="0"/>
                <a:ea typeface="Calibri" pitchFamily="34" charset="-122"/>
                <a:cs typeface="Calibri" pitchFamily="34" charset="-120"/>
              </a:rPr>
              <a:t>month</a:t>
            </a:r>
            <a:endParaRPr lang="en-US" sz="1150" dirty="0"/>
          </a:p>
        </p:txBody>
      </p:sp>
      <p:sp>
        <p:nvSpPr>
          <p:cNvPr id="15" name="Shape 13"/>
          <p:cNvSpPr/>
          <p:nvPr/>
        </p:nvSpPr>
        <p:spPr>
          <a:xfrm>
            <a:off x="2103120" y="3063240"/>
            <a:ext cx="914400" cy="914"/>
          </a:xfrm>
          <a:prstGeom prst="line">
            <a:avLst/>
          </a:prstGeom>
          <a:noFill/>
          <a:ln w="19050">
            <a:solidFill>
              <a:srgbClr val="148C8C"/>
            </a:solidFill>
            <a:prstDash val="solid"/>
          </a:ln>
        </p:spPr>
      </p:sp>
      <p:sp>
        <p:nvSpPr>
          <p:cNvPr id="16" name="Shape 14"/>
          <p:cNvSpPr/>
          <p:nvPr/>
        </p:nvSpPr>
        <p:spPr>
          <a:xfrm>
            <a:off x="2025396" y="2985516"/>
            <a:ext cx="155448" cy="155448"/>
          </a:xfrm>
          <a:prstGeom prst="ellipse">
            <a:avLst/>
          </a:prstGeom>
          <a:solidFill>
            <a:srgbClr val="FFFFFF"/>
          </a:solidFill>
          <a:ln w="19050">
            <a:solidFill>
              <a:srgbClr val="148C8C"/>
            </a:solidFill>
            <a:prstDash val="solid"/>
          </a:ln>
        </p:spPr>
      </p:sp>
      <p:sp>
        <p:nvSpPr>
          <p:cNvPr id="17" name="Text 15"/>
          <p:cNvSpPr txBox="1"/>
          <p:nvPr/>
        </p:nvSpPr>
        <p:spPr>
          <a:xfrm>
            <a:off x="1234440" y="2651760"/>
            <a:ext cx="1737360" cy="274320"/>
          </a:xfrm>
          <a:prstGeom prst="rect">
            <a:avLst/>
          </a:prstGeom>
          <a:noFill/>
          <a:ln/>
        </p:spPr>
        <p:txBody>
          <a:bodyPr wrap="square" lIns="0" tIns="0" rIns="0" bIns="0" rtlCol="0" anchor="b"/>
          <a:lstStyle/>
          <a:p>
            <a:pPr algn="ctr" indent="0" marL="0">
              <a:buNone/>
            </a:pPr>
            <a:r>
              <a:rPr lang="en-US" sz="1150" dirty="0">
                <a:solidFill>
                  <a:srgbClr val="1F2933"/>
                </a:solidFill>
                <a:latin typeface="Calibri" pitchFamily="34" charset="0"/>
                <a:ea typeface="Calibri" pitchFamily="34" charset="-122"/>
                <a:cs typeface="Calibri" pitchFamily="34" charset="-120"/>
              </a:rPr>
              <a:t>quarter</a:t>
            </a:r>
            <a:endParaRPr lang="en-US" sz="1150" dirty="0"/>
          </a:p>
        </p:txBody>
      </p:sp>
      <p:sp>
        <p:nvSpPr>
          <p:cNvPr id="18" name="Shape 16"/>
          <p:cNvSpPr/>
          <p:nvPr/>
        </p:nvSpPr>
        <p:spPr>
          <a:xfrm>
            <a:off x="1188720" y="3063240"/>
            <a:ext cx="914400" cy="914"/>
          </a:xfrm>
          <a:prstGeom prst="line">
            <a:avLst/>
          </a:prstGeom>
          <a:noFill/>
          <a:ln w="19050">
            <a:solidFill>
              <a:srgbClr val="148C8C"/>
            </a:solidFill>
            <a:prstDash val="solid"/>
          </a:ln>
        </p:spPr>
      </p:sp>
      <p:sp>
        <p:nvSpPr>
          <p:cNvPr id="19" name="Shape 17"/>
          <p:cNvSpPr/>
          <p:nvPr/>
        </p:nvSpPr>
        <p:spPr>
          <a:xfrm>
            <a:off x="1110996" y="2985516"/>
            <a:ext cx="155448" cy="155448"/>
          </a:xfrm>
          <a:prstGeom prst="ellipse">
            <a:avLst/>
          </a:prstGeom>
          <a:solidFill>
            <a:srgbClr val="FFFFFF"/>
          </a:solidFill>
          <a:ln w="19050">
            <a:solidFill>
              <a:srgbClr val="148C8C"/>
            </a:solidFill>
            <a:prstDash val="solid"/>
          </a:ln>
        </p:spPr>
      </p:sp>
      <p:sp>
        <p:nvSpPr>
          <p:cNvPr id="20" name="Text 18"/>
          <p:cNvSpPr txBox="1"/>
          <p:nvPr/>
        </p:nvSpPr>
        <p:spPr>
          <a:xfrm>
            <a:off x="320040" y="2651760"/>
            <a:ext cx="1737360" cy="274320"/>
          </a:xfrm>
          <a:prstGeom prst="rect">
            <a:avLst/>
          </a:prstGeom>
          <a:noFill/>
          <a:ln/>
        </p:spPr>
        <p:txBody>
          <a:bodyPr wrap="square" lIns="0" tIns="0" rIns="0" bIns="0" rtlCol="0" anchor="b"/>
          <a:lstStyle/>
          <a:p>
            <a:pPr algn="ctr" indent="0" marL="0">
              <a:buNone/>
            </a:pPr>
            <a:r>
              <a:rPr lang="en-US" sz="1150" dirty="0">
                <a:solidFill>
                  <a:srgbClr val="1F2933"/>
                </a:solidFill>
                <a:latin typeface="Calibri" pitchFamily="34" charset="0"/>
                <a:ea typeface="Calibri" pitchFamily="34" charset="-122"/>
                <a:cs typeface="Calibri" pitchFamily="34" charset="-120"/>
              </a:rPr>
              <a:t>year</a:t>
            </a:r>
            <a:endParaRPr lang="en-US" sz="1150" dirty="0"/>
          </a:p>
        </p:txBody>
      </p:sp>
      <p:sp>
        <p:nvSpPr>
          <p:cNvPr id="21" name="Shape 19"/>
          <p:cNvSpPr/>
          <p:nvPr/>
        </p:nvSpPr>
        <p:spPr>
          <a:xfrm>
            <a:off x="3931920" y="3063240"/>
            <a:ext cx="914" cy="685800"/>
          </a:xfrm>
          <a:prstGeom prst="line">
            <a:avLst/>
          </a:prstGeom>
          <a:noFill/>
          <a:ln w="19050">
            <a:solidFill>
              <a:srgbClr val="148C8C"/>
            </a:solidFill>
            <a:prstDash val="solid"/>
          </a:ln>
        </p:spPr>
      </p:sp>
      <p:sp>
        <p:nvSpPr>
          <p:cNvPr id="22" name="Shape 20"/>
          <p:cNvSpPr/>
          <p:nvPr/>
        </p:nvSpPr>
        <p:spPr>
          <a:xfrm>
            <a:off x="3854196" y="3671316"/>
            <a:ext cx="155448" cy="155448"/>
          </a:xfrm>
          <a:prstGeom prst="ellipse">
            <a:avLst/>
          </a:prstGeom>
          <a:solidFill>
            <a:srgbClr val="FFFFFF"/>
          </a:solidFill>
          <a:ln w="19050">
            <a:solidFill>
              <a:srgbClr val="148C8C"/>
            </a:solidFill>
            <a:prstDash val="solid"/>
          </a:ln>
        </p:spPr>
      </p:sp>
      <p:sp>
        <p:nvSpPr>
          <p:cNvPr id="23" name="Text 21"/>
          <p:cNvSpPr txBox="1"/>
          <p:nvPr/>
        </p:nvSpPr>
        <p:spPr>
          <a:xfrm>
            <a:off x="2066544" y="3602736"/>
            <a:ext cx="1737360" cy="292608"/>
          </a:xfrm>
          <a:prstGeom prst="rect">
            <a:avLst/>
          </a:prstGeom>
          <a:noFill/>
          <a:ln/>
        </p:spPr>
        <p:txBody>
          <a:bodyPr wrap="square" lIns="0" tIns="0" rIns="0" bIns="0" rtlCol="0" anchor="ctr"/>
          <a:lstStyle/>
          <a:p>
            <a:pPr algn="r" indent="0" marL="0">
              <a:buNone/>
            </a:pPr>
            <a:r>
              <a:rPr lang="en-US" sz="1150" dirty="0">
                <a:solidFill>
                  <a:srgbClr val="1F2933"/>
                </a:solidFill>
                <a:latin typeface="Calibri" pitchFamily="34" charset="0"/>
                <a:ea typeface="Calibri" pitchFamily="34" charset="-122"/>
                <a:cs typeface="Calibri" pitchFamily="34" charset="-120"/>
              </a:rPr>
              <a:t>day_of_week</a:t>
            </a:r>
            <a:endParaRPr lang="en-US" sz="1150" dirty="0"/>
          </a:p>
        </p:txBody>
      </p:sp>
      <p:sp>
        <p:nvSpPr>
          <p:cNvPr id="24" name="Shape 22"/>
          <p:cNvSpPr/>
          <p:nvPr/>
        </p:nvSpPr>
        <p:spPr>
          <a:xfrm>
            <a:off x="5989320" y="1874520"/>
            <a:ext cx="914" cy="457200"/>
          </a:xfrm>
          <a:prstGeom prst="line">
            <a:avLst/>
          </a:prstGeom>
          <a:noFill/>
          <a:ln w="19050">
            <a:solidFill>
              <a:srgbClr val="148C8C"/>
            </a:solidFill>
            <a:prstDash val="solid"/>
          </a:ln>
        </p:spPr>
      </p:sp>
      <p:sp>
        <p:nvSpPr>
          <p:cNvPr id="25" name="Shape 23"/>
          <p:cNvSpPr/>
          <p:nvPr/>
        </p:nvSpPr>
        <p:spPr>
          <a:xfrm>
            <a:off x="5911596" y="1796796"/>
            <a:ext cx="155448" cy="155448"/>
          </a:xfrm>
          <a:prstGeom prst="ellipse">
            <a:avLst/>
          </a:prstGeom>
          <a:solidFill>
            <a:srgbClr val="FFFFFF"/>
          </a:solidFill>
          <a:ln w="19050">
            <a:solidFill>
              <a:srgbClr val="148C8C"/>
            </a:solidFill>
            <a:prstDash val="solid"/>
          </a:ln>
        </p:spPr>
      </p:sp>
      <p:sp>
        <p:nvSpPr>
          <p:cNvPr id="26" name="Text 24"/>
          <p:cNvSpPr txBox="1"/>
          <p:nvPr/>
        </p:nvSpPr>
        <p:spPr>
          <a:xfrm>
            <a:off x="4123944" y="1728216"/>
            <a:ext cx="1737360" cy="292608"/>
          </a:xfrm>
          <a:prstGeom prst="rect">
            <a:avLst/>
          </a:prstGeom>
          <a:noFill/>
          <a:ln/>
        </p:spPr>
        <p:txBody>
          <a:bodyPr wrap="square" lIns="0" tIns="0" rIns="0" bIns="0" rtlCol="0" anchor="ctr"/>
          <a:lstStyle/>
          <a:p>
            <a:pPr algn="r" indent="0" marL="0">
              <a:buNone/>
            </a:pPr>
            <a:r>
              <a:rPr lang="en-US" sz="1150" dirty="0">
                <a:solidFill>
                  <a:srgbClr val="1F2933"/>
                </a:solidFill>
                <a:latin typeface="Calibri" pitchFamily="34" charset="0"/>
                <a:ea typeface="Calibri" pitchFamily="34" charset="-122"/>
                <a:cs typeface="Calibri" pitchFamily="34" charset="-120"/>
              </a:rPr>
              <a:t>product</a:t>
            </a:r>
            <a:endParaRPr lang="en-US" sz="1150" dirty="0"/>
          </a:p>
        </p:txBody>
      </p:sp>
      <p:sp>
        <p:nvSpPr>
          <p:cNvPr id="27" name="Shape 25"/>
          <p:cNvSpPr/>
          <p:nvPr/>
        </p:nvSpPr>
        <p:spPr>
          <a:xfrm>
            <a:off x="5989320" y="1600200"/>
            <a:ext cx="914" cy="274320"/>
          </a:xfrm>
          <a:prstGeom prst="line">
            <a:avLst/>
          </a:prstGeom>
          <a:noFill/>
          <a:ln w="19050">
            <a:solidFill>
              <a:srgbClr val="148C8C"/>
            </a:solidFill>
            <a:prstDash val="solid"/>
          </a:ln>
        </p:spPr>
      </p:sp>
      <p:sp>
        <p:nvSpPr>
          <p:cNvPr id="28" name="Shape 26"/>
          <p:cNvSpPr/>
          <p:nvPr/>
        </p:nvSpPr>
        <p:spPr>
          <a:xfrm>
            <a:off x="5911596" y="1522476"/>
            <a:ext cx="155448" cy="155448"/>
          </a:xfrm>
          <a:prstGeom prst="ellipse">
            <a:avLst/>
          </a:prstGeom>
          <a:solidFill>
            <a:srgbClr val="FFFFFF"/>
          </a:solidFill>
          <a:ln w="19050">
            <a:solidFill>
              <a:srgbClr val="148C8C"/>
            </a:solidFill>
            <a:prstDash val="solid"/>
          </a:ln>
        </p:spPr>
      </p:sp>
      <p:sp>
        <p:nvSpPr>
          <p:cNvPr id="29" name="Text 27"/>
          <p:cNvSpPr txBox="1"/>
          <p:nvPr/>
        </p:nvSpPr>
        <p:spPr>
          <a:xfrm>
            <a:off x="6117336" y="1453896"/>
            <a:ext cx="1737360" cy="292608"/>
          </a:xfrm>
          <a:prstGeom prst="rect">
            <a:avLst/>
          </a:prstGeom>
          <a:noFill/>
          <a:ln/>
        </p:spPr>
        <p:txBody>
          <a:bodyPr wrap="square" lIns="0" tIns="0" rIns="0" bIns="0" rtlCol="0" anchor="ctr"/>
          <a:lstStyle/>
          <a:p>
            <a:pPr indent="0" marL="0">
              <a:buNone/>
            </a:pPr>
            <a:r>
              <a:rPr lang="en-US" sz="1150" dirty="0">
                <a:solidFill>
                  <a:srgbClr val="1F2933"/>
                </a:solidFill>
                <a:latin typeface="Calibri" pitchFamily="34" charset="0"/>
                <a:ea typeface="Calibri" pitchFamily="34" charset="-122"/>
                <a:cs typeface="Calibri" pitchFamily="34" charset="-120"/>
              </a:rPr>
              <a:t>vendor</a:t>
            </a:r>
            <a:endParaRPr lang="en-US" sz="1150" dirty="0"/>
          </a:p>
        </p:txBody>
      </p:sp>
      <p:sp>
        <p:nvSpPr>
          <p:cNvPr id="30" name="Shape 28"/>
          <p:cNvSpPr/>
          <p:nvPr/>
        </p:nvSpPr>
        <p:spPr>
          <a:xfrm>
            <a:off x="5989320" y="1874520"/>
            <a:ext cx="731520" cy="914"/>
          </a:xfrm>
          <a:prstGeom prst="line">
            <a:avLst/>
          </a:prstGeom>
          <a:noFill/>
          <a:ln w="19050">
            <a:solidFill>
              <a:srgbClr val="148C8C"/>
            </a:solidFill>
            <a:prstDash val="solid"/>
          </a:ln>
        </p:spPr>
      </p:sp>
      <p:sp>
        <p:nvSpPr>
          <p:cNvPr id="31" name="Shape 29"/>
          <p:cNvSpPr/>
          <p:nvPr/>
        </p:nvSpPr>
        <p:spPr>
          <a:xfrm>
            <a:off x="6643116" y="1796796"/>
            <a:ext cx="155448" cy="155448"/>
          </a:xfrm>
          <a:prstGeom prst="ellipse">
            <a:avLst/>
          </a:prstGeom>
          <a:solidFill>
            <a:srgbClr val="FFFFFF"/>
          </a:solidFill>
          <a:ln w="19050">
            <a:solidFill>
              <a:srgbClr val="148C8C"/>
            </a:solidFill>
            <a:prstDash val="solid"/>
          </a:ln>
        </p:spPr>
      </p:sp>
      <p:sp>
        <p:nvSpPr>
          <p:cNvPr id="32" name="Text 30"/>
          <p:cNvSpPr txBox="1"/>
          <p:nvPr/>
        </p:nvSpPr>
        <p:spPr>
          <a:xfrm>
            <a:off x="6848856" y="1728216"/>
            <a:ext cx="1737360" cy="292608"/>
          </a:xfrm>
          <a:prstGeom prst="rect">
            <a:avLst/>
          </a:prstGeom>
          <a:noFill/>
          <a:ln/>
        </p:spPr>
        <p:txBody>
          <a:bodyPr wrap="square" lIns="0" tIns="0" rIns="0" bIns="0" rtlCol="0" anchor="ctr"/>
          <a:lstStyle/>
          <a:p>
            <a:pPr indent="0" marL="0">
              <a:buNone/>
            </a:pPr>
            <a:r>
              <a:rPr lang="en-US" sz="1150" dirty="0">
                <a:solidFill>
                  <a:srgbClr val="1F2933"/>
                </a:solidFill>
                <a:latin typeface="Calibri" pitchFamily="34" charset="0"/>
                <a:ea typeface="Calibri" pitchFamily="34" charset="-122"/>
                <a:cs typeface="Calibri" pitchFamily="34" charset="-120"/>
              </a:rPr>
              <a:t>product_type</a:t>
            </a:r>
            <a:endParaRPr lang="en-US" sz="1150" dirty="0"/>
          </a:p>
        </p:txBody>
      </p:sp>
      <p:sp>
        <p:nvSpPr>
          <p:cNvPr id="33" name="Shape 31"/>
          <p:cNvSpPr/>
          <p:nvPr/>
        </p:nvSpPr>
        <p:spPr>
          <a:xfrm>
            <a:off x="7406640" y="3063240"/>
            <a:ext cx="731520" cy="914"/>
          </a:xfrm>
          <a:prstGeom prst="line">
            <a:avLst/>
          </a:prstGeom>
          <a:noFill/>
          <a:ln w="19050">
            <a:solidFill>
              <a:srgbClr val="148C8C"/>
            </a:solidFill>
            <a:prstDash val="solid"/>
          </a:ln>
        </p:spPr>
      </p:sp>
      <p:sp>
        <p:nvSpPr>
          <p:cNvPr id="34" name="Shape 32"/>
          <p:cNvSpPr/>
          <p:nvPr/>
        </p:nvSpPr>
        <p:spPr>
          <a:xfrm>
            <a:off x="8060436" y="2985516"/>
            <a:ext cx="155448" cy="155448"/>
          </a:xfrm>
          <a:prstGeom prst="ellipse">
            <a:avLst/>
          </a:prstGeom>
          <a:solidFill>
            <a:srgbClr val="FFFFFF"/>
          </a:solidFill>
          <a:ln w="19050">
            <a:solidFill>
              <a:srgbClr val="148C8C"/>
            </a:solidFill>
            <a:prstDash val="solid"/>
          </a:ln>
        </p:spPr>
      </p:sp>
      <p:sp>
        <p:nvSpPr>
          <p:cNvPr id="35" name="Text 33"/>
          <p:cNvSpPr txBox="1"/>
          <p:nvPr/>
        </p:nvSpPr>
        <p:spPr>
          <a:xfrm>
            <a:off x="7269480" y="2651760"/>
            <a:ext cx="1737360" cy="274320"/>
          </a:xfrm>
          <a:prstGeom prst="rect">
            <a:avLst/>
          </a:prstGeom>
          <a:noFill/>
          <a:ln/>
        </p:spPr>
        <p:txBody>
          <a:bodyPr wrap="square" lIns="0" tIns="0" rIns="0" bIns="0" rtlCol="0" anchor="b"/>
          <a:lstStyle/>
          <a:p>
            <a:pPr algn="ctr" indent="0" marL="0">
              <a:buNone/>
            </a:pPr>
            <a:r>
              <a:rPr lang="en-US" sz="1150" dirty="0">
                <a:solidFill>
                  <a:srgbClr val="1F2933"/>
                </a:solidFill>
                <a:latin typeface="Calibri" pitchFamily="34" charset="0"/>
                <a:ea typeface="Calibri" pitchFamily="34" charset="-122"/>
                <a:cs typeface="Calibri" pitchFamily="34" charset="-120"/>
              </a:rPr>
              <a:t>cwe</a:t>
            </a:r>
            <a:endParaRPr lang="en-US" sz="1150" dirty="0"/>
          </a:p>
        </p:txBody>
      </p:sp>
      <p:sp>
        <p:nvSpPr>
          <p:cNvPr id="36" name="Shape 34"/>
          <p:cNvSpPr/>
          <p:nvPr/>
        </p:nvSpPr>
        <p:spPr>
          <a:xfrm>
            <a:off x="8138160" y="3063240"/>
            <a:ext cx="1097280" cy="914"/>
          </a:xfrm>
          <a:prstGeom prst="line">
            <a:avLst/>
          </a:prstGeom>
          <a:noFill/>
          <a:ln w="19050">
            <a:solidFill>
              <a:srgbClr val="148C8C"/>
            </a:solidFill>
            <a:prstDash val="solid"/>
          </a:ln>
        </p:spPr>
      </p:sp>
      <p:sp>
        <p:nvSpPr>
          <p:cNvPr id="37" name="Shape 35"/>
          <p:cNvSpPr/>
          <p:nvPr/>
        </p:nvSpPr>
        <p:spPr>
          <a:xfrm>
            <a:off x="9157716" y="2985516"/>
            <a:ext cx="155448" cy="155448"/>
          </a:xfrm>
          <a:prstGeom prst="ellipse">
            <a:avLst/>
          </a:prstGeom>
          <a:solidFill>
            <a:srgbClr val="FFFFFF"/>
          </a:solidFill>
          <a:ln w="19050">
            <a:solidFill>
              <a:srgbClr val="148C8C"/>
            </a:solidFill>
            <a:prstDash val="solid"/>
          </a:ln>
        </p:spPr>
      </p:sp>
      <p:sp>
        <p:nvSpPr>
          <p:cNvPr id="38" name="Text 36"/>
          <p:cNvSpPr txBox="1"/>
          <p:nvPr/>
        </p:nvSpPr>
        <p:spPr>
          <a:xfrm>
            <a:off x="9363456" y="2916936"/>
            <a:ext cx="1737360" cy="292608"/>
          </a:xfrm>
          <a:prstGeom prst="rect">
            <a:avLst/>
          </a:prstGeom>
          <a:noFill/>
          <a:ln/>
        </p:spPr>
        <p:txBody>
          <a:bodyPr wrap="square" lIns="0" tIns="0" rIns="0" bIns="0" rtlCol="0" anchor="ctr"/>
          <a:lstStyle/>
          <a:p>
            <a:pPr indent="0" marL="0">
              <a:buNone/>
            </a:pPr>
            <a:r>
              <a:rPr lang="en-US" sz="1150" dirty="0">
                <a:solidFill>
                  <a:srgbClr val="1F2933"/>
                </a:solidFill>
                <a:latin typeface="Calibri" pitchFamily="34" charset="0"/>
                <a:ea typeface="Calibri" pitchFamily="34" charset="-122"/>
                <a:cs typeface="Calibri" pitchFamily="34" charset="-120"/>
              </a:rPr>
              <a:t>pillar</a:t>
            </a:r>
            <a:endParaRPr lang="en-US" sz="1150" dirty="0"/>
          </a:p>
        </p:txBody>
      </p:sp>
      <p:sp>
        <p:nvSpPr>
          <p:cNvPr id="39" name="Shape 37"/>
          <p:cNvSpPr/>
          <p:nvPr/>
        </p:nvSpPr>
        <p:spPr>
          <a:xfrm>
            <a:off x="8138160" y="3063240"/>
            <a:ext cx="914" cy="594360"/>
          </a:xfrm>
          <a:prstGeom prst="line">
            <a:avLst/>
          </a:prstGeom>
          <a:noFill/>
          <a:ln w="19050">
            <a:solidFill>
              <a:srgbClr val="148C8C"/>
            </a:solidFill>
            <a:prstDash val="solid"/>
          </a:ln>
        </p:spPr>
      </p:sp>
      <p:sp>
        <p:nvSpPr>
          <p:cNvPr id="40" name="Shape 38"/>
          <p:cNvSpPr/>
          <p:nvPr/>
        </p:nvSpPr>
        <p:spPr>
          <a:xfrm>
            <a:off x="8060436" y="3579876"/>
            <a:ext cx="155448" cy="155448"/>
          </a:xfrm>
          <a:prstGeom prst="ellipse">
            <a:avLst/>
          </a:prstGeom>
          <a:solidFill>
            <a:srgbClr val="FFFFFF"/>
          </a:solidFill>
          <a:ln w="19050">
            <a:solidFill>
              <a:srgbClr val="148C8C"/>
            </a:solidFill>
            <a:prstDash val="solid"/>
          </a:ln>
        </p:spPr>
      </p:sp>
      <p:sp>
        <p:nvSpPr>
          <p:cNvPr id="41" name="Text 39"/>
          <p:cNvSpPr txBox="1"/>
          <p:nvPr/>
        </p:nvSpPr>
        <p:spPr>
          <a:xfrm>
            <a:off x="8266176" y="3511296"/>
            <a:ext cx="1737360" cy="292608"/>
          </a:xfrm>
          <a:prstGeom prst="rect">
            <a:avLst/>
          </a:prstGeom>
          <a:noFill/>
          <a:ln/>
        </p:spPr>
        <p:txBody>
          <a:bodyPr wrap="square" lIns="0" tIns="0" rIns="0" bIns="0" rtlCol="0" anchor="ctr"/>
          <a:lstStyle/>
          <a:p>
            <a:pPr indent="0" marL="0">
              <a:buNone/>
            </a:pPr>
            <a:r>
              <a:rPr lang="en-US" sz="1150" dirty="0">
                <a:solidFill>
                  <a:srgbClr val="1F2933"/>
                </a:solidFill>
                <a:latin typeface="Calibri" pitchFamily="34" charset="0"/>
                <a:ea typeface="Calibri" pitchFamily="34" charset="-122"/>
                <a:cs typeface="Calibri" pitchFamily="34" charset="-120"/>
              </a:rPr>
              <a:t>abstraction</a:t>
            </a:r>
            <a:endParaRPr lang="en-US" sz="1150" dirty="0"/>
          </a:p>
        </p:txBody>
      </p:sp>
      <p:sp>
        <p:nvSpPr>
          <p:cNvPr id="42" name="Shape 40"/>
          <p:cNvSpPr/>
          <p:nvPr/>
        </p:nvSpPr>
        <p:spPr>
          <a:xfrm>
            <a:off x="5303520" y="4617720"/>
            <a:ext cx="914" cy="502920"/>
          </a:xfrm>
          <a:prstGeom prst="line">
            <a:avLst/>
          </a:prstGeom>
          <a:noFill/>
          <a:ln w="19050">
            <a:solidFill>
              <a:srgbClr val="1B2A41"/>
            </a:solidFill>
            <a:prstDash val="solid"/>
          </a:ln>
        </p:spPr>
      </p:sp>
      <p:sp>
        <p:nvSpPr>
          <p:cNvPr id="43" name="Shape 41"/>
          <p:cNvSpPr/>
          <p:nvPr/>
        </p:nvSpPr>
        <p:spPr>
          <a:xfrm>
            <a:off x="5225796" y="5042916"/>
            <a:ext cx="155448" cy="155448"/>
          </a:xfrm>
          <a:prstGeom prst="ellipse">
            <a:avLst/>
          </a:prstGeom>
          <a:solidFill>
            <a:srgbClr val="FFFFFF"/>
          </a:solidFill>
          <a:ln w="19050">
            <a:solidFill>
              <a:srgbClr val="1B2A41"/>
            </a:solidFill>
            <a:prstDash val="solid"/>
          </a:ln>
        </p:spPr>
      </p:sp>
      <p:sp>
        <p:nvSpPr>
          <p:cNvPr id="44" name="Text 42"/>
          <p:cNvSpPr txBox="1"/>
          <p:nvPr/>
        </p:nvSpPr>
        <p:spPr>
          <a:xfrm>
            <a:off x="3438144" y="4974336"/>
            <a:ext cx="1737360" cy="292608"/>
          </a:xfrm>
          <a:prstGeom prst="rect">
            <a:avLst/>
          </a:prstGeom>
          <a:noFill/>
          <a:ln/>
        </p:spPr>
        <p:txBody>
          <a:bodyPr wrap="square" lIns="0" tIns="0" rIns="0" bIns="0" rtlCol="0" anchor="ctr"/>
          <a:lstStyle/>
          <a:p>
            <a:pPr algn="r" indent="0" marL="0">
              <a:buNone/>
            </a:pPr>
            <a:r>
              <a:rPr lang="en-US" sz="1150" dirty="0">
                <a:solidFill>
                  <a:srgbClr val="1F2933"/>
                </a:solidFill>
                <a:latin typeface="Calibri" pitchFamily="34" charset="0"/>
                <a:ea typeface="Calibri" pitchFamily="34" charset="-122"/>
                <a:cs typeface="Calibri" pitchFamily="34" charset="-120"/>
              </a:rPr>
              <a:t>severity</a:t>
            </a:r>
            <a:endParaRPr lang="en-US" sz="1150" dirty="0"/>
          </a:p>
        </p:txBody>
      </p:sp>
      <p:sp>
        <p:nvSpPr>
          <p:cNvPr id="45" name="Shape 43"/>
          <p:cNvSpPr/>
          <p:nvPr/>
        </p:nvSpPr>
        <p:spPr>
          <a:xfrm flipH="1">
            <a:off x="4846320" y="5120640"/>
            <a:ext cx="457200" cy="502920"/>
          </a:xfrm>
          <a:prstGeom prst="line">
            <a:avLst/>
          </a:prstGeom>
          <a:noFill/>
          <a:ln w="19050">
            <a:solidFill>
              <a:srgbClr val="1B2A41"/>
            </a:solidFill>
            <a:prstDash val="solid"/>
          </a:ln>
        </p:spPr>
      </p:sp>
      <p:sp>
        <p:nvSpPr>
          <p:cNvPr id="46" name="Shape 44"/>
          <p:cNvSpPr/>
          <p:nvPr/>
        </p:nvSpPr>
        <p:spPr>
          <a:xfrm>
            <a:off x="4768596" y="5545836"/>
            <a:ext cx="155448" cy="155448"/>
          </a:xfrm>
          <a:prstGeom prst="ellipse">
            <a:avLst/>
          </a:prstGeom>
          <a:solidFill>
            <a:srgbClr val="FFFFFF"/>
          </a:solidFill>
          <a:ln w="19050">
            <a:solidFill>
              <a:srgbClr val="1B2A41"/>
            </a:solidFill>
            <a:prstDash val="solid"/>
          </a:ln>
        </p:spPr>
      </p:sp>
      <p:sp>
        <p:nvSpPr>
          <p:cNvPr id="47" name="Text 45"/>
          <p:cNvSpPr txBox="1"/>
          <p:nvPr/>
        </p:nvSpPr>
        <p:spPr>
          <a:xfrm>
            <a:off x="2980944" y="5477256"/>
            <a:ext cx="1737360" cy="292608"/>
          </a:xfrm>
          <a:prstGeom prst="rect">
            <a:avLst/>
          </a:prstGeom>
          <a:noFill/>
          <a:ln/>
        </p:spPr>
        <p:txBody>
          <a:bodyPr wrap="square" lIns="0" tIns="0" rIns="0" bIns="0" rtlCol="0" anchor="ctr"/>
          <a:lstStyle/>
          <a:p>
            <a:pPr algn="r" indent="0" marL="0">
              <a:buNone/>
            </a:pPr>
            <a:r>
              <a:rPr lang="en-US" sz="1150" dirty="0">
                <a:solidFill>
                  <a:srgbClr val="1F2933"/>
                </a:solidFill>
                <a:latin typeface="Calibri" pitchFamily="34" charset="0"/>
                <a:ea typeface="Calibri" pitchFamily="34" charset="-122"/>
                <a:cs typeface="Calibri" pitchFamily="34" charset="-120"/>
              </a:rPr>
              <a:t>attack_vector</a:t>
            </a:r>
            <a:endParaRPr lang="en-US" sz="1150" dirty="0"/>
          </a:p>
        </p:txBody>
      </p:sp>
      <p:sp>
        <p:nvSpPr>
          <p:cNvPr id="48" name="Shape 46"/>
          <p:cNvSpPr/>
          <p:nvPr/>
        </p:nvSpPr>
        <p:spPr>
          <a:xfrm>
            <a:off x="5303520" y="5120640"/>
            <a:ext cx="457200" cy="502920"/>
          </a:xfrm>
          <a:prstGeom prst="line">
            <a:avLst/>
          </a:prstGeom>
          <a:noFill/>
          <a:ln w="19050">
            <a:solidFill>
              <a:srgbClr val="1B2A41"/>
            </a:solidFill>
            <a:prstDash val="solid"/>
          </a:ln>
        </p:spPr>
      </p:sp>
      <p:sp>
        <p:nvSpPr>
          <p:cNvPr id="49" name="Shape 47"/>
          <p:cNvSpPr/>
          <p:nvPr/>
        </p:nvSpPr>
        <p:spPr>
          <a:xfrm>
            <a:off x="5682996" y="5545836"/>
            <a:ext cx="155448" cy="155448"/>
          </a:xfrm>
          <a:prstGeom prst="ellipse">
            <a:avLst/>
          </a:prstGeom>
          <a:solidFill>
            <a:srgbClr val="FFFFFF"/>
          </a:solidFill>
          <a:ln w="19050">
            <a:solidFill>
              <a:srgbClr val="1B2A41"/>
            </a:solidFill>
            <a:prstDash val="solid"/>
          </a:ln>
        </p:spPr>
      </p:sp>
      <p:sp>
        <p:nvSpPr>
          <p:cNvPr id="50" name="Text 48"/>
          <p:cNvSpPr txBox="1"/>
          <p:nvPr/>
        </p:nvSpPr>
        <p:spPr>
          <a:xfrm>
            <a:off x="4892040" y="5742432"/>
            <a:ext cx="1737360" cy="274320"/>
          </a:xfrm>
          <a:prstGeom prst="rect">
            <a:avLst/>
          </a:prstGeom>
          <a:noFill/>
          <a:ln/>
        </p:spPr>
        <p:txBody>
          <a:bodyPr wrap="square" lIns="0" tIns="0" rIns="0" bIns="0" rtlCol="0" anchor="t"/>
          <a:lstStyle/>
          <a:p>
            <a:pPr algn="ctr" indent="0" marL="0">
              <a:buNone/>
            </a:pPr>
            <a:r>
              <a:rPr lang="en-US" sz="1150" dirty="0">
                <a:solidFill>
                  <a:srgbClr val="1F2933"/>
                </a:solidFill>
                <a:latin typeface="Calibri" pitchFamily="34" charset="0"/>
                <a:ea typeface="Calibri" pitchFamily="34" charset="-122"/>
                <a:cs typeface="Calibri" pitchFamily="34" charset="-120"/>
              </a:rPr>
              <a:t>attack_complexity</a:t>
            </a:r>
            <a:endParaRPr lang="en-US" sz="1150" dirty="0"/>
          </a:p>
        </p:txBody>
      </p:sp>
      <p:sp>
        <p:nvSpPr>
          <p:cNvPr id="51" name="Shape 49"/>
          <p:cNvSpPr/>
          <p:nvPr/>
        </p:nvSpPr>
        <p:spPr>
          <a:xfrm>
            <a:off x="6766560" y="4617720"/>
            <a:ext cx="914" cy="502920"/>
          </a:xfrm>
          <a:prstGeom prst="line">
            <a:avLst/>
          </a:prstGeom>
          <a:noFill/>
          <a:ln w="19050">
            <a:solidFill>
              <a:srgbClr val="1B2A41"/>
            </a:solidFill>
            <a:prstDash val="solid"/>
          </a:ln>
        </p:spPr>
      </p:sp>
      <p:sp>
        <p:nvSpPr>
          <p:cNvPr id="52" name="Shape 50"/>
          <p:cNvSpPr/>
          <p:nvPr/>
        </p:nvSpPr>
        <p:spPr>
          <a:xfrm>
            <a:off x="6688836" y="5042916"/>
            <a:ext cx="155448" cy="155448"/>
          </a:xfrm>
          <a:prstGeom prst="ellipse">
            <a:avLst/>
          </a:prstGeom>
          <a:solidFill>
            <a:srgbClr val="FFFFFF"/>
          </a:solidFill>
          <a:ln w="19050">
            <a:solidFill>
              <a:srgbClr val="1B2A41"/>
            </a:solidFill>
            <a:prstDash val="solid"/>
          </a:ln>
        </p:spPr>
      </p:sp>
      <p:sp>
        <p:nvSpPr>
          <p:cNvPr id="53" name="Text 51"/>
          <p:cNvSpPr txBox="1"/>
          <p:nvPr/>
        </p:nvSpPr>
        <p:spPr>
          <a:xfrm>
            <a:off x="6894576" y="4974336"/>
            <a:ext cx="1737360" cy="292608"/>
          </a:xfrm>
          <a:prstGeom prst="rect">
            <a:avLst/>
          </a:prstGeom>
          <a:noFill/>
          <a:ln/>
        </p:spPr>
        <p:txBody>
          <a:bodyPr wrap="square" lIns="0" tIns="0" rIns="0" bIns="0" rtlCol="0" anchor="ctr"/>
          <a:lstStyle/>
          <a:p>
            <a:pPr indent="0" marL="0">
              <a:buNone/>
            </a:pPr>
            <a:r>
              <a:rPr lang="en-US" sz="1150" dirty="0">
                <a:solidFill>
                  <a:srgbClr val="1F2933"/>
                </a:solidFill>
                <a:latin typeface="Calibri" pitchFamily="34" charset="0"/>
                <a:ea typeface="Calibri" pitchFamily="34" charset="-122"/>
                <a:cs typeface="Calibri" pitchFamily="34" charset="-120"/>
              </a:rPr>
              <a:t>exploit_type</a:t>
            </a:r>
            <a:endParaRPr lang="en-US" sz="1150" dirty="0"/>
          </a:p>
        </p:txBody>
      </p:sp>
      <p:sp>
        <p:nvSpPr>
          <p:cNvPr id="54" name="Shape 52"/>
          <p:cNvSpPr/>
          <p:nvPr/>
        </p:nvSpPr>
        <p:spPr>
          <a:xfrm>
            <a:off x="6766560" y="5120640"/>
            <a:ext cx="822960" cy="502920"/>
          </a:xfrm>
          <a:prstGeom prst="line">
            <a:avLst/>
          </a:prstGeom>
          <a:noFill/>
          <a:ln w="19050">
            <a:solidFill>
              <a:srgbClr val="1B2A41"/>
            </a:solidFill>
            <a:prstDash val="solid"/>
          </a:ln>
        </p:spPr>
      </p:sp>
      <p:sp>
        <p:nvSpPr>
          <p:cNvPr id="55" name="Shape 53"/>
          <p:cNvSpPr/>
          <p:nvPr/>
        </p:nvSpPr>
        <p:spPr>
          <a:xfrm>
            <a:off x="7511796" y="5545836"/>
            <a:ext cx="155448" cy="155448"/>
          </a:xfrm>
          <a:prstGeom prst="ellipse">
            <a:avLst/>
          </a:prstGeom>
          <a:solidFill>
            <a:srgbClr val="FFFFFF"/>
          </a:solidFill>
          <a:ln w="19050">
            <a:solidFill>
              <a:srgbClr val="1B2A41"/>
            </a:solidFill>
            <a:prstDash val="solid"/>
          </a:ln>
        </p:spPr>
      </p:sp>
      <p:sp>
        <p:nvSpPr>
          <p:cNvPr id="56" name="Text 54"/>
          <p:cNvSpPr txBox="1"/>
          <p:nvPr/>
        </p:nvSpPr>
        <p:spPr>
          <a:xfrm>
            <a:off x="7717536" y="5477256"/>
            <a:ext cx="1737360" cy="292608"/>
          </a:xfrm>
          <a:prstGeom prst="rect">
            <a:avLst/>
          </a:prstGeom>
          <a:noFill/>
          <a:ln/>
        </p:spPr>
        <p:txBody>
          <a:bodyPr wrap="square" lIns="0" tIns="0" rIns="0" bIns="0" rtlCol="0" anchor="ctr"/>
          <a:lstStyle/>
          <a:p>
            <a:pPr indent="0" marL="0">
              <a:buNone/>
            </a:pPr>
            <a:r>
              <a:rPr lang="en-US" sz="1150" dirty="0">
                <a:solidFill>
                  <a:srgbClr val="1F2933"/>
                </a:solidFill>
                <a:latin typeface="Calibri" pitchFamily="34" charset="0"/>
                <a:ea typeface="Calibri" pitchFamily="34" charset="-122"/>
                <a:cs typeface="Calibri" pitchFamily="34" charset="-120"/>
              </a:rPr>
              <a:t>primary_class</a:t>
            </a:r>
            <a:endParaRPr lang="en-US" sz="1150" dirty="0"/>
          </a:p>
        </p:txBody>
      </p:sp>
      <p:sp>
        <p:nvSpPr>
          <p:cNvPr id="57" name="Shape 55"/>
          <p:cNvSpPr/>
          <p:nvPr/>
        </p:nvSpPr>
        <p:spPr>
          <a:xfrm flipH="1">
            <a:off x="7406640" y="2011680"/>
            <a:ext cx="731520" cy="548640"/>
          </a:xfrm>
          <a:prstGeom prst="line">
            <a:avLst/>
          </a:prstGeom>
          <a:noFill/>
          <a:ln w="19050">
            <a:solidFill>
              <a:srgbClr val="1B2A41"/>
            </a:solidFill>
            <a:prstDash val="solid"/>
          </a:ln>
        </p:spPr>
      </p:sp>
      <p:sp>
        <p:nvSpPr>
          <p:cNvPr id="58" name="Text 56"/>
          <p:cNvSpPr txBox="1"/>
          <p:nvPr/>
        </p:nvSpPr>
        <p:spPr>
          <a:xfrm>
            <a:off x="8183880" y="1847088"/>
            <a:ext cx="2011680" cy="274320"/>
          </a:xfrm>
          <a:prstGeom prst="rect">
            <a:avLst/>
          </a:prstGeom>
          <a:noFill/>
          <a:ln/>
        </p:spPr>
        <p:txBody>
          <a:bodyPr wrap="square" lIns="0" tIns="0" rIns="0" bIns="0" rtlCol="0" anchor="ctr"/>
          <a:lstStyle/>
          <a:p>
            <a:pPr indent="0" marL="0">
              <a:buNone/>
            </a:pPr>
            <a:r>
              <a:rPr lang="en-US" sz="1150" i="1" dirty="0">
                <a:solidFill>
                  <a:srgbClr val="5B6B7C"/>
                </a:solidFill>
                <a:latin typeface="Calibri" pitchFamily="34" charset="0"/>
                <a:ea typeface="Calibri" pitchFamily="34" charset="-122"/>
                <a:cs typeface="Calibri" pitchFamily="34" charset="-120"/>
              </a:rPr>
              <a:t>cve_id (degenerate)</a:t>
            </a:r>
            <a:endParaRPr lang="en-US" sz="11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320040"/>
            <a:ext cx="11247120" cy="640080"/>
          </a:xfrm>
          <a:prstGeom prst="rect">
            <a:avLst/>
          </a:prstGeom>
          <a:noFill/>
          <a:ln/>
        </p:spPr>
        <p:txBody>
          <a:bodyPr wrap="square" lIns="0" tIns="0" rIns="0" bIns="0" rtlCol="0" anchor="ctr"/>
          <a:lstStyle/>
          <a:p>
            <a:pPr indent="0" marL="0">
              <a:buNone/>
            </a:pPr>
            <a:r>
              <a:rPr lang="en-US" sz="2600" b="1" dirty="0">
                <a:solidFill>
                  <a:srgbClr val="1B2A41"/>
                </a:solidFill>
                <a:latin typeface="Arial" pitchFamily="34" charset="0"/>
                <a:ea typeface="Arial" pitchFamily="34" charset="-122"/>
                <a:cs typeface="Arial" pitchFamily="34" charset="-120"/>
              </a:rPr>
              <a:t>DFM 2: confirmed exploitation (KEV)</a:t>
            </a:r>
            <a:endParaRPr lang="en-US" sz="2600" dirty="0"/>
          </a:p>
        </p:txBody>
      </p:sp>
      <p:sp>
        <p:nvSpPr>
          <p:cNvPr id="3" name="Text 1"/>
          <p:cNvSpPr txBox="1"/>
          <p:nvPr/>
        </p:nvSpPr>
        <p:spPr>
          <a:xfrm>
            <a:off x="457200" y="987552"/>
            <a:ext cx="11247120" cy="411480"/>
          </a:xfrm>
          <a:prstGeom prst="rect">
            <a:avLst/>
          </a:prstGeom>
          <a:noFill/>
          <a:ln/>
        </p:spPr>
        <p:txBody>
          <a:bodyPr wrap="square" lIns="0" tIns="0" rIns="0" bIns="0" rtlCol="0" anchor="t"/>
          <a:lstStyle/>
          <a:p>
            <a:pPr indent="0" marL="0">
              <a:buNone/>
            </a:pPr>
            <a:r>
              <a:rPr lang="en-US" sz="1500" i="1" dirty="0">
                <a:solidFill>
                  <a:srgbClr val="5B6B7C"/>
                </a:solidFill>
                <a:latin typeface="Calibri" pitchFamily="34" charset="0"/>
                <a:ea typeface="Calibri" pitchFamily="34" charset="-122"/>
                <a:cs typeface="Calibri" pitchFamily="34" charset="-120"/>
              </a:rPr>
              <a:t>Grain: one CVE added to the CISA KEV catalog   ·   the date dimension plays three roles</a:t>
            </a:r>
            <a:endParaRPr lang="en-US" sz="1500" dirty="0"/>
          </a:p>
        </p:txBody>
      </p:sp>
      <p:sp>
        <p:nvSpPr>
          <p:cNvPr id="4" name="Text 2"/>
          <p:cNvSpPr txBox="1"/>
          <p:nvPr/>
        </p:nvSpPr>
        <p:spPr>
          <a:xfrm>
            <a:off x="6675120" y="6446520"/>
            <a:ext cx="5056632" cy="274320"/>
          </a:xfrm>
          <a:prstGeom prst="rect">
            <a:avLst/>
          </a:prstGeom>
          <a:noFill/>
          <a:ln/>
        </p:spPr>
        <p:txBody>
          <a:bodyPr wrap="square" lIns="0" tIns="0" rIns="0" bIns="0" rtlCol="0" anchor="ctr"/>
          <a:lstStyle/>
          <a:p>
            <a:pPr algn="r" indent="0" marL="0">
              <a:buNone/>
            </a:pPr>
            <a:r>
              <a:rPr lang="en-US" sz="900" dirty="0">
                <a:solidFill>
                  <a:srgbClr val="5B6B7C"/>
                </a:solidFill>
                <a:latin typeface="Calibri" pitchFamily="34" charset="0"/>
                <a:ea typeface="Calibri" pitchFamily="34" charset="-122"/>
                <a:cs typeface="Calibri" pitchFamily="34" charset="-120"/>
              </a:rPr>
              <a:t>CVE Data Warehouse · Alessia Angele · 9</a:t>
            </a:r>
            <a:endParaRPr lang="en-US" sz="900" dirty="0"/>
          </a:p>
        </p:txBody>
      </p:sp>
      <p:sp>
        <p:nvSpPr>
          <p:cNvPr id="5" name="Shape 3"/>
          <p:cNvSpPr/>
          <p:nvPr/>
        </p:nvSpPr>
        <p:spPr>
          <a:xfrm>
            <a:off x="4572000" y="2331720"/>
            <a:ext cx="2834640" cy="1920240"/>
          </a:xfrm>
          <a:prstGeom prst="rect">
            <a:avLst/>
          </a:prstGeom>
          <a:solidFill>
            <a:srgbClr val="FFFFFF"/>
          </a:solidFill>
          <a:ln w="25400">
            <a:solidFill>
              <a:srgbClr val="C8102E"/>
            </a:solidFill>
            <a:prstDash val="solid"/>
          </a:ln>
        </p:spPr>
      </p:sp>
      <p:sp>
        <p:nvSpPr>
          <p:cNvPr id="6" name="Shape 4"/>
          <p:cNvSpPr/>
          <p:nvPr/>
        </p:nvSpPr>
        <p:spPr>
          <a:xfrm>
            <a:off x="4572000" y="2331720"/>
            <a:ext cx="2834640" cy="411480"/>
          </a:xfrm>
          <a:prstGeom prst="rect">
            <a:avLst/>
          </a:prstGeom>
          <a:solidFill>
            <a:srgbClr val="C8102E"/>
          </a:solidFill>
          <a:ln w="25400">
            <a:solidFill>
              <a:srgbClr val="C8102E"/>
            </a:solidFill>
            <a:prstDash val="solid"/>
          </a:ln>
        </p:spPr>
      </p:sp>
      <p:sp>
        <p:nvSpPr>
          <p:cNvPr id="7" name="Text 5"/>
          <p:cNvSpPr txBox="1"/>
          <p:nvPr/>
        </p:nvSpPr>
        <p:spPr>
          <a:xfrm>
            <a:off x="4572000" y="2331720"/>
            <a:ext cx="2834640" cy="411480"/>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KEV ADDITION</a:t>
            </a:r>
            <a:endParaRPr lang="en-US" sz="1300" dirty="0"/>
          </a:p>
        </p:txBody>
      </p:sp>
      <p:sp>
        <p:nvSpPr>
          <p:cNvPr id="8" name="Text 6"/>
          <p:cNvSpPr txBox="1"/>
          <p:nvPr/>
        </p:nvSpPr>
        <p:spPr>
          <a:xfrm>
            <a:off x="4754880" y="2834640"/>
            <a:ext cx="2468880" cy="1325880"/>
          </a:xfrm>
          <a:prstGeom prst="rect">
            <a:avLst/>
          </a:prstGeom>
          <a:noFill/>
          <a:ln/>
        </p:spPr>
        <p:txBody>
          <a:bodyPr wrap="square" lIns="0" tIns="0" rIns="0" bIns="0" rtlCol="0" anchor="t"/>
          <a:lstStyle/>
          <a:p>
            <a:pPr indent="0" marL="0">
              <a:buNone/>
            </a:pPr>
            <a:r>
              <a:rPr lang="en-US" sz="1200" dirty="0">
                <a:solidFill>
                  <a:srgbClr val="1F2933"/>
                </a:solidFill>
                <a:latin typeface="Calibri" pitchFamily="34" charset="0"/>
                <a:ea typeface="Calibri" pitchFamily="34" charset="-122"/>
                <a:cs typeface="Calibri" pitchFamily="34" charset="-120"/>
              </a:rPr>
              <a:t>days_to_kev (AVG, MEDIAN)</a:t>
            </a:r>
            <a:endParaRPr lang="en-US" sz="1200" dirty="0"/>
          </a:p>
          <a:p>
            <a:pPr indent="0" marL="0">
              <a:buNone/>
            </a:pPr>
            <a:r>
              <a:rPr lang="en-US" sz="1200" dirty="0">
                <a:solidFill>
                  <a:srgbClr val="1F2933"/>
                </a:solidFill>
                <a:latin typeface="Calibri" pitchFamily="34" charset="0"/>
                <a:ea typeface="Calibri" pitchFamily="34" charset="-122"/>
                <a:cs typeface="Calibri" pitchFamily="34" charset="-120"/>
              </a:rPr>
              <a:t>remediation_days (AVG)</a:t>
            </a:r>
            <a:endParaRPr lang="en-US" sz="1200" dirty="0"/>
          </a:p>
          <a:p>
            <a:pPr indent="0" marL="0">
              <a:buNone/>
            </a:pPr>
            <a:r>
              <a:rPr lang="en-US" sz="1200" dirty="0">
                <a:solidFill>
                  <a:srgbClr val="1F2933"/>
                </a:solidFill>
                <a:latin typeface="Calibri" pitchFamily="34" charset="0"/>
                <a:ea typeface="Calibri" pitchFamily="34" charset="-122"/>
                <a:cs typeface="Calibri" pitchFamily="34" charset="-120"/>
              </a:rPr>
              <a:t>is_ransomware (COUNT IF)</a:t>
            </a:r>
            <a:endParaRPr lang="en-US" sz="1200" dirty="0"/>
          </a:p>
          <a:p>
            <a:pPr indent="0" marL="0">
              <a:buNone/>
            </a:pPr>
            <a:r>
              <a:rPr lang="en-US" sz="1200" dirty="0">
                <a:solidFill>
                  <a:srgbClr val="1F2933"/>
                </a:solidFill>
                <a:latin typeface="Calibri" pitchFamily="34" charset="0"/>
                <a:ea typeface="Calibri" pitchFamily="34" charset="-122"/>
                <a:cs typeface="Calibri" pitchFamily="34" charset="-120"/>
              </a:rPr>
              <a:t>count (COUNT)</a:t>
            </a:r>
            <a:endParaRPr lang="en-US" sz="1200" dirty="0"/>
          </a:p>
        </p:txBody>
      </p:sp>
      <p:sp>
        <p:nvSpPr>
          <p:cNvPr id="9" name="Shape 7"/>
          <p:cNvSpPr/>
          <p:nvPr/>
        </p:nvSpPr>
        <p:spPr>
          <a:xfrm flipH="1">
            <a:off x="3291840" y="2651760"/>
            <a:ext cx="1280160" cy="640080"/>
          </a:xfrm>
          <a:prstGeom prst="line">
            <a:avLst/>
          </a:prstGeom>
          <a:noFill/>
          <a:ln w="19050">
            <a:solidFill>
              <a:srgbClr val="148C8C"/>
            </a:solidFill>
            <a:prstDash val="solid"/>
          </a:ln>
        </p:spPr>
      </p:sp>
      <p:sp>
        <p:nvSpPr>
          <p:cNvPr id="10" name="Shape 8"/>
          <p:cNvSpPr/>
          <p:nvPr/>
        </p:nvSpPr>
        <p:spPr>
          <a:xfrm>
            <a:off x="3291840" y="3291840"/>
            <a:ext cx="1280160" cy="914"/>
          </a:xfrm>
          <a:prstGeom prst="line">
            <a:avLst/>
          </a:prstGeom>
          <a:noFill/>
          <a:ln w="19050">
            <a:solidFill>
              <a:srgbClr val="148C8C"/>
            </a:solidFill>
            <a:prstDash val="solid"/>
          </a:ln>
        </p:spPr>
      </p:sp>
      <p:sp>
        <p:nvSpPr>
          <p:cNvPr id="11" name="Shape 9"/>
          <p:cNvSpPr/>
          <p:nvPr/>
        </p:nvSpPr>
        <p:spPr>
          <a:xfrm>
            <a:off x="3291840" y="3291840"/>
            <a:ext cx="1280160" cy="640080"/>
          </a:xfrm>
          <a:prstGeom prst="line">
            <a:avLst/>
          </a:prstGeom>
          <a:noFill/>
          <a:ln w="19050">
            <a:solidFill>
              <a:srgbClr val="148C8C"/>
            </a:solidFill>
            <a:prstDash val="solid"/>
          </a:ln>
        </p:spPr>
      </p:sp>
      <p:sp>
        <p:nvSpPr>
          <p:cNvPr id="12" name="Text 10"/>
          <p:cNvSpPr txBox="1"/>
          <p:nvPr/>
        </p:nvSpPr>
        <p:spPr>
          <a:xfrm>
            <a:off x="3520440" y="2487168"/>
            <a:ext cx="1097280" cy="274320"/>
          </a:xfrm>
          <a:prstGeom prst="rect">
            <a:avLst/>
          </a:prstGeom>
          <a:noFill/>
          <a:ln/>
        </p:spPr>
        <p:txBody>
          <a:bodyPr wrap="square" lIns="0" tIns="0" rIns="0" bIns="0" rtlCol="0" anchor="ctr"/>
          <a:lstStyle/>
          <a:p>
            <a:pPr indent="0" marL="0">
              <a:buNone/>
            </a:pPr>
            <a:r>
              <a:rPr lang="en-US" sz="1100" i="1" dirty="0">
                <a:solidFill>
                  <a:srgbClr val="148C8C"/>
                </a:solidFill>
                <a:latin typeface="Calibri" pitchFamily="34" charset="0"/>
                <a:ea typeface="Calibri" pitchFamily="34" charset="-122"/>
                <a:cs typeface="Calibri" pitchFamily="34" charset="-120"/>
              </a:rPr>
              <a:t>date_added</a:t>
            </a:r>
            <a:endParaRPr lang="en-US" sz="1100" dirty="0"/>
          </a:p>
        </p:txBody>
      </p:sp>
      <p:sp>
        <p:nvSpPr>
          <p:cNvPr id="13" name="Text 11"/>
          <p:cNvSpPr txBox="1"/>
          <p:nvPr/>
        </p:nvSpPr>
        <p:spPr>
          <a:xfrm>
            <a:off x="3931920" y="3035808"/>
            <a:ext cx="640080" cy="274320"/>
          </a:xfrm>
          <a:prstGeom prst="rect">
            <a:avLst/>
          </a:prstGeom>
          <a:noFill/>
          <a:ln/>
        </p:spPr>
        <p:txBody>
          <a:bodyPr wrap="square" lIns="0" tIns="0" rIns="0" bIns="0" rtlCol="0" anchor="ctr"/>
          <a:lstStyle/>
          <a:p>
            <a:pPr indent="0" marL="0">
              <a:buNone/>
            </a:pPr>
            <a:r>
              <a:rPr lang="en-US" sz="1100" i="1" dirty="0">
                <a:solidFill>
                  <a:srgbClr val="148C8C"/>
                </a:solidFill>
                <a:latin typeface="Calibri" pitchFamily="34" charset="0"/>
                <a:ea typeface="Calibri" pitchFamily="34" charset="-122"/>
                <a:cs typeface="Calibri" pitchFamily="34" charset="-120"/>
              </a:rPr>
              <a:t>due_date</a:t>
            </a:r>
            <a:endParaRPr lang="en-US" sz="1100" dirty="0"/>
          </a:p>
        </p:txBody>
      </p:sp>
      <p:sp>
        <p:nvSpPr>
          <p:cNvPr id="14" name="Text 12"/>
          <p:cNvSpPr txBox="1"/>
          <p:nvPr/>
        </p:nvSpPr>
        <p:spPr>
          <a:xfrm>
            <a:off x="3566160" y="3840480"/>
            <a:ext cx="1005840" cy="274320"/>
          </a:xfrm>
          <a:prstGeom prst="rect">
            <a:avLst/>
          </a:prstGeom>
          <a:noFill/>
          <a:ln/>
        </p:spPr>
        <p:txBody>
          <a:bodyPr wrap="square" lIns="0" tIns="0" rIns="0" bIns="0" rtlCol="0" anchor="ctr"/>
          <a:lstStyle/>
          <a:p>
            <a:pPr indent="0" marL="0">
              <a:buNone/>
            </a:pPr>
            <a:r>
              <a:rPr lang="en-US" sz="1100" i="1" dirty="0">
                <a:solidFill>
                  <a:srgbClr val="148C8C"/>
                </a:solidFill>
                <a:latin typeface="Calibri" pitchFamily="34" charset="0"/>
                <a:ea typeface="Calibri" pitchFamily="34" charset="-122"/>
                <a:cs typeface="Calibri" pitchFamily="34" charset="-120"/>
              </a:rPr>
              <a:t>published</a:t>
            </a:r>
            <a:endParaRPr lang="en-US" sz="1100" dirty="0"/>
          </a:p>
        </p:txBody>
      </p:sp>
      <p:sp>
        <p:nvSpPr>
          <p:cNvPr id="15" name="Shape 13"/>
          <p:cNvSpPr/>
          <p:nvPr/>
        </p:nvSpPr>
        <p:spPr>
          <a:xfrm>
            <a:off x="3214116" y="3214116"/>
            <a:ext cx="155448" cy="155448"/>
          </a:xfrm>
          <a:prstGeom prst="ellipse">
            <a:avLst/>
          </a:prstGeom>
          <a:solidFill>
            <a:srgbClr val="FFFFFF"/>
          </a:solidFill>
          <a:ln w="19050">
            <a:solidFill>
              <a:srgbClr val="148C8C"/>
            </a:solidFill>
            <a:prstDash val="solid"/>
          </a:ln>
        </p:spPr>
      </p:sp>
      <p:sp>
        <p:nvSpPr>
          <p:cNvPr id="16" name="Text 14"/>
          <p:cNvSpPr txBox="1"/>
          <p:nvPr/>
        </p:nvSpPr>
        <p:spPr>
          <a:xfrm>
            <a:off x="2423160" y="3410712"/>
            <a:ext cx="1737360" cy="274320"/>
          </a:xfrm>
          <a:prstGeom prst="rect">
            <a:avLst/>
          </a:prstGeom>
          <a:noFill/>
          <a:ln/>
        </p:spPr>
        <p:txBody>
          <a:bodyPr wrap="square" lIns="0" tIns="0" rIns="0" bIns="0" rtlCol="0" anchor="t"/>
          <a:lstStyle/>
          <a:p>
            <a:pPr algn="ctr" indent="0" marL="0">
              <a:buNone/>
            </a:pPr>
            <a:r>
              <a:rPr lang="en-US" sz="1150" dirty="0">
                <a:solidFill>
                  <a:srgbClr val="1F2933"/>
                </a:solidFill>
                <a:latin typeface="Calibri" pitchFamily="34" charset="0"/>
                <a:ea typeface="Calibri" pitchFamily="34" charset="-122"/>
                <a:cs typeface="Calibri" pitchFamily="34" charset="-120"/>
              </a:rPr>
              <a:t>date</a:t>
            </a:r>
            <a:endParaRPr lang="en-US" sz="1150" dirty="0"/>
          </a:p>
        </p:txBody>
      </p:sp>
      <p:sp>
        <p:nvSpPr>
          <p:cNvPr id="17" name="Shape 15"/>
          <p:cNvSpPr/>
          <p:nvPr/>
        </p:nvSpPr>
        <p:spPr>
          <a:xfrm>
            <a:off x="2468880" y="3291840"/>
            <a:ext cx="822960" cy="914"/>
          </a:xfrm>
          <a:prstGeom prst="line">
            <a:avLst/>
          </a:prstGeom>
          <a:noFill/>
          <a:ln w="19050">
            <a:solidFill>
              <a:srgbClr val="148C8C"/>
            </a:solidFill>
            <a:prstDash val="solid"/>
          </a:ln>
        </p:spPr>
      </p:sp>
      <p:sp>
        <p:nvSpPr>
          <p:cNvPr id="18" name="Shape 16"/>
          <p:cNvSpPr/>
          <p:nvPr/>
        </p:nvSpPr>
        <p:spPr>
          <a:xfrm>
            <a:off x="2391156" y="3214116"/>
            <a:ext cx="155448" cy="155448"/>
          </a:xfrm>
          <a:prstGeom prst="ellipse">
            <a:avLst/>
          </a:prstGeom>
          <a:solidFill>
            <a:srgbClr val="FFFFFF"/>
          </a:solidFill>
          <a:ln w="19050">
            <a:solidFill>
              <a:srgbClr val="148C8C"/>
            </a:solidFill>
            <a:prstDash val="solid"/>
          </a:ln>
        </p:spPr>
      </p:sp>
      <p:sp>
        <p:nvSpPr>
          <p:cNvPr id="19" name="Text 17"/>
          <p:cNvSpPr txBox="1"/>
          <p:nvPr/>
        </p:nvSpPr>
        <p:spPr>
          <a:xfrm>
            <a:off x="1600200" y="2880360"/>
            <a:ext cx="1737360" cy="274320"/>
          </a:xfrm>
          <a:prstGeom prst="rect">
            <a:avLst/>
          </a:prstGeom>
          <a:noFill/>
          <a:ln/>
        </p:spPr>
        <p:txBody>
          <a:bodyPr wrap="square" lIns="0" tIns="0" rIns="0" bIns="0" rtlCol="0" anchor="b"/>
          <a:lstStyle/>
          <a:p>
            <a:pPr algn="ctr" indent="0" marL="0">
              <a:buNone/>
            </a:pPr>
            <a:r>
              <a:rPr lang="en-US" sz="1150" dirty="0">
                <a:solidFill>
                  <a:srgbClr val="1F2933"/>
                </a:solidFill>
                <a:latin typeface="Calibri" pitchFamily="34" charset="0"/>
                <a:ea typeface="Calibri" pitchFamily="34" charset="-122"/>
                <a:cs typeface="Calibri" pitchFamily="34" charset="-120"/>
              </a:rPr>
              <a:t>month</a:t>
            </a:r>
            <a:endParaRPr lang="en-US" sz="1150" dirty="0"/>
          </a:p>
        </p:txBody>
      </p:sp>
      <p:sp>
        <p:nvSpPr>
          <p:cNvPr id="20" name="Shape 18"/>
          <p:cNvSpPr/>
          <p:nvPr/>
        </p:nvSpPr>
        <p:spPr>
          <a:xfrm>
            <a:off x="1645920" y="3291840"/>
            <a:ext cx="822960" cy="914"/>
          </a:xfrm>
          <a:prstGeom prst="line">
            <a:avLst/>
          </a:prstGeom>
          <a:noFill/>
          <a:ln w="19050">
            <a:solidFill>
              <a:srgbClr val="148C8C"/>
            </a:solidFill>
            <a:prstDash val="solid"/>
          </a:ln>
        </p:spPr>
      </p:sp>
      <p:sp>
        <p:nvSpPr>
          <p:cNvPr id="21" name="Shape 19"/>
          <p:cNvSpPr/>
          <p:nvPr/>
        </p:nvSpPr>
        <p:spPr>
          <a:xfrm>
            <a:off x="1568196" y="3214116"/>
            <a:ext cx="155448" cy="155448"/>
          </a:xfrm>
          <a:prstGeom prst="ellipse">
            <a:avLst/>
          </a:prstGeom>
          <a:solidFill>
            <a:srgbClr val="FFFFFF"/>
          </a:solidFill>
          <a:ln w="19050">
            <a:solidFill>
              <a:srgbClr val="148C8C"/>
            </a:solidFill>
            <a:prstDash val="solid"/>
          </a:ln>
        </p:spPr>
      </p:sp>
      <p:sp>
        <p:nvSpPr>
          <p:cNvPr id="22" name="Text 20"/>
          <p:cNvSpPr txBox="1"/>
          <p:nvPr/>
        </p:nvSpPr>
        <p:spPr>
          <a:xfrm>
            <a:off x="777240" y="2880360"/>
            <a:ext cx="1737360" cy="274320"/>
          </a:xfrm>
          <a:prstGeom prst="rect">
            <a:avLst/>
          </a:prstGeom>
          <a:noFill/>
          <a:ln/>
        </p:spPr>
        <p:txBody>
          <a:bodyPr wrap="square" lIns="0" tIns="0" rIns="0" bIns="0" rtlCol="0" anchor="b"/>
          <a:lstStyle/>
          <a:p>
            <a:pPr algn="ctr" indent="0" marL="0">
              <a:buNone/>
            </a:pPr>
            <a:r>
              <a:rPr lang="en-US" sz="1150" dirty="0">
                <a:solidFill>
                  <a:srgbClr val="1F2933"/>
                </a:solidFill>
                <a:latin typeface="Calibri" pitchFamily="34" charset="0"/>
                <a:ea typeface="Calibri" pitchFamily="34" charset="-122"/>
                <a:cs typeface="Calibri" pitchFamily="34" charset="-120"/>
              </a:rPr>
              <a:t>quarter</a:t>
            </a:r>
            <a:endParaRPr lang="en-US" sz="1150" dirty="0"/>
          </a:p>
        </p:txBody>
      </p:sp>
      <p:sp>
        <p:nvSpPr>
          <p:cNvPr id="23" name="Shape 21"/>
          <p:cNvSpPr/>
          <p:nvPr/>
        </p:nvSpPr>
        <p:spPr>
          <a:xfrm>
            <a:off x="822960" y="3291840"/>
            <a:ext cx="822960" cy="914"/>
          </a:xfrm>
          <a:prstGeom prst="line">
            <a:avLst/>
          </a:prstGeom>
          <a:noFill/>
          <a:ln w="19050">
            <a:solidFill>
              <a:srgbClr val="148C8C"/>
            </a:solidFill>
            <a:prstDash val="solid"/>
          </a:ln>
        </p:spPr>
      </p:sp>
      <p:sp>
        <p:nvSpPr>
          <p:cNvPr id="24" name="Shape 22"/>
          <p:cNvSpPr/>
          <p:nvPr/>
        </p:nvSpPr>
        <p:spPr>
          <a:xfrm>
            <a:off x="745236" y="3214116"/>
            <a:ext cx="155448" cy="155448"/>
          </a:xfrm>
          <a:prstGeom prst="ellipse">
            <a:avLst/>
          </a:prstGeom>
          <a:solidFill>
            <a:srgbClr val="FFFFFF"/>
          </a:solidFill>
          <a:ln w="19050">
            <a:solidFill>
              <a:srgbClr val="148C8C"/>
            </a:solidFill>
            <a:prstDash val="solid"/>
          </a:ln>
        </p:spPr>
      </p:sp>
      <p:sp>
        <p:nvSpPr>
          <p:cNvPr id="25" name="Text 23"/>
          <p:cNvSpPr txBox="1"/>
          <p:nvPr/>
        </p:nvSpPr>
        <p:spPr>
          <a:xfrm>
            <a:off x="-45720" y="2880360"/>
            <a:ext cx="1737360" cy="274320"/>
          </a:xfrm>
          <a:prstGeom prst="rect">
            <a:avLst/>
          </a:prstGeom>
          <a:noFill/>
          <a:ln/>
        </p:spPr>
        <p:txBody>
          <a:bodyPr wrap="square" lIns="0" tIns="0" rIns="0" bIns="0" rtlCol="0" anchor="b"/>
          <a:lstStyle/>
          <a:p>
            <a:pPr algn="ctr" indent="0" marL="0">
              <a:buNone/>
            </a:pPr>
            <a:r>
              <a:rPr lang="en-US" sz="1150" dirty="0">
                <a:solidFill>
                  <a:srgbClr val="1F2933"/>
                </a:solidFill>
                <a:latin typeface="Calibri" pitchFamily="34" charset="0"/>
                <a:ea typeface="Calibri" pitchFamily="34" charset="-122"/>
                <a:cs typeface="Calibri" pitchFamily="34" charset="-120"/>
              </a:rPr>
              <a:t>year</a:t>
            </a:r>
            <a:endParaRPr lang="en-US" sz="1150" dirty="0"/>
          </a:p>
        </p:txBody>
      </p:sp>
      <p:sp>
        <p:nvSpPr>
          <p:cNvPr id="26" name="Shape 24"/>
          <p:cNvSpPr/>
          <p:nvPr/>
        </p:nvSpPr>
        <p:spPr>
          <a:xfrm>
            <a:off x="5989320" y="1874520"/>
            <a:ext cx="914" cy="457200"/>
          </a:xfrm>
          <a:prstGeom prst="line">
            <a:avLst/>
          </a:prstGeom>
          <a:noFill/>
          <a:ln w="19050">
            <a:solidFill>
              <a:srgbClr val="148C8C"/>
            </a:solidFill>
            <a:prstDash val="solid"/>
          </a:ln>
        </p:spPr>
      </p:sp>
      <p:sp>
        <p:nvSpPr>
          <p:cNvPr id="27" name="Shape 25"/>
          <p:cNvSpPr/>
          <p:nvPr/>
        </p:nvSpPr>
        <p:spPr>
          <a:xfrm>
            <a:off x="5911596" y="1796796"/>
            <a:ext cx="155448" cy="155448"/>
          </a:xfrm>
          <a:prstGeom prst="ellipse">
            <a:avLst/>
          </a:prstGeom>
          <a:solidFill>
            <a:srgbClr val="FFFFFF"/>
          </a:solidFill>
          <a:ln w="19050">
            <a:solidFill>
              <a:srgbClr val="148C8C"/>
            </a:solidFill>
            <a:prstDash val="solid"/>
          </a:ln>
        </p:spPr>
      </p:sp>
      <p:sp>
        <p:nvSpPr>
          <p:cNvPr id="28" name="Text 26"/>
          <p:cNvSpPr txBox="1"/>
          <p:nvPr/>
        </p:nvSpPr>
        <p:spPr>
          <a:xfrm>
            <a:off x="4123944" y="1728216"/>
            <a:ext cx="1737360" cy="292608"/>
          </a:xfrm>
          <a:prstGeom prst="rect">
            <a:avLst/>
          </a:prstGeom>
          <a:noFill/>
          <a:ln/>
        </p:spPr>
        <p:txBody>
          <a:bodyPr wrap="square" lIns="0" tIns="0" rIns="0" bIns="0" rtlCol="0" anchor="ctr"/>
          <a:lstStyle/>
          <a:p>
            <a:pPr algn="r" indent="0" marL="0">
              <a:buNone/>
            </a:pPr>
            <a:r>
              <a:rPr lang="en-US" sz="1150" dirty="0">
                <a:solidFill>
                  <a:srgbClr val="1F2933"/>
                </a:solidFill>
                <a:latin typeface="Calibri" pitchFamily="34" charset="0"/>
                <a:ea typeface="Calibri" pitchFamily="34" charset="-122"/>
                <a:cs typeface="Calibri" pitchFamily="34" charset="-120"/>
              </a:rPr>
              <a:t>product</a:t>
            </a:r>
            <a:endParaRPr lang="en-US" sz="1150" dirty="0"/>
          </a:p>
        </p:txBody>
      </p:sp>
      <p:sp>
        <p:nvSpPr>
          <p:cNvPr id="29" name="Shape 27"/>
          <p:cNvSpPr/>
          <p:nvPr/>
        </p:nvSpPr>
        <p:spPr>
          <a:xfrm>
            <a:off x="5989320" y="1600200"/>
            <a:ext cx="914" cy="274320"/>
          </a:xfrm>
          <a:prstGeom prst="line">
            <a:avLst/>
          </a:prstGeom>
          <a:noFill/>
          <a:ln w="19050">
            <a:solidFill>
              <a:srgbClr val="148C8C"/>
            </a:solidFill>
            <a:prstDash val="solid"/>
          </a:ln>
        </p:spPr>
      </p:sp>
      <p:sp>
        <p:nvSpPr>
          <p:cNvPr id="30" name="Shape 28"/>
          <p:cNvSpPr/>
          <p:nvPr/>
        </p:nvSpPr>
        <p:spPr>
          <a:xfrm>
            <a:off x="5911596" y="1522476"/>
            <a:ext cx="155448" cy="155448"/>
          </a:xfrm>
          <a:prstGeom prst="ellipse">
            <a:avLst/>
          </a:prstGeom>
          <a:solidFill>
            <a:srgbClr val="FFFFFF"/>
          </a:solidFill>
          <a:ln w="19050">
            <a:solidFill>
              <a:srgbClr val="148C8C"/>
            </a:solidFill>
            <a:prstDash val="solid"/>
          </a:ln>
        </p:spPr>
      </p:sp>
      <p:sp>
        <p:nvSpPr>
          <p:cNvPr id="31" name="Text 29"/>
          <p:cNvSpPr txBox="1"/>
          <p:nvPr/>
        </p:nvSpPr>
        <p:spPr>
          <a:xfrm>
            <a:off x="6117336" y="1453896"/>
            <a:ext cx="1737360" cy="292608"/>
          </a:xfrm>
          <a:prstGeom prst="rect">
            <a:avLst/>
          </a:prstGeom>
          <a:noFill/>
          <a:ln/>
        </p:spPr>
        <p:txBody>
          <a:bodyPr wrap="square" lIns="0" tIns="0" rIns="0" bIns="0" rtlCol="0" anchor="ctr"/>
          <a:lstStyle/>
          <a:p>
            <a:pPr indent="0" marL="0">
              <a:buNone/>
            </a:pPr>
            <a:r>
              <a:rPr lang="en-US" sz="1150" dirty="0">
                <a:solidFill>
                  <a:srgbClr val="1F2933"/>
                </a:solidFill>
                <a:latin typeface="Calibri" pitchFamily="34" charset="0"/>
                <a:ea typeface="Calibri" pitchFamily="34" charset="-122"/>
                <a:cs typeface="Calibri" pitchFamily="34" charset="-120"/>
              </a:rPr>
              <a:t>vendor</a:t>
            </a:r>
            <a:endParaRPr lang="en-US" sz="1150" dirty="0"/>
          </a:p>
        </p:txBody>
      </p:sp>
      <p:sp>
        <p:nvSpPr>
          <p:cNvPr id="32" name="Shape 30"/>
          <p:cNvSpPr/>
          <p:nvPr/>
        </p:nvSpPr>
        <p:spPr>
          <a:xfrm>
            <a:off x="5989320" y="1874520"/>
            <a:ext cx="731520" cy="914"/>
          </a:xfrm>
          <a:prstGeom prst="line">
            <a:avLst/>
          </a:prstGeom>
          <a:noFill/>
          <a:ln w="19050">
            <a:solidFill>
              <a:srgbClr val="148C8C"/>
            </a:solidFill>
            <a:prstDash val="solid"/>
          </a:ln>
        </p:spPr>
      </p:sp>
      <p:sp>
        <p:nvSpPr>
          <p:cNvPr id="33" name="Shape 31"/>
          <p:cNvSpPr/>
          <p:nvPr/>
        </p:nvSpPr>
        <p:spPr>
          <a:xfrm>
            <a:off x="6643116" y="1796796"/>
            <a:ext cx="155448" cy="155448"/>
          </a:xfrm>
          <a:prstGeom prst="ellipse">
            <a:avLst/>
          </a:prstGeom>
          <a:solidFill>
            <a:srgbClr val="FFFFFF"/>
          </a:solidFill>
          <a:ln w="19050">
            <a:solidFill>
              <a:srgbClr val="148C8C"/>
            </a:solidFill>
            <a:prstDash val="solid"/>
          </a:ln>
        </p:spPr>
      </p:sp>
      <p:sp>
        <p:nvSpPr>
          <p:cNvPr id="34" name="Text 32"/>
          <p:cNvSpPr txBox="1"/>
          <p:nvPr/>
        </p:nvSpPr>
        <p:spPr>
          <a:xfrm>
            <a:off x="6848856" y="1728216"/>
            <a:ext cx="1737360" cy="292608"/>
          </a:xfrm>
          <a:prstGeom prst="rect">
            <a:avLst/>
          </a:prstGeom>
          <a:noFill/>
          <a:ln/>
        </p:spPr>
        <p:txBody>
          <a:bodyPr wrap="square" lIns="0" tIns="0" rIns="0" bIns="0" rtlCol="0" anchor="ctr"/>
          <a:lstStyle/>
          <a:p>
            <a:pPr indent="0" marL="0">
              <a:buNone/>
            </a:pPr>
            <a:r>
              <a:rPr lang="en-US" sz="1150" dirty="0">
                <a:solidFill>
                  <a:srgbClr val="1F2933"/>
                </a:solidFill>
                <a:latin typeface="Calibri" pitchFamily="34" charset="0"/>
                <a:ea typeface="Calibri" pitchFamily="34" charset="-122"/>
                <a:cs typeface="Calibri" pitchFamily="34" charset="-120"/>
              </a:rPr>
              <a:t>product_type</a:t>
            </a:r>
            <a:endParaRPr lang="en-US" sz="1150" dirty="0"/>
          </a:p>
        </p:txBody>
      </p:sp>
      <p:sp>
        <p:nvSpPr>
          <p:cNvPr id="35" name="Shape 33"/>
          <p:cNvSpPr/>
          <p:nvPr/>
        </p:nvSpPr>
        <p:spPr>
          <a:xfrm>
            <a:off x="7406640" y="3291840"/>
            <a:ext cx="731520" cy="914"/>
          </a:xfrm>
          <a:prstGeom prst="line">
            <a:avLst/>
          </a:prstGeom>
          <a:noFill/>
          <a:ln w="19050">
            <a:solidFill>
              <a:srgbClr val="148C8C"/>
            </a:solidFill>
            <a:prstDash val="solid"/>
          </a:ln>
        </p:spPr>
      </p:sp>
      <p:sp>
        <p:nvSpPr>
          <p:cNvPr id="36" name="Shape 34"/>
          <p:cNvSpPr/>
          <p:nvPr/>
        </p:nvSpPr>
        <p:spPr>
          <a:xfrm>
            <a:off x="8060436" y="3214116"/>
            <a:ext cx="155448" cy="155448"/>
          </a:xfrm>
          <a:prstGeom prst="ellipse">
            <a:avLst/>
          </a:prstGeom>
          <a:solidFill>
            <a:srgbClr val="FFFFFF"/>
          </a:solidFill>
          <a:ln w="19050">
            <a:solidFill>
              <a:srgbClr val="148C8C"/>
            </a:solidFill>
            <a:prstDash val="solid"/>
          </a:ln>
        </p:spPr>
      </p:sp>
      <p:sp>
        <p:nvSpPr>
          <p:cNvPr id="37" name="Text 35"/>
          <p:cNvSpPr txBox="1"/>
          <p:nvPr/>
        </p:nvSpPr>
        <p:spPr>
          <a:xfrm>
            <a:off x="7269480" y="2880360"/>
            <a:ext cx="1737360" cy="274320"/>
          </a:xfrm>
          <a:prstGeom prst="rect">
            <a:avLst/>
          </a:prstGeom>
          <a:noFill/>
          <a:ln/>
        </p:spPr>
        <p:txBody>
          <a:bodyPr wrap="square" lIns="0" tIns="0" rIns="0" bIns="0" rtlCol="0" anchor="b"/>
          <a:lstStyle/>
          <a:p>
            <a:pPr algn="ctr" indent="0" marL="0">
              <a:buNone/>
            </a:pPr>
            <a:r>
              <a:rPr lang="en-US" sz="1150" dirty="0">
                <a:solidFill>
                  <a:srgbClr val="1F2933"/>
                </a:solidFill>
                <a:latin typeface="Calibri" pitchFamily="34" charset="0"/>
                <a:ea typeface="Calibri" pitchFamily="34" charset="-122"/>
                <a:cs typeface="Calibri" pitchFamily="34" charset="-120"/>
              </a:rPr>
              <a:t>cwe</a:t>
            </a:r>
            <a:endParaRPr lang="en-US" sz="1150" dirty="0"/>
          </a:p>
        </p:txBody>
      </p:sp>
      <p:sp>
        <p:nvSpPr>
          <p:cNvPr id="38" name="Shape 36"/>
          <p:cNvSpPr/>
          <p:nvPr/>
        </p:nvSpPr>
        <p:spPr>
          <a:xfrm>
            <a:off x="8138160" y="3291840"/>
            <a:ext cx="1097280" cy="914"/>
          </a:xfrm>
          <a:prstGeom prst="line">
            <a:avLst/>
          </a:prstGeom>
          <a:noFill/>
          <a:ln w="19050">
            <a:solidFill>
              <a:srgbClr val="148C8C"/>
            </a:solidFill>
            <a:prstDash val="solid"/>
          </a:ln>
        </p:spPr>
      </p:sp>
      <p:sp>
        <p:nvSpPr>
          <p:cNvPr id="39" name="Shape 37"/>
          <p:cNvSpPr/>
          <p:nvPr/>
        </p:nvSpPr>
        <p:spPr>
          <a:xfrm>
            <a:off x="9157716" y="3214116"/>
            <a:ext cx="155448" cy="155448"/>
          </a:xfrm>
          <a:prstGeom prst="ellipse">
            <a:avLst/>
          </a:prstGeom>
          <a:solidFill>
            <a:srgbClr val="FFFFFF"/>
          </a:solidFill>
          <a:ln w="19050">
            <a:solidFill>
              <a:srgbClr val="148C8C"/>
            </a:solidFill>
            <a:prstDash val="solid"/>
          </a:ln>
        </p:spPr>
      </p:sp>
      <p:sp>
        <p:nvSpPr>
          <p:cNvPr id="40" name="Text 38"/>
          <p:cNvSpPr txBox="1"/>
          <p:nvPr/>
        </p:nvSpPr>
        <p:spPr>
          <a:xfrm>
            <a:off x="9363456" y="3145536"/>
            <a:ext cx="1737360" cy="292608"/>
          </a:xfrm>
          <a:prstGeom prst="rect">
            <a:avLst/>
          </a:prstGeom>
          <a:noFill/>
          <a:ln/>
        </p:spPr>
        <p:txBody>
          <a:bodyPr wrap="square" lIns="0" tIns="0" rIns="0" bIns="0" rtlCol="0" anchor="ctr"/>
          <a:lstStyle/>
          <a:p>
            <a:pPr indent="0" marL="0">
              <a:buNone/>
            </a:pPr>
            <a:r>
              <a:rPr lang="en-US" sz="1150" dirty="0">
                <a:solidFill>
                  <a:srgbClr val="1F2933"/>
                </a:solidFill>
                <a:latin typeface="Calibri" pitchFamily="34" charset="0"/>
                <a:ea typeface="Calibri" pitchFamily="34" charset="-122"/>
                <a:cs typeface="Calibri" pitchFamily="34" charset="-120"/>
              </a:rPr>
              <a:t>pillar</a:t>
            </a:r>
            <a:endParaRPr lang="en-US" sz="1150" dirty="0"/>
          </a:p>
        </p:txBody>
      </p:sp>
      <p:sp>
        <p:nvSpPr>
          <p:cNvPr id="41" name="Shape 39"/>
          <p:cNvSpPr/>
          <p:nvPr/>
        </p:nvSpPr>
        <p:spPr>
          <a:xfrm>
            <a:off x="5989320" y="4251960"/>
            <a:ext cx="914" cy="594360"/>
          </a:xfrm>
          <a:prstGeom prst="line">
            <a:avLst/>
          </a:prstGeom>
          <a:noFill/>
          <a:ln w="19050">
            <a:solidFill>
              <a:srgbClr val="1B2A41"/>
            </a:solidFill>
            <a:prstDash val="solid"/>
          </a:ln>
        </p:spPr>
      </p:sp>
      <p:sp>
        <p:nvSpPr>
          <p:cNvPr id="42" name="Shape 40"/>
          <p:cNvSpPr/>
          <p:nvPr/>
        </p:nvSpPr>
        <p:spPr>
          <a:xfrm>
            <a:off x="5911596" y="4768596"/>
            <a:ext cx="155448" cy="155448"/>
          </a:xfrm>
          <a:prstGeom prst="ellipse">
            <a:avLst/>
          </a:prstGeom>
          <a:solidFill>
            <a:srgbClr val="FFFFFF"/>
          </a:solidFill>
          <a:ln w="19050">
            <a:solidFill>
              <a:srgbClr val="1B2A41"/>
            </a:solidFill>
            <a:prstDash val="solid"/>
          </a:ln>
        </p:spPr>
      </p:sp>
      <p:sp>
        <p:nvSpPr>
          <p:cNvPr id="43" name="Text 41"/>
          <p:cNvSpPr txBox="1"/>
          <p:nvPr/>
        </p:nvSpPr>
        <p:spPr>
          <a:xfrm>
            <a:off x="6117336" y="4700016"/>
            <a:ext cx="1737360" cy="292608"/>
          </a:xfrm>
          <a:prstGeom prst="rect">
            <a:avLst/>
          </a:prstGeom>
          <a:noFill/>
          <a:ln/>
        </p:spPr>
        <p:txBody>
          <a:bodyPr wrap="square" lIns="0" tIns="0" rIns="0" bIns="0" rtlCol="0" anchor="ctr"/>
          <a:lstStyle/>
          <a:p>
            <a:pPr indent="0" marL="0">
              <a:buNone/>
            </a:pPr>
            <a:r>
              <a:rPr lang="en-US" sz="1150" dirty="0">
                <a:solidFill>
                  <a:srgbClr val="1F2933"/>
                </a:solidFill>
                <a:latin typeface="Calibri" pitchFamily="34" charset="0"/>
                <a:ea typeface="Calibri" pitchFamily="34" charset="-122"/>
                <a:cs typeface="Calibri" pitchFamily="34" charset="-120"/>
              </a:rPr>
              <a:t>in_nvd_snapshot</a:t>
            </a:r>
            <a:endParaRPr lang="en-US" sz="1150" dirty="0"/>
          </a:p>
        </p:txBody>
      </p:sp>
      <p:sp>
        <p:nvSpPr>
          <p:cNvPr id="44" name="Shape 42"/>
          <p:cNvSpPr/>
          <p:nvPr/>
        </p:nvSpPr>
        <p:spPr>
          <a:xfrm flipH="1">
            <a:off x="7406640" y="2011680"/>
            <a:ext cx="731520" cy="548640"/>
          </a:xfrm>
          <a:prstGeom prst="line">
            <a:avLst/>
          </a:prstGeom>
          <a:noFill/>
          <a:ln w="19050">
            <a:solidFill>
              <a:srgbClr val="1B2A41"/>
            </a:solidFill>
            <a:prstDash val="solid"/>
          </a:ln>
        </p:spPr>
      </p:sp>
      <p:sp>
        <p:nvSpPr>
          <p:cNvPr id="45" name="Text 43"/>
          <p:cNvSpPr txBox="1"/>
          <p:nvPr/>
        </p:nvSpPr>
        <p:spPr>
          <a:xfrm>
            <a:off x="8183880" y="1847088"/>
            <a:ext cx="2011680" cy="274320"/>
          </a:xfrm>
          <a:prstGeom prst="rect">
            <a:avLst/>
          </a:prstGeom>
          <a:noFill/>
          <a:ln/>
        </p:spPr>
        <p:txBody>
          <a:bodyPr wrap="square" lIns="0" tIns="0" rIns="0" bIns="0" rtlCol="0" anchor="ctr"/>
          <a:lstStyle/>
          <a:p>
            <a:pPr indent="0" marL="0">
              <a:buNone/>
            </a:pPr>
            <a:r>
              <a:rPr lang="en-US" sz="1150" i="1" dirty="0">
                <a:solidFill>
                  <a:srgbClr val="5B6B7C"/>
                </a:solidFill>
                <a:latin typeface="Calibri" pitchFamily="34" charset="0"/>
                <a:ea typeface="Calibri" pitchFamily="34" charset="-122"/>
                <a:cs typeface="Calibri" pitchFamily="34" charset="-120"/>
              </a:rPr>
              <a:t>cve_id (degenerate)</a:t>
            </a:r>
            <a:endParaRPr lang="en-US" sz="1150" dirty="0"/>
          </a:p>
        </p:txBody>
      </p:sp>
      <p:sp>
        <p:nvSpPr>
          <p:cNvPr id="46" name="Shape 44"/>
          <p:cNvSpPr/>
          <p:nvPr/>
        </p:nvSpPr>
        <p:spPr>
          <a:xfrm>
            <a:off x="457200" y="5486400"/>
            <a:ext cx="11274552" cy="502920"/>
          </a:xfrm>
          <a:prstGeom prst="rect">
            <a:avLst/>
          </a:prstGeom>
          <a:solidFill>
            <a:srgbClr val="F3F5F8"/>
          </a:solidFill>
          <a:ln w="12700">
            <a:solidFill>
              <a:srgbClr val="F3F5F8"/>
            </a:solidFill>
            <a:prstDash val="solid"/>
          </a:ln>
        </p:spPr>
      </p:sp>
      <p:sp>
        <p:nvSpPr>
          <p:cNvPr id="47" name="Text 45"/>
          <p:cNvSpPr txBox="1"/>
          <p:nvPr/>
        </p:nvSpPr>
        <p:spPr>
          <a:xfrm>
            <a:off x="640080" y="5486400"/>
            <a:ext cx="10908792" cy="502920"/>
          </a:xfrm>
          <a:prstGeom prst="rect">
            <a:avLst/>
          </a:prstGeom>
          <a:noFill/>
          <a:ln/>
        </p:spPr>
        <p:txBody>
          <a:bodyPr wrap="square" lIns="0" tIns="0" rIns="0" bIns="0" rtlCol="0" anchor="ctr"/>
          <a:lstStyle/>
          <a:p>
            <a:pPr indent="0" marL="0">
              <a:buNone/>
            </a:pPr>
            <a:r>
              <a:rPr lang="en-US" sz="1300" dirty="0">
                <a:solidFill>
                  <a:srgbClr val="1F2933"/>
                </a:solidFill>
                <a:latin typeface="Calibri" pitchFamily="34" charset="0"/>
                <a:ea typeface="Calibri" pitchFamily="34" charset="-122"/>
                <a:cs typeface="Calibri" pitchFamily="34" charset="-120"/>
              </a:rPr>
              <a:t>Conformed dimensions date, product and cwe are identical in both facts: this is what makes the Drill-Across (Q6) possible.</a:t>
            </a:r>
            <a:endParaRPr lang="en-US" sz="13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320040"/>
            <a:ext cx="11247120" cy="640080"/>
          </a:xfrm>
          <a:prstGeom prst="rect">
            <a:avLst/>
          </a:prstGeom>
          <a:noFill/>
          <a:ln/>
        </p:spPr>
        <p:txBody>
          <a:bodyPr wrap="square" lIns="0" tIns="0" rIns="0" bIns="0" rtlCol="0" anchor="ctr"/>
          <a:lstStyle/>
          <a:p>
            <a:pPr indent="0" marL="0">
              <a:buNone/>
            </a:pPr>
            <a:r>
              <a:rPr lang="en-US" sz="2600" b="1" dirty="0">
                <a:solidFill>
                  <a:srgbClr val="1B2A41"/>
                </a:solidFill>
                <a:latin typeface="Arial" pitchFamily="34" charset="0"/>
                <a:ea typeface="Arial" pitchFamily="34" charset="-122"/>
                <a:cs typeface="Arial" pitchFamily="34" charset="-120"/>
              </a:rPr>
              <a:t>Logical schema: fact constellation in PostgreSQL 16</a:t>
            </a:r>
            <a:endParaRPr lang="en-US" sz="2600" dirty="0"/>
          </a:p>
        </p:txBody>
      </p:sp>
      <p:sp>
        <p:nvSpPr>
          <p:cNvPr id="3" name="Text 1"/>
          <p:cNvSpPr txBox="1"/>
          <p:nvPr/>
        </p:nvSpPr>
        <p:spPr>
          <a:xfrm>
            <a:off x="457200" y="987552"/>
            <a:ext cx="11247120" cy="411480"/>
          </a:xfrm>
          <a:prstGeom prst="rect">
            <a:avLst/>
          </a:prstGeom>
          <a:noFill/>
          <a:ln/>
        </p:spPr>
        <p:txBody>
          <a:bodyPr wrap="square" lIns="0" tIns="0" rIns="0" bIns="0" rtlCol="0" anchor="t"/>
          <a:lstStyle/>
          <a:p>
            <a:pPr indent="0" marL="0">
              <a:buNone/>
            </a:pPr>
            <a:r>
              <a:rPr lang="en-US" sz="1500" i="1" dirty="0">
                <a:solidFill>
                  <a:srgbClr val="5B6B7C"/>
                </a:solidFill>
                <a:latin typeface="Calibri" pitchFamily="34" charset="0"/>
                <a:ea typeface="Calibri" pitchFamily="34" charset="-122"/>
                <a:cs typeface="Calibri" pitchFamily="34" charset="-120"/>
              </a:rPr>
              <a:t>Two star schemas sharing three dimension tables</a:t>
            </a:r>
            <a:endParaRPr lang="en-US" sz="1500" dirty="0"/>
          </a:p>
        </p:txBody>
      </p:sp>
      <p:sp>
        <p:nvSpPr>
          <p:cNvPr id="4" name="Text 2"/>
          <p:cNvSpPr txBox="1"/>
          <p:nvPr/>
        </p:nvSpPr>
        <p:spPr>
          <a:xfrm>
            <a:off x="6675120" y="6446520"/>
            <a:ext cx="5056632" cy="274320"/>
          </a:xfrm>
          <a:prstGeom prst="rect">
            <a:avLst/>
          </a:prstGeom>
          <a:noFill/>
          <a:ln/>
        </p:spPr>
        <p:txBody>
          <a:bodyPr wrap="square" lIns="0" tIns="0" rIns="0" bIns="0" rtlCol="0" anchor="ctr"/>
          <a:lstStyle/>
          <a:p>
            <a:pPr algn="r" indent="0" marL="0">
              <a:buNone/>
            </a:pPr>
            <a:r>
              <a:rPr lang="en-US" sz="900" dirty="0">
                <a:solidFill>
                  <a:srgbClr val="5B6B7C"/>
                </a:solidFill>
                <a:latin typeface="Calibri" pitchFamily="34" charset="0"/>
                <a:ea typeface="Calibri" pitchFamily="34" charset="-122"/>
                <a:cs typeface="Calibri" pitchFamily="34" charset="-120"/>
              </a:rPr>
              <a:t>CVE Data Warehouse · Alessia Angele · 10</a:t>
            </a:r>
            <a:endParaRPr lang="en-US" sz="900" dirty="0"/>
          </a:p>
        </p:txBody>
      </p:sp>
      <p:sp>
        <p:nvSpPr>
          <p:cNvPr id="5" name="Shape 3"/>
          <p:cNvSpPr/>
          <p:nvPr/>
        </p:nvSpPr>
        <p:spPr>
          <a:xfrm>
            <a:off x="2926080" y="1828800"/>
            <a:ext cx="2560320" cy="3072384"/>
          </a:xfrm>
          <a:prstGeom prst="rect">
            <a:avLst/>
          </a:prstGeom>
          <a:solidFill>
            <a:srgbClr val="FFFFFF"/>
          </a:solidFill>
          <a:ln w="15875">
            <a:solidFill>
              <a:srgbClr val="1B2A41"/>
            </a:solidFill>
            <a:prstDash val="solid"/>
          </a:ln>
        </p:spPr>
      </p:sp>
      <p:sp>
        <p:nvSpPr>
          <p:cNvPr id="6" name="Shape 4"/>
          <p:cNvSpPr/>
          <p:nvPr/>
        </p:nvSpPr>
        <p:spPr>
          <a:xfrm>
            <a:off x="2926080" y="1828800"/>
            <a:ext cx="2560320" cy="365760"/>
          </a:xfrm>
          <a:prstGeom prst="rect">
            <a:avLst/>
          </a:prstGeom>
          <a:solidFill>
            <a:srgbClr val="1B2A41"/>
          </a:solidFill>
          <a:ln w="15875">
            <a:solidFill>
              <a:srgbClr val="1B2A41"/>
            </a:solidFill>
            <a:prstDash val="solid"/>
          </a:ln>
        </p:spPr>
      </p:sp>
      <p:sp>
        <p:nvSpPr>
          <p:cNvPr id="7" name="Text 5"/>
          <p:cNvSpPr txBox="1"/>
          <p:nvPr/>
        </p:nvSpPr>
        <p:spPr>
          <a:xfrm>
            <a:off x="3017520" y="1828800"/>
            <a:ext cx="2377440" cy="365760"/>
          </a:xfrm>
          <a:prstGeom prst="rect">
            <a:avLst/>
          </a:prstGeom>
          <a:noFill/>
          <a:ln/>
        </p:spPr>
        <p:txBody>
          <a:bodyPr wrap="square" lIns="0" tIns="0" rIns="0" bIns="0" rtlCol="0" anchor="ctr"/>
          <a:lstStyle/>
          <a:p>
            <a:pPr indent="0" marL="0">
              <a:buNone/>
            </a:pPr>
            <a:r>
              <a:rPr lang="en-US" sz="1150" b="1" dirty="0">
                <a:solidFill>
                  <a:srgbClr val="FFFFFF"/>
                </a:solidFill>
                <a:latin typeface="Courier New" pitchFamily="34" charset="0"/>
                <a:ea typeface="Courier New" pitchFamily="34" charset="-122"/>
                <a:cs typeface="Courier New" pitchFamily="34" charset="-120"/>
              </a:rPr>
              <a:t>fact_vulnerability</a:t>
            </a:r>
            <a:endParaRPr lang="en-US" sz="1150" dirty="0"/>
          </a:p>
        </p:txBody>
      </p:sp>
      <p:sp>
        <p:nvSpPr>
          <p:cNvPr id="8" name="Text 6"/>
          <p:cNvSpPr txBox="1"/>
          <p:nvPr/>
        </p:nvSpPr>
        <p:spPr>
          <a:xfrm>
            <a:off x="3017520" y="2240280"/>
            <a:ext cx="2377440" cy="2615184"/>
          </a:xfrm>
          <a:prstGeom prst="rect">
            <a:avLst/>
          </a:prstGeom>
          <a:noFill/>
          <a:ln/>
        </p:spPr>
        <p:txBody>
          <a:bodyPr wrap="square" lIns="0" tIns="0" rIns="0" bIns="0" rtlCol="0" anchor="t"/>
          <a:lstStyle/>
          <a:p>
            <a:pPr indent="0" marL="0">
              <a:lnSpc>
                <a:spcPts val="1300"/>
              </a:lnSpc>
              <a:buNone/>
            </a:pPr>
            <a:r>
              <a:rPr lang="en-US" sz="950" dirty="0">
                <a:solidFill>
                  <a:srgbClr val="1F2933"/>
                </a:solidFill>
                <a:latin typeface="Courier New" pitchFamily="34" charset="0"/>
                <a:ea typeface="Courier New" pitchFamily="34" charset="-122"/>
                <a:cs typeface="Courier New" pitchFamily="34" charset="-120"/>
              </a:rPr>
              <a:t>cve_id PK</a:t>
            </a:r>
            <a:endParaRPr lang="en-US" sz="950" dirty="0"/>
          </a:p>
          <a:p>
            <a:pPr indent="0" marL="0">
              <a:lnSpc>
                <a:spcPts val="1300"/>
              </a:lnSpc>
              <a:buNone/>
            </a:pPr>
            <a:r>
              <a:rPr lang="en-US" sz="950" dirty="0">
                <a:solidFill>
                  <a:srgbClr val="1F2933"/>
                </a:solidFill>
                <a:latin typeface="Courier New" pitchFamily="34" charset="0"/>
                <a:ea typeface="Courier New" pitchFamily="34" charset="-122"/>
                <a:cs typeface="Courier New" pitchFamily="34" charset="-120"/>
              </a:rPr>
              <a:t>published_date_key FK</a:t>
            </a:r>
            <a:endParaRPr lang="en-US" sz="950" dirty="0"/>
          </a:p>
          <a:p>
            <a:pPr indent="0" marL="0">
              <a:lnSpc>
                <a:spcPts val="1300"/>
              </a:lnSpc>
              <a:buNone/>
            </a:pPr>
            <a:r>
              <a:rPr lang="en-US" sz="950" dirty="0">
                <a:solidFill>
                  <a:srgbClr val="1F2933"/>
                </a:solidFill>
                <a:latin typeface="Courier New" pitchFamily="34" charset="0"/>
                <a:ea typeface="Courier New" pitchFamily="34" charset="-122"/>
                <a:cs typeface="Courier New" pitchFamily="34" charset="-120"/>
              </a:rPr>
              <a:t>product_key FK</a:t>
            </a:r>
            <a:endParaRPr lang="en-US" sz="950" dirty="0"/>
          </a:p>
          <a:p>
            <a:pPr indent="0" marL="0">
              <a:lnSpc>
                <a:spcPts val="1300"/>
              </a:lnSpc>
              <a:buNone/>
            </a:pPr>
            <a:r>
              <a:rPr lang="en-US" sz="950" dirty="0">
                <a:solidFill>
                  <a:srgbClr val="1F2933"/>
                </a:solidFill>
                <a:latin typeface="Courier New" pitchFamily="34" charset="0"/>
                <a:ea typeface="Courier New" pitchFamily="34" charset="-122"/>
                <a:cs typeface="Courier New" pitchFamily="34" charset="-120"/>
              </a:rPr>
              <a:t>cwe_key FK</a:t>
            </a:r>
            <a:endParaRPr lang="en-US" sz="950" dirty="0"/>
          </a:p>
          <a:p>
            <a:pPr indent="0" marL="0">
              <a:lnSpc>
                <a:spcPts val="1300"/>
              </a:lnSpc>
              <a:buNone/>
            </a:pPr>
            <a:r>
              <a:rPr lang="en-US" sz="950" dirty="0">
                <a:solidFill>
                  <a:srgbClr val="1F2933"/>
                </a:solidFill>
                <a:latin typeface="Courier New" pitchFamily="34" charset="0"/>
                <a:ea typeface="Courier New" pitchFamily="34" charset="-122"/>
                <a:cs typeface="Courier New" pitchFamily="34" charset="-120"/>
              </a:rPr>
              <a:t>severity_key FK</a:t>
            </a:r>
            <a:endParaRPr lang="en-US" sz="950" dirty="0"/>
          </a:p>
          <a:p>
            <a:pPr indent="0" marL="0">
              <a:lnSpc>
                <a:spcPts val="1300"/>
              </a:lnSpc>
              <a:buNone/>
            </a:pPr>
            <a:r>
              <a:rPr lang="en-US" sz="950" dirty="0">
                <a:solidFill>
                  <a:srgbClr val="1F2933"/>
                </a:solidFill>
                <a:latin typeface="Courier New" pitchFamily="34" charset="0"/>
                <a:ea typeface="Courier New" pitchFamily="34" charset="-122"/>
                <a:cs typeface="Courier New" pitchFamily="34" charset="-120"/>
              </a:rPr>
              <a:t>exploit_type_key FK</a:t>
            </a:r>
            <a:endParaRPr lang="en-US" sz="950" dirty="0"/>
          </a:p>
          <a:p>
            <a:pPr indent="0" marL="0">
              <a:lnSpc>
                <a:spcPts val="1300"/>
              </a:lnSpc>
              <a:buNone/>
            </a:pPr>
            <a:r>
              <a:rPr lang="en-US" sz="950" dirty="0">
                <a:solidFill>
                  <a:srgbClr val="1F2933"/>
                </a:solidFill>
                <a:latin typeface="Courier New" pitchFamily="34" charset="0"/>
                <a:ea typeface="Courier New" pitchFamily="34" charset="-122"/>
                <a:cs typeface="Courier New" pitchFamily="34" charset="-120"/>
              </a:rPr>
              <a:t>cvss_score</a:t>
            </a:r>
            <a:endParaRPr lang="en-US" sz="950" dirty="0"/>
          </a:p>
          <a:p>
            <a:pPr indent="0" marL="0">
              <a:lnSpc>
                <a:spcPts val="1300"/>
              </a:lnSpc>
              <a:buNone/>
            </a:pPr>
            <a:r>
              <a:rPr lang="en-US" sz="950" dirty="0">
                <a:solidFill>
                  <a:srgbClr val="1F2933"/>
                </a:solidFill>
                <a:latin typeface="Courier New" pitchFamily="34" charset="0"/>
                <a:ea typeface="Courier New" pitchFamily="34" charset="-122"/>
                <a:cs typeface="Courier New" pitchFamily="34" charset="-120"/>
              </a:rPr>
              <a:t>epss_score</a:t>
            </a:r>
            <a:endParaRPr lang="en-US" sz="950" dirty="0"/>
          </a:p>
          <a:p>
            <a:pPr indent="0" marL="0">
              <a:lnSpc>
                <a:spcPts val="1300"/>
              </a:lnSpc>
              <a:buNone/>
            </a:pPr>
            <a:r>
              <a:rPr lang="en-US" sz="950" dirty="0">
                <a:solidFill>
                  <a:srgbClr val="1F2933"/>
                </a:solidFill>
                <a:latin typeface="Courier New" pitchFamily="34" charset="0"/>
                <a:ea typeface="Courier New" pitchFamily="34" charset="-122"/>
                <a:cs typeface="Courier New" pitchFamily="34" charset="-120"/>
              </a:rPr>
              <a:t>epss_percentile</a:t>
            </a:r>
            <a:endParaRPr lang="en-US" sz="950" dirty="0"/>
          </a:p>
          <a:p>
            <a:pPr indent="0" marL="0">
              <a:lnSpc>
                <a:spcPts val="1300"/>
              </a:lnSpc>
              <a:buNone/>
            </a:pPr>
            <a:r>
              <a:rPr lang="en-US" sz="950" dirty="0">
                <a:solidFill>
                  <a:srgbClr val="1F2933"/>
                </a:solidFill>
                <a:latin typeface="Courier New" pitchFamily="34" charset="0"/>
                <a:ea typeface="Courier New" pitchFamily="34" charset="-122"/>
                <a:cs typeface="Courier New" pitchFamily="34" charset="-120"/>
              </a:rPr>
              <a:t>affected_products</a:t>
            </a:r>
            <a:endParaRPr lang="en-US" sz="950" dirty="0"/>
          </a:p>
          <a:p>
            <a:pPr indent="0" marL="0">
              <a:lnSpc>
                <a:spcPts val="1300"/>
              </a:lnSpc>
              <a:buNone/>
            </a:pPr>
            <a:r>
              <a:rPr lang="en-US" sz="950" dirty="0">
                <a:solidFill>
                  <a:srgbClr val="1F2933"/>
                </a:solidFill>
                <a:latin typeface="Courier New" pitchFamily="34" charset="0"/>
                <a:ea typeface="Courier New" pitchFamily="34" charset="-122"/>
                <a:cs typeface="Courier New" pitchFamily="34" charset="-120"/>
              </a:rPr>
              <a:t>is_in_kev</a:t>
            </a:r>
            <a:endParaRPr lang="en-US" sz="950" dirty="0"/>
          </a:p>
        </p:txBody>
      </p:sp>
      <p:sp>
        <p:nvSpPr>
          <p:cNvPr id="9" name="Shape 7"/>
          <p:cNvSpPr/>
          <p:nvPr/>
        </p:nvSpPr>
        <p:spPr>
          <a:xfrm>
            <a:off x="9144000" y="1828800"/>
            <a:ext cx="2587752" cy="2834640"/>
          </a:xfrm>
          <a:prstGeom prst="rect">
            <a:avLst/>
          </a:prstGeom>
          <a:solidFill>
            <a:srgbClr val="FFFFFF"/>
          </a:solidFill>
          <a:ln w="15875">
            <a:solidFill>
              <a:srgbClr val="C8102E"/>
            </a:solidFill>
            <a:prstDash val="solid"/>
          </a:ln>
        </p:spPr>
      </p:sp>
      <p:sp>
        <p:nvSpPr>
          <p:cNvPr id="10" name="Shape 8"/>
          <p:cNvSpPr/>
          <p:nvPr/>
        </p:nvSpPr>
        <p:spPr>
          <a:xfrm>
            <a:off x="9144000" y="1828800"/>
            <a:ext cx="2587752" cy="365760"/>
          </a:xfrm>
          <a:prstGeom prst="rect">
            <a:avLst/>
          </a:prstGeom>
          <a:solidFill>
            <a:srgbClr val="C8102E"/>
          </a:solidFill>
          <a:ln w="15875">
            <a:solidFill>
              <a:srgbClr val="C8102E"/>
            </a:solidFill>
            <a:prstDash val="solid"/>
          </a:ln>
        </p:spPr>
      </p:sp>
      <p:sp>
        <p:nvSpPr>
          <p:cNvPr id="11" name="Text 9"/>
          <p:cNvSpPr txBox="1"/>
          <p:nvPr/>
        </p:nvSpPr>
        <p:spPr>
          <a:xfrm>
            <a:off x="9235440" y="1828800"/>
            <a:ext cx="2404872" cy="365760"/>
          </a:xfrm>
          <a:prstGeom prst="rect">
            <a:avLst/>
          </a:prstGeom>
          <a:noFill/>
          <a:ln/>
        </p:spPr>
        <p:txBody>
          <a:bodyPr wrap="square" lIns="0" tIns="0" rIns="0" bIns="0" rtlCol="0" anchor="ctr"/>
          <a:lstStyle/>
          <a:p>
            <a:pPr indent="0" marL="0">
              <a:buNone/>
            </a:pPr>
            <a:r>
              <a:rPr lang="en-US" sz="1150" b="1" dirty="0">
                <a:solidFill>
                  <a:srgbClr val="FFFFFF"/>
                </a:solidFill>
                <a:latin typeface="Courier New" pitchFamily="34" charset="0"/>
                <a:ea typeface="Courier New" pitchFamily="34" charset="-122"/>
                <a:cs typeface="Courier New" pitchFamily="34" charset="-120"/>
              </a:rPr>
              <a:t>fact_kev_addition</a:t>
            </a:r>
            <a:endParaRPr lang="en-US" sz="1150" dirty="0"/>
          </a:p>
        </p:txBody>
      </p:sp>
      <p:sp>
        <p:nvSpPr>
          <p:cNvPr id="12" name="Text 10"/>
          <p:cNvSpPr txBox="1"/>
          <p:nvPr/>
        </p:nvSpPr>
        <p:spPr>
          <a:xfrm>
            <a:off x="9235440" y="2240280"/>
            <a:ext cx="2404872" cy="2377440"/>
          </a:xfrm>
          <a:prstGeom prst="rect">
            <a:avLst/>
          </a:prstGeom>
          <a:noFill/>
          <a:ln/>
        </p:spPr>
        <p:txBody>
          <a:bodyPr wrap="square" lIns="0" tIns="0" rIns="0" bIns="0" rtlCol="0" anchor="t"/>
          <a:lstStyle/>
          <a:p>
            <a:pPr indent="0" marL="0">
              <a:lnSpc>
                <a:spcPts val="1300"/>
              </a:lnSpc>
              <a:buNone/>
            </a:pPr>
            <a:r>
              <a:rPr lang="en-US" sz="950" dirty="0">
                <a:solidFill>
                  <a:srgbClr val="1F2933"/>
                </a:solidFill>
                <a:latin typeface="Courier New" pitchFamily="34" charset="0"/>
                <a:ea typeface="Courier New" pitchFamily="34" charset="-122"/>
                <a:cs typeface="Courier New" pitchFamily="34" charset="-120"/>
              </a:rPr>
              <a:t>cve_id PK</a:t>
            </a:r>
            <a:endParaRPr lang="en-US" sz="950" dirty="0"/>
          </a:p>
          <a:p>
            <a:pPr indent="0" marL="0">
              <a:lnSpc>
                <a:spcPts val="1300"/>
              </a:lnSpc>
              <a:buNone/>
            </a:pPr>
            <a:r>
              <a:rPr lang="en-US" sz="950" dirty="0">
                <a:solidFill>
                  <a:srgbClr val="1F2933"/>
                </a:solidFill>
                <a:latin typeface="Courier New" pitchFamily="34" charset="0"/>
                <a:ea typeface="Courier New" pitchFamily="34" charset="-122"/>
                <a:cs typeface="Courier New" pitchFamily="34" charset="-120"/>
              </a:rPr>
              <a:t>date_added_key FK</a:t>
            </a:r>
            <a:endParaRPr lang="en-US" sz="950" dirty="0"/>
          </a:p>
          <a:p>
            <a:pPr indent="0" marL="0">
              <a:lnSpc>
                <a:spcPts val="1300"/>
              </a:lnSpc>
              <a:buNone/>
            </a:pPr>
            <a:r>
              <a:rPr lang="en-US" sz="950" dirty="0">
                <a:solidFill>
                  <a:srgbClr val="1F2933"/>
                </a:solidFill>
                <a:latin typeface="Courier New" pitchFamily="34" charset="0"/>
                <a:ea typeface="Courier New" pitchFamily="34" charset="-122"/>
                <a:cs typeface="Courier New" pitchFamily="34" charset="-120"/>
              </a:rPr>
              <a:t>due_date_key FK</a:t>
            </a:r>
            <a:endParaRPr lang="en-US" sz="950" dirty="0"/>
          </a:p>
          <a:p>
            <a:pPr indent="0" marL="0">
              <a:lnSpc>
                <a:spcPts val="1300"/>
              </a:lnSpc>
              <a:buNone/>
            </a:pPr>
            <a:r>
              <a:rPr lang="en-US" sz="950" dirty="0">
                <a:solidFill>
                  <a:srgbClr val="1F2933"/>
                </a:solidFill>
                <a:latin typeface="Courier New" pitchFamily="34" charset="0"/>
                <a:ea typeface="Courier New" pitchFamily="34" charset="-122"/>
                <a:cs typeface="Courier New" pitchFamily="34" charset="-120"/>
              </a:rPr>
              <a:t>published_date_key FK</a:t>
            </a:r>
            <a:endParaRPr lang="en-US" sz="950" dirty="0"/>
          </a:p>
          <a:p>
            <a:pPr indent="0" marL="0">
              <a:lnSpc>
                <a:spcPts val="1300"/>
              </a:lnSpc>
              <a:buNone/>
            </a:pPr>
            <a:r>
              <a:rPr lang="en-US" sz="950" dirty="0">
                <a:solidFill>
                  <a:srgbClr val="1F2933"/>
                </a:solidFill>
                <a:latin typeface="Courier New" pitchFamily="34" charset="0"/>
                <a:ea typeface="Courier New" pitchFamily="34" charset="-122"/>
                <a:cs typeface="Courier New" pitchFamily="34" charset="-120"/>
              </a:rPr>
              <a:t>product_key FK</a:t>
            </a:r>
            <a:endParaRPr lang="en-US" sz="950" dirty="0"/>
          </a:p>
          <a:p>
            <a:pPr indent="0" marL="0">
              <a:lnSpc>
                <a:spcPts val="1300"/>
              </a:lnSpc>
              <a:buNone/>
            </a:pPr>
            <a:r>
              <a:rPr lang="en-US" sz="950" dirty="0">
                <a:solidFill>
                  <a:srgbClr val="1F2933"/>
                </a:solidFill>
                <a:latin typeface="Courier New" pitchFamily="34" charset="0"/>
                <a:ea typeface="Courier New" pitchFamily="34" charset="-122"/>
                <a:cs typeface="Courier New" pitchFamily="34" charset="-120"/>
              </a:rPr>
              <a:t>cwe_key FK</a:t>
            </a:r>
            <a:endParaRPr lang="en-US" sz="950" dirty="0"/>
          </a:p>
          <a:p>
            <a:pPr indent="0" marL="0">
              <a:lnSpc>
                <a:spcPts val="1300"/>
              </a:lnSpc>
              <a:buNone/>
            </a:pPr>
            <a:r>
              <a:rPr lang="en-US" sz="950" dirty="0">
                <a:solidFill>
                  <a:srgbClr val="1F2933"/>
                </a:solidFill>
                <a:latin typeface="Courier New" pitchFamily="34" charset="0"/>
                <a:ea typeface="Courier New" pitchFamily="34" charset="-122"/>
                <a:cs typeface="Courier New" pitchFamily="34" charset="-120"/>
              </a:rPr>
              <a:t>is_ransomware</a:t>
            </a:r>
            <a:endParaRPr lang="en-US" sz="950" dirty="0"/>
          </a:p>
          <a:p>
            <a:pPr indent="0" marL="0">
              <a:lnSpc>
                <a:spcPts val="1300"/>
              </a:lnSpc>
              <a:buNone/>
            </a:pPr>
            <a:r>
              <a:rPr lang="en-US" sz="950" dirty="0">
                <a:solidFill>
                  <a:srgbClr val="1F2933"/>
                </a:solidFill>
                <a:latin typeface="Courier New" pitchFamily="34" charset="0"/>
                <a:ea typeface="Courier New" pitchFamily="34" charset="-122"/>
                <a:cs typeface="Courier New" pitchFamily="34" charset="-120"/>
              </a:rPr>
              <a:t>in_nvd_snapshot</a:t>
            </a:r>
            <a:endParaRPr lang="en-US" sz="950" dirty="0"/>
          </a:p>
          <a:p>
            <a:pPr indent="0" marL="0">
              <a:lnSpc>
                <a:spcPts val="1300"/>
              </a:lnSpc>
              <a:buNone/>
            </a:pPr>
            <a:r>
              <a:rPr lang="en-US" sz="950" dirty="0">
                <a:solidFill>
                  <a:srgbClr val="1F2933"/>
                </a:solidFill>
                <a:latin typeface="Courier New" pitchFamily="34" charset="0"/>
                <a:ea typeface="Courier New" pitchFamily="34" charset="-122"/>
                <a:cs typeface="Courier New" pitchFamily="34" charset="-120"/>
              </a:rPr>
              <a:t>days_to_kev</a:t>
            </a:r>
            <a:endParaRPr lang="en-US" sz="950" dirty="0"/>
          </a:p>
          <a:p>
            <a:pPr indent="0" marL="0">
              <a:lnSpc>
                <a:spcPts val="1300"/>
              </a:lnSpc>
              <a:buNone/>
            </a:pPr>
            <a:r>
              <a:rPr lang="en-US" sz="950" dirty="0">
                <a:solidFill>
                  <a:srgbClr val="1F2933"/>
                </a:solidFill>
                <a:latin typeface="Courier New" pitchFamily="34" charset="0"/>
                <a:ea typeface="Courier New" pitchFamily="34" charset="-122"/>
                <a:cs typeface="Courier New" pitchFamily="34" charset="-120"/>
              </a:rPr>
              <a:t>remediation_days</a:t>
            </a:r>
            <a:endParaRPr lang="en-US" sz="950" dirty="0"/>
          </a:p>
        </p:txBody>
      </p:sp>
      <p:sp>
        <p:nvSpPr>
          <p:cNvPr id="13" name="Shape 11"/>
          <p:cNvSpPr/>
          <p:nvPr/>
        </p:nvSpPr>
        <p:spPr>
          <a:xfrm>
            <a:off x="6080760" y="1463040"/>
            <a:ext cx="2468880" cy="1170432"/>
          </a:xfrm>
          <a:prstGeom prst="rect">
            <a:avLst/>
          </a:prstGeom>
          <a:solidFill>
            <a:srgbClr val="FFFFFF"/>
          </a:solidFill>
          <a:ln w="15875">
            <a:solidFill>
              <a:srgbClr val="148C8C"/>
            </a:solidFill>
            <a:prstDash val="solid"/>
          </a:ln>
        </p:spPr>
      </p:sp>
      <p:sp>
        <p:nvSpPr>
          <p:cNvPr id="14" name="Shape 12"/>
          <p:cNvSpPr/>
          <p:nvPr/>
        </p:nvSpPr>
        <p:spPr>
          <a:xfrm>
            <a:off x="6080760" y="1463040"/>
            <a:ext cx="2468880" cy="365760"/>
          </a:xfrm>
          <a:prstGeom prst="rect">
            <a:avLst/>
          </a:prstGeom>
          <a:solidFill>
            <a:srgbClr val="148C8C"/>
          </a:solidFill>
          <a:ln w="15875">
            <a:solidFill>
              <a:srgbClr val="148C8C"/>
            </a:solidFill>
            <a:prstDash val="solid"/>
          </a:ln>
        </p:spPr>
      </p:sp>
      <p:sp>
        <p:nvSpPr>
          <p:cNvPr id="15" name="Text 13"/>
          <p:cNvSpPr txBox="1"/>
          <p:nvPr/>
        </p:nvSpPr>
        <p:spPr>
          <a:xfrm>
            <a:off x="6172200" y="1463040"/>
            <a:ext cx="2286000" cy="365760"/>
          </a:xfrm>
          <a:prstGeom prst="rect">
            <a:avLst/>
          </a:prstGeom>
          <a:noFill/>
          <a:ln/>
        </p:spPr>
        <p:txBody>
          <a:bodyPr wrap="square" lIns="0" tIns="0" rIns="0" bIns="0" rtlCol="0" anchor="ctr"/>
          <a:lstStyle/>
          <a:p>
            <a:pPr indent="0" marL="0">
              <a:buNone/>
            </a:pPr>
            <a:r>
              <a:rPr lang="en-US" sz="1150" b="1" dirty="0">
                <a:solidFill>
                  <a:srgbClr val="FFFFFF"/>
                </a:solidFill>
                <a:latin typeface="Courier New" pitchFamily="34" charset="0"/>
                <a:ea typeface="Courier New" pitchFamily="34" charset="-122"/>
                <a:cs typeface="Courier New" pitchFamily="34" charset="-120"/>
              </a:rPr>
              <a:t>dim_date</a:t>
            </a:r>
            <a:endParaRPr lang="en-US" sz="1150" dirty="0"/>
          </a:p>
        </p:txBody>
      </p:sp>
      <p:sp>
        <p:nvSpPr>
          <p:cNvPr id="16" name="Text 14"/>
          <p:cNvSpPr txBox="1"/>
          <p:nvPr/>
        </p:nvSpPr>
        <p:spPr>
          <a:xfrm>
            <a:off x="6172200" y="1874520"/>
            <a:ext cx="2286000" cy="713232"/>
          </a:xfrm>
          <a:prstGeom prst="rect">
            <a:avLst/>
          </a:prstGeom>
          <a:noFill/>
          <a:ln/>
        </p:spPr>
        <p:txBody>
          <a:bodyPr wrap="square" lIns="0" tIns="0" rIns="0" bIns="0" rtlCol="0" anchor="t"/>
          <a:lstStyle/>
          <a:p>
            <a:pPr indent="0" marL="0">
              <a:lnSpc>
                <a:spcPts val="1300"/>
              </a:lnSpc>
              <a:buNone/>
            </a:pPr>
            <a:r>
              <a:rPr lang="en-US" sz="950" dirty="0">
                <a:solidFill>
                  <a:srgbClr val="1F2933"/>
                </a:solidFill>
                <a:latin typeface="Courier New" pitchFamily="34" charset="0"/>
                <a:ea typeface="Courier New" pitchFamily="34" charset="-122"/>
                <a:cs typeface="Courier New" pitchFamily="34" charset="-120"/>
              </a:rPr>
              <a:t>date_key PK (YYYYMMDD)</a:t>
            </a:r>
            <a:endParaRPr lang="en-US" sz="950" dirty="0"/>
          </a:p>
          <a:p>
            <a:pPr indent="0" marL="0">
              <a:lnSpc>
                <a:spcPts val="1300"/>
              </a:lnSpc>
              <a:buNone/>
            </a:pPr>
            <a:r>
              <a:rPr lang="en-US" sz="950" dirty="0">
                <a:solidFill>
                  <a:srgbClr val="1F2933"/>
                </a:solidFill>
                <a:latin typeface="Courier New" pitchFamily="34" charset="0"/>
                <a:ea typeface="Courier New" pitchFamily="34" charset="-122"/>
                <a:cs typeface="Courier New" pitchFamily="34" charset="-120"/>
              </a:rPr>
              <a:t>full_date</a:t>
            </a:r>
            <a:endParaRPr lang="en-US" sz="950" dirty="0"/>
          </a:p>
          <a:p>
            <a:pPr indent="0" marL="0">
              <a:lnSpc>
                <a:spcPts val="1300"/>
              </a:lnSpc>
              <a:buNone/>
            </a:pPr>
            <a:r>
              <a:rPr lang="en-US" sz="950" dirty="0">
                <a:solidFill>
                  <a:srgbClr val="1F2933"/>
                </a:solidFill>
                <a:latin typeface="Courier New" pitchFamily="34" charset="0"/>
                <a:ea typeface="Courier New" pitchFamily="34" charset="-122"/>
                <a:cs typeface="Courier New" pitchFamily="34" charset="-120"/>
              </a:rPr>
              <a:t>month, quarter, year</a:t>
            </a:r>
            <a:endParaRPr lang="en-US" sz="950" dirty="0"/>
          </a:p>
        </p:txBody>
      </p:sp>
      <p:sp>
        <p:nvSpPr>
          <p:cNvPr id="17" name="Shape 15"/>
          <p:cNvSpPr/>
          <p:nvPr/>
        </p:nvSpPr>
        <p:spPr>
          <a:xfrm>
            <a:off x="6080760" y="2971800"/>
            <a:ext cx="2468880" cy="1170432"/>
          </a:xfrm>
          <a:prstGeom prst="rect">
            <a:avLst/>
          </a:prstGeom>
          <a:solidFill>
            <a:srgbClr val="FFFFFF"/>
          </a:solidFill>
          <a:ln w="15875">
            <a:solidFill>
              <a:srgbClr val="148C8C"/>
            </a:solidFill>
            <a:prstDash val="solid"/>
          </a:ln>
        </p:spPr>
      </p:sp>
      <p:sp>
        <p:nvSpPr>
          <p:cNvPr id="18" name="Shape 16"/>
          <p:cNvSpPr/>
          <p:nvPr/>
        </p:nvSpPr>
        <p:spPr>
          <a:xfrm>
            <a:off x="6080760" y="2971800"/>
            <a:ext cx="2468880" cy="365760"/>
          </a:xfrm>
          <a:prstGeom prst="rect">
            <a:avLst/>
          </a:prstGeom>
          <a:solidFill>
            <a:srgbClr val="148C8C"/>
          </a:solidFill>
          <a:ln w="15875">
            <a:solidFill>
              <a:srgbClr val="148C8C"/>
            </a:solidFill>
            <a:prstDash val="solid"/>
          </a:ln>
        </p:spPr>
      </p:sp>
      <p:sp>
        <p:nvSpPr>
          <p:cNvPr id="19" name="Text 17"/>
          <p:cNvSpPr txBox="1"/>
          <p:nvPr/>
        </p:nvSpPr>
        <p:spPr>
          <a:xfrm>
            <a:off x="6172200" y="2971800"/>
            <a:ext cx="2286000" cy="365760"/>
          </a:xfrm>
          <a:prstGeom prst="rect">
            <a:avLst/>
          </a:prstGeom>
          <a:noFill/>
          <a:ln/>
        </p:spPr>
        <p:txBody>
          <a:bodyPr wrap="square" lIns="0" tIns="0" rIns="0" bIns="0" rtlCol="0" anchor="ctr"/>
          <a:lstStyle/>
          <a:p>
            <a:pPr indent="0" marL="0">
              <a:buNone/>
            </a:pPr>
            <a:r>
              <a:rPr lang="en-US" sz="1150" b="1" dirty="0">
                <a:solidFill>
                  <a:srgbClr val="FFFFFF"/>
                </a:solidFill>
                <a:latin typeface="Courier New" pitchFamily="34" charset="0"/>
                <a:ea typeface="Courier New" pitchFamily="34" charset="-122"/>
                <a:cs typeface="Courier New" pitchFamily="34" charset="-120"/>
              </a:rPr>
              <a:t>dim_product</a:t>
            </a:r>
            <a:endParaRPr lang="en-US" sz="1150" dirty="0"/>
          </a:p>
        </p:txBody>
      </p:sp>
      <p:sp>
        <p:nvSpPr>
          <p:cNvPr id="20" name="Text 18"/>
          <p:cNvSpPr txBox="1"/>
          <p:nvPr/>
        </p:nvSpPr>
        <p:spPr>
          <a:xfrm>
            <a:off x="6172200" y="3383280"/>
            <a:ext cx="2286000" cy="713232"/>
          </a:xfrm>
          <a:prstGeom prst="rect">
            <a:avLst/>
          </a:prstGeom>
          <a:noFill/>
          <a:ln/>
        </p:spPr>
        <p:txBody>
          <a:bodyPr wrap="square" lIns="0" tIns="0" rIns="0" bIns="0" rtlCol="0" anchor="t"/>
          <a:lstStyle/>
          <a:p>
            <a:pPr indent="0" marL="0">
              <a:lnSpc>
                <a:spcPts val="1300"/>
              </a:lnSpc>
              <a:buNone/>
            </a:pPr>
            <a:r>
              <a:rPr lang="en-US" sz="950" dirty="0">
                <a:solidFill>
                  <a:srgbClr val="1F2933"/>
                </a:solidFill>
                <a:latin typeface="Courier New" pitchFamily="34" charset="0"/>
                <a:ea typeface="Courier New" pitchFamily="34" charset="-122"/>
                <a:cs typeface="Courier New" pitchFamily="34" charset="-120"/>
              </a:rPr>
              <a:t>product_key PK</a:t>
            </a:r>
            <a:endParaRPr lang="en-US" sz="950" dirty="0"/>
          </a:p>
          <a:p>
            <a:pPr indent="0" marL="0">
              <a:lnSpc>
                <a:spcPts val="1300"/>
              </a:lnSpc>
              <a:buNone/>
            </a:pPr>
            <a:r>
              <a:rPr lang="en-US" sz="950" dirty="0">
                <a:solidFill>
                  <a:srgbClr val="1F2933"/>
                </a:solidFill>
                <a:latin typeface="Courier New" pitchFamily="34" charset="0"/>
                <a:ea typeface="Courier New" pitchFamily="34" charset="-122"/>
                <a:cs typeface="Courier New" pitchFamily="34" charset="-120"/>
              </a:rPr>
              <a:t>vendor, product</a:t>
            </a:r>
            <a:endParaRPr lang="en-US" sz="950" dirty="0"/>
          </a:p>
          <a:p>
            <a:pPr indent="0" marL="0">
              <a:lnSpc>
                <a:spcPts val="1300"/>
              </a:lnSpc>
              <a:buNone/>
            </a:pPr>
            <a:r>
              <a:rPr lang="en-US" sz="950" dirty="0">
                <a:solidFill>
                  <a:srgbClr val="1F2933"/>
                </a:solidFill>
                <a:latin typeface="Courier New" pitchFamily="34" charset="0"/>
                <a:ea typeface="Courier New" pitchFamily="34" charset="-122"/>
                <a:cs typeface="Courier New" pitchFamily="34" charset="-120"/>
              </a:rPr>
              <a:t>product_type</a:t>
            </a:r>
            <a:endParaRPr lang="en-US" sz="950" dirty="0"/>
          </a:p>
        </p:txBody>
      </p:sp>
      <p:sp>
        <p:nvSpPr>
          <p:cNvPr id="21" name="Shape 19"/>
          <p:cNvSpPr/>
          <p:nvPr/>
        </p:nvSpPr>
        <p:spPr>
          <a:xfrm>
            <a:off x="6080760" y="4480560"/>
            <a:ext cx="2468880" cy="1170432"/>
          </a:xfrm>
          <a:prstGeom prst="rect">
            <a:avLst/>
          </a:prstGeom>
          <a:solidFill>
            <a:srgbClr val="FFFFFF"/>
          </a:solidFill>
          <a:ln w="15875">
            <a:solidFill>
              <a:srgbClr val="148C8C"/>
            </a:solidFill>
            <a:prstDash val="solid"/>
          </a:ln>
        </p:spPr>
      </p:sp>
      <p:sp>
        <p:nvSpPr>
          <p:cNvPr id="22" name="Shape 20"/>
          <p:cNvSpPr/>
          <p:nvPr/>
        </p:nvSpPr>
        <p:spPr>
          <a:xfrm>
            <a:off x="6080760" y="4480560"/>
            <a:ext cx="2468880" cy="365760"/>
          </a:xfrm>
          <a:prstGeom prst="rect">
            <a:avLst/>
          </a:prstGeom>
          <a:solidFill>
            <a:srgbClr val="148C8C"/>
          </a:solidFill>
          <a:ln w="15875">
            <a:solidFill>
              <a:srgbClr val="148C8C"/>
            </a:solidFill>
            <a:prstDash val="solid"/>
          </a:ln>
        </p:spPr>
      </p:sp>
      <p:sp>
        <p:nvSpPr>
          <p:cNvPr id="23" name="Text 21"/>
          <p:cNvSpPr txBox="1"/>
          <p:nvPr/>
        </p:nvSpPr>
        <p:spPr>
          <a:xfrm>
            <a:off x="6172200" y="4480560"/>
            <a:ext cx="2286000" cy="365760"/>
          </a:xfrm>
          <a:prstGeom prst="rect">
            <a:avLst/>
          </a:prstGeom>
          <a:noFill/>
          <a:ln/>
        </p:spPr>
        <p:txBody>
          <a:bodyPr wrap="square" lIns="0" tIns="0" rIns="0" bIns="0" rtlCol="0" anchor="ctr"/>
          <a:lstStyle/>
          <a:p>
            <a:pPr indent="0" marL="0">
              <a:buNone/>
            </a:pPr>
            <a:r>
              <a:rPr lang="en-US" sz="1150" b="1" dirty="0">
                <a:solidFill>
                  <a:srgbClr val="FFFFFF"/>
                </a:solidFill>
                <a:latin typeface="Courier New" pitchFamily="34" charset="0"/>
                <a:ea typeface="Courier New" pitchFamily="34" charset="-122"/>
                <a:cs typeface="Courier New" pitchFamily="34" charset="-120"/>
              </a:rPr>
              <a:t>dim_cwe</a:t>
            </a:r>
            <a:endParaRPr lang="en-US" sz="1150" dirty="0"/>
          </a:p>
        </p:txBody>
      </p:sp>
      <p:sp>
        <p:nvSpPr>
          <p:cNvPr id="24" name="Text 22"/>
          <p:cNvSpPr txBox="1"/>
          <p:nvPr/>
        </p:nvSpPr>
        <p:spPr>
          <a:xfrm>
            <a:off x="6172200" y="4892040"/>
            <a:ext cx="2286000" cy="713232"/>
          </a:xfrm>
          <a:prstGeom prst="rect">
            <a:avLst/>
          </a:prstGeom>
          <a:noFill/>
          <a:ln/>
        </p:spPr>
        <p:txBody>
          <a:bodyPr wrap="square" lIns="0" tIns="0" rIns="0" bIns="0" rtlCol="0" anchor="t"/>
          <a:lstStyle/>
          <a:p>
            <a:pPr indent="0" marL="0">
              <a:lnSpc>
                <a:spcPts val="1300"/>
              </a:lnSpc>
              <a:buNone/>
            </a:pPr>
            <a:r>
              <a:rPr lang="en-US" sz="950" dirty="0">
                <a:solidFill>
                  <a:srgbClr val="1F2933"/>
                </a:solidFill>
                <a:latin typeface="Courier New" pitchFamily="34" charset="0"/>
                <a:ea typeface="Courier New" pitchFamily="34" charset="-122"/>
                <a:cs typeface="Courier New" pitchFamily="34" charset="-120"/>
              </a:rPr>
              <a:t>cwe_key PK</a:t>
            </a:r>
            <a:endParaRPr lang="en-US" sz="950" dirty="0"/>
          </a:p>
          <a:p>
            <a:pPr indent="0" marL="0">
              <a:lnSpc>
                <a:spcPts val="1300"/>
              </a:lnSpc>
              <a:buNone/>
            </a:pPr>
            <a:r>
              <a:rPr lang="en-US" sz="950" dirty="0">
                <a:solidFill>
                  <a:srgbClr val="1F2933"/>
                </a:solidFill>
                <a:latin typeface="Courier New" pitchFamily="34" charset="0"/>
                <a:ea typeface="Courier New" pitchFamily="34" charset="-122"/>
                <a:cs typeface="Courier New" pitchFamily="34" charset="-120"/>
              </a:rPr>
              <a:t>cwe_id, cwe_name</a:t>
            </a:r>
            <a:endParaRPr lang="en-US" sz="950" dirty="0"/>
          </a:p>
          <a:p>
            <a:pPr indent="0" marL="0">
              <a:lnSpc>
                <a:spcPts val="1300"/>
              </a:lnSpc>
              <a:buNone/>
            </a:pPr>
            <a:r>
              <a:rPr lang="en-US" sz="950" dirty="0">
                <a:solidFill>
                  <a:srgbClr val="1F2933"/>
                </a:solidFill>
                <a:latin typeface="Courier New" pitchFamily="34" charset="0"/>
                <a:ea typeface="Courier New" pitchFamily="34" charset="-122"/>
                <a:cs typeface="Courier New" pitchFamily="34" charset="-120"/>
              </a:rPr>
              <a:t>pillar_id, pillar_name</a:t>
            </a:r>
            <a:endParaRPr lang="en-US" sz="950" dirty="0"/>
          </a:p>
        </p:txBody>
      </p:sp>
      <p:sp>
        <p:nvSpPr>
          <p:cNvPr id="25" name="Shape 23"/>
          <p:cNvSpPr/>
          <p:nvPr/>
        </p:nvSpPr>
        <p:spPr>
          <a:xfrm>
            <a:off x="457200" y="1828800"/>
            <a:ext cx="2011680" cy="1408176"/>
          </a:xfrm>
          <a:prstGeom prst="rect">
            <a:avLst/>
          </a:prstGeom>
          <a:solidFill>
            <a:srgbClr val="FFFFFF"/>
          </a:solidFill>
          <a:ln w="15875">
            <a:solidFill>
              <a:srgbClr val="5B6B7C"/>
            </a:solidFill>
            <a:prstDash val="solid"/>
          </a:ln>
        </p:spPr>
      </p:sp>
      <p:sp>
        <p:nvSpPr>
          <p:cNvPr id="26" name="Shape 24"/>
          <p:cNvSpPr/>
          <p:nvPr/>
        </p:nvSpPr>
        <p:spPr>
          <a:xfrm>
            <a:off x="457200" y="1828800"/>
            <a:ext cx="2011680" cy="365760"/>
          </a:xfrm>
          <a:prstGeom prst="rect">
            <a:avLst/>
          </a:prstGeom>
          <a:solidFill>
            <a:srgbClr val="5B6B7C"/>
          </a:solidFill>
          <a:ln w="15875">
            <a:solidFill>
              <a:srgbClr val="5B6B7C"/>
            </a:solidFill>
            <a:prstDash val="solid"/>
          </a:ln>
        </p:spPr>
      </p:sp>
      <p:sp>
        <p:nvSpPr>
          <p:cNvPr id="27" name="Text 25"/>
          <p:cNvSpPr txBox="1"/>
          <p:nvPr/>
        </p:nvSpPr>
        <p:spPr>
          <a:xfrm>
            <a:off x="548640" y="1828800"/>
            <a:ext cx="1828800" cy="365760"/>
          </a:xfrm>
          <a:prstGeom prst="rect">
            <a:avLst/>
          </a:prstGeom>
          <a:noFill/>
          <a:ln/>
        </p:spPr>
        <p:txBody>
          <a:bodyPr wrap="square" lIns="0" tIns="0" rIns="0" bIns="0" rtlCol="0" anchor="ctr"/>
          <a:lstStyle/>
          <a:p>
            <a:pPr indent="0" marL="0">
              <a:buNone/>
            </a:pPr>
            <a:r>
              <a:rPr lang="en-US" sz="1150" b="1" dirty="0">
                <a:solidFill>
                  <a:srgbClr val="FFFFFF"/>
                </a:solidFill>
                <a:latin typeface="Courier New" pitchFamily="34" charset="0"/>
                <a:ea typeface="Courier New" pitchFamily="34" charset="-122"/>
                <a:cs typeface="Courier New" pitchFamily="34" charset="-120"/>
              </a:rPr>
              <a:t>dim_severity</a:t>
            </a:r>
            <a:endParaRPr lang="en-US" sz="1150" dirty="0"/>
          </a:p>
        </p:txBody>
      </p:sp>
      <p:sp>
        <p:nvSpPr>
          <p:cNvPr id="28" name="Text 26"/>
          <p:cNvSpPr txBox="1"/>
          <p:nvPr/>
        </p:nvSpPr>
        <p:spPr>
          <a:xfrm>
            <a:off x="548640" y="2240280"/>
            <a:ext cx="1828800" cy="950976"/>
          </a:xfrm>
          <a:prstGeom prst="rect">
            <a:avLst/>
          </a:prstGeom>
          <a:noFill/>
          <a:ln/>
        </p:spPr>
        <p:txBody>
          <a:bodyPr wrap="square" lIns="0" tIns="0" rIns="0" bIns="0" rtlCol="0" anchor="t"/>
          <a:lstStyle/>
          <a:p>
            <a:pPr indent="0" marL="0">
              <a:lnSpc>
                <a:spcPts val="1300"/>
              </a:lnSpc>
              <a:buNone/>
            </a:pPr>
            <a:r>
              <a:rPr lang="en-US" sz="950" dirty="0">
                <a:solidFill>
                  <a:srgbClr val="1F2933"/>
                </a:solidFill>
                <a:latin typeface="Courier New" pitchFamily="34" charset="0"/>
                <a:ea typeface="Courier New" pitchFamily="34" charset="-122"/>
                <a:cs typeface="Courier New" pitchFamily="34" charset="-120"/>
              </a:rPr>
              <a:t>severity_key PK</a:t>
            </a:r>
            <a:endParaRPr lang="en-US" sz="950" dirty="0"/>
          </a:p>
          <a:p>
            <a:pPr indent="0" marL="0">
              <a:lnSpc>
                <a:spcPts val="1300"/>
              </a:lnSpc>
              <a:buNone/>
            </a:pPr>
            <a:r>
              <a:rPr lang="en-US" sz="950" dirty="0">
                <a:solidFill>
                  <a:srgbClr val="1F2933"/>
                </a:solidFill>
                <a:latin typeface="Courier New" pitchFamily="34" charset="0"/>
                <a:ea typeface="Courier New" pitchFamily="34" charset="-122"/>
                <a:cs typeface="Courier New" pitchFamily="34" charset="-120"/>
              </a:rPr>
              <a:t>severity_level</a:t>
            </a:r>
            <a:endParaRPr lang="en-US" sz="950" dirty="0"/>
          </a:p>
          <a:p>
            <a:pPr indent="0" marL="0">
              <a:lnSpc>
                <a:spcPts val="1300"/>
              </a:lnSpc>
              <a:buNone/>
            </a:pPr>
            <a:r>
              <a:rPr lang="en-US" sz="950" dirty="0">
                <a:solidFill>
                  <a:srgbClr val="1F2933"/>
                </a:solidFill>
                <a:latin typeface="Courier New" pitchFamily="34" charset="0"/>
                <a:ea typeface="Courier New" pitchFamily="34" charset="-122"/>
                <a:cs typeface="Courier New" pitchFamily="34" charset="-120"/>
              </a:rPr>
              <a:t>attack_vector</a:t>
            </a:r>
            <a:endParaRPr lang="en-US" sz="950" dirty="0"/>
          </a:p>
          <a:p>
            <a:pPr indent="0" marL="0">
              <a:lnSpc>
                <a:spcPts val="1300"/>
              </a:lnSpc>
              <a:buNone/>
            </a:pPr>
            <a:r>
              <a:rPr lang="en-US" sz="950" dirty="0">
                <a:solidFill>
                  <a:srgbClr val="1F2933"/>
                </a:solidFill>
                <a:latin typeface="Courier New" pitchFamily="34" charset="0"/>
                <a:ea typeface="Courier New" pitchFamily="34" charset="-122"/>
                <a:cs typeface="Courier New" pitchFamily="34" charset="-120"/>
              </a:rPr>
              <a:t>attack_complexity</a:t>
            </a:r>
            <a:endParaRPr lang="en-US" sz="950" dirty="0"/>
          </a:p>
        </p:txBody>
      </p:sp>
      <p:sp>
        <p:nvSpPr>
          <p:cNvPr id="29" name="Shape 27"/>
          <p:cNvSpPr/>
          <p:nvPr/>
        </p:nvSpPr>
        <p:spPr>
          <a:xfrm>
            <a:off x="457200" y="3657600"/>
            <a:ext cx="2011680" cy="1408176"/>
          </a:xfrm>
          <a:prstGeom prst="rect">
            <a:avLst/>
          </a:prstGeom>
          <a:solidFill>
            <a:srgbClr val="FFFFFF"/>
          </a:solidFill>
          <a:ln w="15875">
            <a:solidFill>
              <a:srgbClr val="5B6B7C"/>
            </a:solidFill>
            <a:prstDash val="solid"/>
          </a:ln>
        </p:spPr>
      </p:sp>
      <p:sp>
        <p:nvSpPr>
          <p:cNvPr id="30" name="Shape 28"/>
          <p:cNvSpPr/>
          <p:nvPr/>
        </p:nvSpPr>
        <p:spPr>
          <a:xfrm>
            <a:off x="457200" y="3657600"/>
            <a:ext cx="2011680" cy="365760"/>
          </a:xfrm>
          <a:prstGeom prst="rect">
            <a:avLst/>
          </a:prstGeom>
          <a:solidFill>
            <a:srgbClr val="5B6B7C"/>
          </a:solidFill>
          <a:ln w="15875">
            <a:solidFill>
              <a:srgbClr val="5B6B7C"/>
            </a:solidFill>
            <a:prstDash val="solid"/>
          </a:ln>
        </p:spPr>
      </p:sp>
      <p:sp>
        <p:nvSpPr>
          <p:cNvPr id="31" name="Text 29"/>
          <p:cNvSpPr txBox="1"/>
          <p:nvPr/>
        </p:nvSpPr>
        <p:spPr>
          <a:xfrm>
            <a:off x="548640" y="3657600"/>
            <a:ext cx="1828800" cy="365760"/>
          </a:xfrm>
          <a:prstGeom prst="rect">
            <a:avLst/>
          </a:prstGeom>
          <a:noFill/>
          <a:ln/>
        </p:spPr>
        <p:txBody>
          <a:bodyPr wrap="square" lIns="0" tIns="0" rIns="0" bIns="0" rtlCol="0" anchor="ctr"/>
          <a:lstStyle/>
          <a:p>
            <a:pPr indent="0" marL="0">
              <a:buNone/>
            </a:pPr>
            <a:r>
              <a:rPr lang="en-US" sz="1150" b="1" dirty="0">
                <a:solidFill>
                  <a:srgbClr val="FFFFFF"/>
                </a:solidFill>
                <a:latin typeface="Courier New" pitchFamily="34" charset="0"/>
                <a:ea typeface="Courier New" pitchFamily="34" charset="-122"/>
                <a:cs typeface="Courier New" pitchFamily="34" charset="-120"/>
              </a:rPr>
              <a:t>dim_exploit_type</a:t>
            </a:r>
            <a:endParaRPr lang="en-US" sz="1150" dirty="0"/>
          </a:p>
        </p:txBody>
      </p:sp>
      <p:sp>
        <p:nvSpPr>
          <p:cNvPr id="32" name="Text 30"/>
          <p:cNvSpPr txBox="1"/>
          <p:nvPr/>
        </p:nvSpPr>
        <p:spPr>
          <a:xfrm>
            <a:off x="548640" y="4069080"/>
            <a:ext cx="1828800" cy="950976"/>
          </a:xfrm>
          <a:prstGeom prst="rect">
            <a:avLst/>
          </a:prstGeom>
          <a:noFill/>
          <a:ln/>
        </p:spPr>
        <p:txBody>
          <a:bodyPr wrap="square" lIns="0" tIns="0" rIns="0" bIns="0" rtlCol="0" anchor="t"/>
          <a:lstStyle/>
          <a:p>
            <a:pPr indent="0" marL="0">
              <a:lnSpc>
                <a:spcPts val="1300"/>
              </a:lnSpc>
              <a:buNone/>
            </a:pPr>
            <a:r>
              <a:rPr lang="en-US" sz="950" dirty="0">
                <a:solidFill>
                  <a:srgbClr val="1F2933"/>
                </a:solidFill>
                <a:latin typeface="Courier New" pitchFamily="34" charset="0"/>
                <a:ea typeface="Courier New" pitchFamily="34" charset="-122"/>
                <a:cs typeface="Courier New" pitchFamily="34" charset="-120"/>
              </a:rPr>
              <a:t>exploit_type_key PK</a:t>
            </a:r>
            <a:endParaRPr lang="en-US" sz="950" dirty="0"/>
          </a:p>
          <a:p>
            <a:pPr indent="0" marL="0">
              <a:lnSpc>
                <a:spcPts val="1300"/>
              </a:lnSpc>
              <a:buNone/>
            </a:pPr>
            <a:r>
              <a:rPr lang="en-US" sz="950" dirty="0">
                <a:solidFill>
                  <a:srgbClr val="1F2933"/>
                </a:solidFill>
                <a:latin typeface="Courier New" pitchFamily="34" charset="0"/>
                <a:ea typeface="Courier New" pitchFamily="34" charset="-122"/>
                <a:cs typeface="Courier New" pitchFamily="34" charset="-120"/>
              </a:rPr>
              <a:t>has_rce, has_xss</a:t>
            </a:r>
            <a:endParaRPr lang="en-US" sz="950" dirty="0"/>
          </a:p>
          <a:p>
            <a:pPr indent="0" marL="0">
              <a:lnSpc>
                <a:spcPts val="1300"/>
              </a:lnSpc>
              <a:buNone/>
            </a:pPr>
            <a:r>
              <a:rPr lang="en-US" sz="950" dirty="0">
                <a:solidFill>
                  <a:srgbClr val="1F2933"/>
                </a:solidFill>
                <a:latin typeface="Courier New" pitchFamily="34" charset="0"/>
                <a:ea typeface="Courier New" pitchFamily="34" charset="-122"/>
                <a:cs typeface="Courier New" pitchFamily="34" charset="-120"/>
              </a:rPr>
              <a:t>has_sqli, has_bof</a:t>
            </a:r>
            <a:endParaRPr lang="en-US" sz="950" dirty="0"/>
          </a:p>
          <a:p>
            <a:pPr indent="0" marL="0">
              <a:lnSpc>
                <a:spcPts val="1300"/>
              </a:lnSpc>
              <a:buNone/>
            </a:pPr>
            <a:r>
              <a:rPr lang="en-US" sz="950" dirty="0">
                <a:solidFill>
                  <a:srgbClr val="1F2933"/>
                </a:solidFill>
                <a:latin typeface="Courier New" pitchFamily="34" charset="0"/>
                <a:ea typeface="Courier New" pitchFamily="34" charset="-122"/>
                <a:cs typeface="Courier New" pitchFamily="34" charset="-120"/>
              </a:rPr>
              <a:t>primary_class</a:t>
            </a:r>
            <a:endParaRPr lang="en-US" sz="950" dirty="0"/>
          </a:p>
        </p:txBody>
      </p:sp>
      <p:sp>
        <p:nvSpPr>
          <p:cNvPr id="33" name="Shape 31"/>
          <p:cNvSpPr/>
          <p:nvPr/>
        </p:nvSpPr>
        <p:spPr>
          <a:xfrm flipH="1">
            <a:off x="5486400" y="1828800"/>
            <a:ext cx="594360" cy="274320"/>
          </a:xfrm>
          <a:prstGeom prst="line">
            <a:avLst/>
          </a:prstGeom>
          <a:noFill/>
          <a:ln w="19050">
            <a:solidFill>
              <a:srgbClr val="148C8C"/>
            </a:solidFill>
            <a:prstDash val="solid"/>
          </a:ln>
        </p:spPr>
      </p:sp>
      <p:sp>
        <p:nvSpPr>
          <p:cNvPr id="34" name="Shape 32"/>
          <p:cNvSpPr/>
          <p:nvPr/>
        </p:nvSpPr>
        <p:spPr>
          <a:xfrm>
            <a:off x="5486400" y="2560320"/>
            <a:ext cx="594360" cy="731520"/>
          </a:xfrm>
          <a:prstGeom prst="line">
            <a:avLst/>
          </a:prstGeom>
          <a:noFill/>
          <a:ln w="19050">
            <a:solidFill>
              <a:srgbClr val="148C8C"/>
            </a:solidFill>
            <a:prstDash val="solid"/>
          </a:ln>
        </p:spPr>
      </p:sp>
      <p:sp>
        <p:nvSpPr>
          <p:cNvPr id="35" name="Shape 33"/>
          <p:cNvSpPr/>
          <p:nvPr/>
        </p:nvSpPr>
        <p:spPr>
          <a:xfrm>
            <a:off x="5486400" y="2834640"/>
            <a:ext cx="594360" cy="1965960"/>
          </a:xfrm>
          <a:prstGeom prst="line">
            <a:avLst/>
          </a:prstGeom>
          <a:noFill/>
          <a:ln w="19050">
            <a:solidFill>
              <a:srgbClr val="148C8C"/>
            </a:solidFill>
            <a:prstDash val="solid"/>
          </a:ln>
        </p:spPr>
      </p:sp>
      <p:sp>
        <p:nvSpPr>
          <p:cNvPr id="36" name="Shape 34"/>
          <p:cNvSpPr/>
          <p:nvPr/>
        </p:nvSpPr>
        <p:spPr>
          <a:xfrm>
            <a:off x="8549640" y="1828800"/>
            <a:ext cx="594360" cy="365760"/>
          </a:xfrm>
          <a:prstGeom prst="line">
            <a:avLst/>
          </a:prstGeom>
          <a:noFill/>
          <a:ln w="19050">
            <a:solidFill>
              <a:srgbClr val="148C8C"/>
            </a:solidFill>
            <a:prstDash val="solid"/>
          </a:ln>
        </p:spPr>
      </p:sp>
      <p:sp>
        <p:nvSpPr>
          <p:cNvPr id="37" name="Shape 35"/>
          <p:cNvSpPr/>
          <p:nvPr/>
        </p:nvSpPr>
        <p:spPr>
          <a:xfrm flipH="1">
            <a:off x="8549640" y="3017520"/>
            <a:ext cx="594360" cy="274320"/>
          </a:xfrm>
          <a:prstGeom prst="line">
            <a:avLst/>
          </a:prstGeom>
          <a:noFill/>
          <a:ln w="19050">
            <a:solidFill>
              <a:srgbClr val="148C8C"/>
            </a:solidFill>
            <a:prstDash val="solid"/>
          </a:ln>
        </p:spPr>
      </p:sp>
      <p:sp>
        <p:nvSpPr>
          <p:cNvPr id="38" name="Shape 36"/>
          <p:cNvSpPr/>
          <p:nvPr/>
        </p:nvSpPr>
        <p:spPr>
          <a:xfrm flipH="1">
            <a:off x="8549640" y="3291840"/>
            <a:ext cx="594360" cy="1508760"/>
          </a:xfrm>
          <a:prstGeom prst="line">
            <a:avLst/>
          </a:prstGeom>
          <a:noFill/>
          <a:ln w="19050">
            <a:solidFill>
              <a:srgbClr val="148C8C"/>
            </a:solidFill>
            <a:prstDash val="solid"/>
          </a:ln>
        </p:spPr>
      </p:sp>
      <p:sp>
        <p:nvSpPr>
          <p:cNvPr id="39" name="Shape 37"/>
          <p:cNvSpPr/>
          <p:nvPr/>
        </p:nvSpPr>
        <p:spPr>
          <a:xfrm>
            <a:off x="2468880" y="2377440"/>
            <a:ext cx="457200" cy="548640"/>
          </a:xfrm>
          <a:prstGeom prst="line">
            <a:avLst/>
          </a:prstGeom>
          <a:noFill/>
          <a:ln w="19050">
            <a:solidFill>
              <a:srgbClr val="5B6B7C"/>
            </a:solidFill>
            <a:prstDash val="solid"/>
          </a:ln>
        </p:spPr>
      </p:sp>
      <p:sp>
        <p:nvSpPr>
          <p:cNvPr id="40" name="Shape 38"/>
          <p:cNvSpPr/>
          <p:nvPr/>
        </p:nvSpPr>
        <p:spPr>
          <a:xfrm flipH="1">
            <a:off x="2468880" y="3200400"/>
            <a:ext cx="457200" cy="1005840"/>
          </a:xfrm>
          <a:prstGeom prst="line">
            <a:avLst/>
          </a:prstGeom>
          <a:noFill/>
          <a:ln w="19050">
            <a:solidFill>
              <a:srgbClr val="5B6B7C"/>
            </a:solidFill>
            <a:prstDash val="solid"/>
          </a:ln>
        </p:spPr>
      </p:sp>
      <p:sp>
        <p:nvSpPr>
          <p:cNvPr id="41" name="Text 39"/>
          <p:cNvSpPr txBox="1"/>
          <p:nvPr/>
        </p:nvSpPr>
        <p:spPr>
          <a:xfrm>
            <a:off x="457200" y="5806440"/>
            <a:ext cx="11247120" cy="411480"/>
          </a:xfrm>
          <a:prstGeom prst="rect">
            <a:avLst/>
          </a:prstGeom>
          <a:noFill/>
          <a:ln/>
        </p:spPr>
        <p:txBody>
          <a:bodyPr wrap="square" lIns="0" tIns="0" rIns="0" bIns="0" rtlCol="0" anchor="ctr"/>
          <a:lstStyle/>
          <a:p>
            <a:pPr indent="0" marL="0">
              <a:buNone/>
            </a:pPr>
            <a:r>
              <a:rPr lang="en-US" sz="1300" dirty="0">
                <a:solidFill>
                  <a:srgbClr val="5B6B7C"/>
                </a:solidFill>
                <a:latin typeface="Calibri" pitchFamily="34" charset="0"/>
                <a:ea typeface="Calibri" pitchFamily="34" charset="-122"/>
                <a:cs typeface="Calibri" pitchFamily="34" charset="-120"/>
              </a:rPr>
              <a:t>Every dimension has an 'Unknown' member (key −1): facts never have NULL foreign keys and no row is lost in the joins.</a:t>
            </a:r>
            <a:endParaRPr lang="en-US" sz="13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320040"/>
            <a:ext cx="8778240" cy="640080"/>
          </a:xfrm>
          <a:prstGeom prst="rect">
            <a:avLst/>
          </a:prstGeom>
          <a:noFill/>
          <a:ln/>
        </p:spPr>
        <p:txBody>
          <a:bodyPr wrap="square" lIns="0" tIns="0" rIns="0" bIns="0" rtlCol="0" anchor="ctr"/>
          <a:lstStyle/>
          <a:p>
            <a:pPr indent="0" marL="0">
              <a:buNone/>
            </a:pPr>
            <a:r>
              <a:rPr lang="en-US" sz="2600" b="1" dirty="0">
                <a:solidFill>
                  <a:srgbClr val="1B2A41"/>
                </a:solidFill>
                <a:latin typeface="Arial" pitchFamily="34" charset="0"/>
                <a:ea typeface="Arial" pitchFamily="34" charset="-122"/>
                <a:cs typeface="Arial" pitchFamily="34" charset="-120"/>
              </a:rPr>
              <a:t>Q1 · Growth of disclosed vulnerabilities</a:t>
            </a:r>
            <a:endParaRPr lang="en-US" sz="2600" dirty="0"/>
          </a:p>
        </p:txBody>
      </p:sp>
      <p:sp>
        <p:nvSpPr>
          <p:cNvPr id="3" name="Shape 1"/>
          <p:cNvSpPr/>
          <p:nvPr/>
        </p:nvSpPr>
        <p:spPr>
          <a:xfrm>
            <a:off x="9464040" y="384048"/>
            <a:ext cx="2267712" cy="512064"/>
          </a:xfrm>
          <a:prstGeom prst="roundRect">
            <a:avLst>
              <a:gd name="adj" fmla="val 50000"/>
            </a:avLst>
          </a:prstGeom>
          <a:solidFill>
            <a:srgbClr val="F2A541"/>
          </a:solidFill>
          <a:ln w="12700">
            <a:solidFill>
              <a:srgbClr val="F2A541"/>
            </a:solidFill>
            <a:prstDash val="solid"/>
          </a:ln>
        </p:spPr>
      </p:sp>
      <p:sp>
        <p:nvSpPr>
          <p:cNvPr id="4" name="Text 2"/>
          <p:cNvSpPr txBox="1"/>
          <p:nvPr/>
        </p:nvSpPr>
        <p:spPr>
          <a:xfrm>
            <a:off x="9464040" y="384048"/>
            <a:ext cx="2267712" cy="512064"/>
          </a:xfrm>
          <a:prstGeom prst="rect">
            <a:avLst/>
          </a:prstGeom>
          <a:noFill/>
          <a:ln/>
        </p:spPr>
        <p:txBody>
          <a:bodyPr wrap="square" lIns="0" tIns="0" rIns="0" bIns="0" rtlCol="0" anchor="ctr"/>
          <a:lstStyle/>
          <a:p>
            <a:pPr algn="ctr" indent="0" marL="0">
              <a:buNone/>
            </a:pPr>
            <a:r>
              <a:rPr lang="en-US" sz="1500" b="1" dirty="0">
                <a:solidFill>
                  <a:srgbClr val="1B2A41"/>
                </a:solidFill>
                <a:latin typeface="Arial" pitchFamily="34" charset="0"/>
                <a:ea typeface="Arial" pitchFamily="34" charset="-122"/>
                <a:cs typeface="Arial" pitchFamily="34" charset="-120"/>
              </a:rPr>
              <a:t>ROLL-UP</a:t>
            </a:r>
            <a:endParaRPr lang="en-US" sz="1500" dirty="0"/>
          </a:p>
        </p:txBody>
      </p:sp>
      <p:sp>
        <p:nvSpPr>
          <p:cNvPr id="5" name="Text 3"/>
          <p:cNvSpPr txBox="1"/>
          <p:nvPr/>
        </p:nvSpPr>
        <p:spPr>
          <a:xfrm>
            <a:off x="457200" y="987552"/>
            <a:ext cx="11247120" cy="411480"/>
          </a:xfrm>
          <a:prstGeom prst="rect">
            <a:avLst/>
          </a:prstGeom>
          <a:noFill/>
          <a:ln/>
        </p:spPr>
        <p:txBody>
          <a:bodyPr wrap="square" lIns="0" tIns="0" rIns="0" bIns="0" rtlCol="0" anchor="t"/>
          <a:lstStyle/>
          <a:p>
            <a:pPr indent="0" marL="0">
              <a:buNone/>
            </a:pPr>
            <a:r>
              <a:rPr lang="en-US" sz="1500" i="1" dirty="0">
                <a:solidFill>
                  <a:srgbClr val="5B6B7C"/>
                </a:solidFill>
                <a:latin typeface="Calibri" pitchFamily="34" charset="0"/>
                <a:ea typeface="Calibri" pitchFamily="34" charset="-122"/>
                <a:cs typeface="Calibri" pitchFamily="34" charset="-120"/>
              </a:rPr>
              <a:t>“Number of CVEs per year and severity, rolled up from quarters to years.”</a:t>
            </a:r>
            <a:endParaRPr lang="en-US" sz="1500" dirty="0"/>
          </a:p>
        </p:txBody>
      </p:sp>
      <p:sp>
        <p:nvSpPr>
          <p:cNvPr id="6" name="Text 4"/>
          <p:cNvSpPr txBox="1"/>
          <p:nvPr/>
        </p:nvSpPr>
        <p:spPr>
          <a:xfrm>
            <a:off x="6675120" y="6446520"/>
            <a:ext cx="5056632" cy="274320"/>
          </a:xfrm>
          <a:prstGeom prst="rect">
            <a:avLst/>
          </a:prstGeom>
          <a:noFill/>
          <a:ln/>
        </p:spPr>
        <p:txBody>
          <a:bodyPr wrap="square" lIns="0" tIns="0" rIns="0" bIns="0" rtlCol="0" anchor="ctr"/>
          <a:lstStyle/>
          <a:p>
            <a:pPr algn="r" indent="0" marL="0">
              <a:buNone/>
            </a:pPr>
            <a:r>
              <a:rPr lang="en-US" sz="900" dirty="0">
                <a:solidFill>
                  <a:srgbClr val="5B6B7C"/>
                </a:solidFill>
                <a:latin typeface="Calibri" pitchFamily="34" charset="0"/>
                <a:ea typeface="Calibri" pitchFamily="34" charset="-122"/>
                <a:cs typeface="Calibri" pitchFamily="34" charset="-120"/>
              </a:rPr>
              <a:t>CVE Data Warehouse · Alessia Angele · 11</a:t>
            </a:r>
            <a:endParaRPr lang="en-US" sz="900" dirty="0"/>
          </a:p>
        </p:txBody>
      </p:sp>
      <p:sp>
        <p:nvSpPr>
          <p:cNvPr id="7" name="Shape 5"/>
          <p:cNvSpPr/>
          <p:nvPr/>
        </p:nvSpPr>
        <p:spPr>
          <a:xfrm>
            <a:off x="457200" y="1554480"/>
            <a:ext cx="5394960" cy="4069080"/>
          </a:xfrm>
          <a:prstGeom prst="rect">
            <a:avLst/>
          </a:prstGeom>
          <a:solidFill>
            <a:srgbClr val="16202E"/>
          </a:solidFill>
          <a:ln w="12700">
            <a:solidFill>
              <a:srgbClr val="16202E"/>
            </a:solidFill>
            <a:prstDash val="solid"/>
          </a:ln>
        </p:spPr>
      </p:sp>
      <p:sp>
        <p:nvSpPr>
          <p:cNvPr id="8" name="Text 6"/>
          <p:cNvSpPr txBox="1"/>
          <p:nvPr/>
        </p:nvSpPr>
        <p:spPr>
          <a:xfrm>
            <a:off x="594360" y="1645920"/>
            <a:ext cx="5120640" cy="3886200"/>
          </a:xfrm>
          <a:prstGeom prst="rect">
            <a:avLst/>
          </a:prstGeom>
          <a:noFill/>
          <a:ln/>
        </p:spPr>
        <p:txBody>
          <a:bodyPr wrap="square" lIns="0" tIns="0" rIns="0" bIns="0" rtlCol="0" anchor="t"/>
          <a:lstStyle/>
          <a:p>
            <a:pPr indent="0" marL="0">
              <a:buNone/>
            </a:pPr>
            <a:r>
              <a:rPr lang="en-US" sz="1000" dirty="0">
                <a:solidFill>
                  <a:srgbClr val="E6EDF3"/>
                </a:solidFill>
                <a:latin typeface="Courier New" pitchFamily="34" charset="0"/>
                <a:ea typeface="Courier New" pitchFamily="34" charset="-122"/>
                <a:cs typeface="Courier New" pitchFamily="34" charset="-120"/>
              </a:rPr>
              <a:t>SELECT d.year, d.quarter,</a:t>
            </a:r>
            <a:endParaRPr lang="en-US" sz="1000" dirty="0"/>
          </a:p>
          <a:p>
            <a:pPr indent="0" marL="0">
              <a:buNone/>
            </a:pPr>
            <a:r>
              <a:rPr lang="en-US" sz="1000" dirty="0">
                <a:solidFill>
                  <a:srgbClr val="E6EDF3"/>
                </a:solidFill>
                <a:latin typeface="Courier New" pitchFamily="34" charset="0"/>
                <a:ea typeface="Courier New" pitchFamily="34" charset="-122"/>
                <a:cs typeface="Courier New" pitchFamily="34" charset="-120"/>
              </a:rPr>
              <a:t>  COUNT(*) AS cve_count,</a:t>
            </a:r>
            <a:endParaRPr lang="en-US" sz="1000" dirty="0"/>
          </a:p>
          <a:p>
            <a:pPr indent="0" marL="0">
              <a:buNone/>
            </a:pPr>
            <a:r>
              <a:rPr lang="en-US" sz="1000" dirty="0">
                <a:solidFill>
                  <a:srgbClr val="E6EDF3"/>
                </a:solidFill>
                <a:latin typeface="Courier New" pitchFamily="34" charset="0"/>
                <a:ea typeface="Courier New" pitchFamily="34" charset="-122"/>
                <a:cs typeface="Courier New" pitchFamily="34" charset="-120"/>
              </a:rPr>
              <a:t>  COUNT(*) FILTER (WHERE s.severity_level='CRITICAL')</a:t>
            </a:r>
            <a:endParaRPr lang="en-US" sz="1000" dirty="0"/>
          </a:p>
          <a:p>
            <a:pPr indent="0" marL="0">
              <a:buNone/>
            </a:pPr>
            <a:r>
              <a:rPr lang="en-US" sz="1000" dirty="0">
                <a:solidFill>
                  <a:srgbClr val="E6EDF3"/>
                </a:solidFill>
                <a:latin typeface="Courier New" pitchFamily="34" charset="0"/>
                <a:ea typeface="Courier New" pitchFamily="34" charset="-122"/>
                <a:cs typeface="Courier New" pitchFamily="34" charset="-120"/>
              </a:rPr>
              <a:t>                              AS critical,</a:t>
            </a:r>
            <a:endParaRPr lang="en-US" sz="1000" dirty="0"/>
          </a:p>
          <a:p>
            <a:pPr indent="0" marL="0">
              <a:buNone/>
            </a:pPr>
            <a:r>
              <a:rPr lang="en-US" sz="1000" dirty="0">
                <a:solidFill>
                  <a:srgbClr val="E6EDF3"/>
                </a:solidFill>
                <a:latin typeface="Courier New" pitchFamily="34" charset="0"/>
                <a:ea typeface="Courier New" pitchFamily="34" charset="-122"/>
                <a:cs typeface="Courier New" pitchFamily="34" charset="-120"/>
              </a:rPr>
              <a:t>  ...                         -- high, medium, low</a:t>
            </a:r>
            <a:endParaRPr lang="en-US" sz="1000" dirty="0"/>
          </a:p>
          <a:p>
            <a:pPr indent="0" marL="0">
              <a:buNone/>
            </a:pPr>
            <a:r>
              <a:rPr lang="en-US" sz="1000" dirty="0">
                <a:solidFill>
                  <a:srgbClr val="E6EDF3"/>
                </a:solidFill>
                <a:latin typeface="Courier New" pitchFamily="34" charset="0"/>
                <a:ea typeface="Courier New" pitchFamily="34" charset="-122"/>
                <a:cs typeface="Courier New" pitchFamily="34" charset="-120"/>
              </a:rPr>
              <a:t>  ROUND(AVG(f.cvss_score),2)  AS avg_cvss</a:t>
            </a:r>
            <a:endParaRPr lang="en-US" sz="1000" dirty="0"/>
          </a:p>
          <a:p>
            <a:pPr indent="0" marL="0">
              <a:buNone/>
            </a:pPr>
            <a:r>
              <a:rPr lang="en-US" sz="1000" dirty="0">
                <a:solidFill>
                  <a:srgbClr val="E6EDF3"/>
                </a:solidFill>
                <a:latin typeface="Courier New" pitchFamily="34" charset="0"/>
                <a:ea typeface="Courier New" pitchFamily="34" charset="-122"/>
                <a:cs typeface="Courier New" pitchFamily="34" charset="-120"/>
              </a:rPr>
              <a:t>FROM fact_vulnerability f</a:t>
            </a:r>
            <a:endParaRPr lang="en-US" sz="1000" dirty="0"/>
          </a:p>
          <a:p>
            <a:pPr indent="0" marL="0">
              <a:buNone/>
            </a:pPr>
            <a:r>
              <a:rPr lang="en-US" sz="1000" dirty="0">
                <a:solidFill>
                  <a:srgbClr val="E6EDF3"/>
                </a:solidFill>
                <a:latin typeface="Courier New" pitchFamily="34" charset="0"/>
                <a:ea typeface="Courier New" pitchFamily="34" charset="-122"/>
                <a:cs typeface="Courier New" pitchFamily="34" charset="-120"/>
              </a:rPr>
              <a:t>JOIN dim_date d</a:t>
            </a:r>
            <a:endParaRPr lang="en-US" sz="1000" dirty="0"/>
          </a:p>
          <a:p>
            <a:pPr indent="0" marL="0">
              <a:buNone/>
            </a:pPr>
            <a:r>
              <a:rPr lang="en-US" sz="1000" dirty="0">
                <a:solidFill>
                  <a:srgbClr val="E6EDF3"/>
                </a:solidFill>
                <a:latin typeface="Courier New" pitchFamily="34" charset="0"/>
                <a:ea typeface="Courier New" pitchFamily="34" charset="-122"/>
                <a:cs typeface="Courier New" pitchFamily="34" charset="-120"/>
              </a:rPr>
              <a:t>  ON d.date_key = f.published_date_key</a:t>
            </a:r>
            <a:endParaRPr lang="en-US" sz="1000" dirty="0"/>
          </a:p>
          <a:p>
            <a:pPr indent="0" marL="0">
              <a:buNone/>
            </a:pPr>
            <a:r>
              <a:rPr lang="en-US" sz="1000" dirty="0">
                <a:solidFill>
                  <a:srgbClr val="E6EDF3"/>
                </a:solidFill>
                <a:latin typeface="Courier New" pitchFamily="34" charset="0"/>
                <a:ea typeface="Courier New" pitchFamily="34" charset="-122"/>
                <a:cs typeface="Courier New" pitchFamily="34" charset="-120"/>
              </a:rPr>
              <a:t>JOIN dim_severity s</a:t>
            </a:r>
            <a:endParaRPr lang="en-US" sz="1000" dirty="0"/>
          </a:p>
          <a:p>
            <a:pPr indent="0" marL="0">
              <a:buNone/>
            </a:pPr>
            <a:r>
              <a:rPr lang="en-US" sz="1000" dirty="0">
                <a:solidFill>
                  <a:srgbClr val="E6EDF3"/>
                </a:solidFill>
                <a:latin typeface="Courier New" pitchFamily="34" charset="0"/>
                <a:ea typeface="Courier New" pitchFamily="34" charset="-122"/>
                <a:cs typeface="Courier New" pitchFamily="34" charset="-120"/>
              </a:rPr>
              <a:t>  ON s.severity_key = f.severity_key</a:t>
            </a:r>
            <a:endParaRPr lang="en-US" sz="1000" dirty="0"/>
          </a:p>
          <a:p>
            <a:pPr indent="0" marL="0">
              <a:buNone/>
            </a:pPr>
            <a:r>
              <a:rPr lang="en-US" sz="1000" dirty="0">
                <a:solidFill>
                  <a:srgbClr val="E6EDF3"/>
                </a:solidFill>
                <a:latin typeface="Courier New" pitchFamily="34" charset="0"/>
                <a:ea typeface="Courier New" pitchFamily="34" charset="-122"/>
                <a:cs typeface="Courier New" pitchFamily="34" charset="-120"/>
              </a:rPr>
              <a:t>WHERE d.date_key &lt;&gt; -1</a:t>
            </a:r>
            <a:endParaRPr lang="en-US" sz="1000" dirty="0"/>
          </a:p>
          <a:p>
            <a:pPr indent="0" marL="0">
              <a:buNone/>
            </a:pPr>
            <a:r>
              <a:rPr lang="en-US" sz="1000" dirty="0">
                <a:solidFill>
                  <a:srgbClr val="E6EDF3"/>
                </a:solidFill>
                <a:latin typeface="Courier New" pitchFamily="34" charset="0"/>
                <a:ea typeface="Courier New" pitchFamily="34" charset="-122"/>
                <a:cs typeface="Courier New" pitchFamily="34" charset="-120"/>
              </a:rPr>
              <a:t>GROUP BY ROLLUP (d.year, d.quarter)</a:t>
            </a:r>
            <a:endParaRPr lang="en-US" sz="1000" dirty="0"/>
          </a:p>
          <a:p>
            <a:pPr indent="0" marL="0">
              <a:buNone/>
            </a:pPr>
            <a:r>
              <a:rPr lang="en-US" sz="1000" dirty="0">
                <a:solidFill>
                  <a:srgbClr val="E6EDF3"/>
                </a:solidFill>
                <a:latin typeface="Courier New" pitchFamily="34" charset="0"/>
                <a:ea typeface="Courier New" pitchFamily="34" charset="-122"/>
                <a:cs typeface="Courier New" pitchFamily="34" charset="-120"/>
              </a:rPr>
              <a:t>ORDER BY d.year, d.quarter;</a:t>
            </a:r>
            <a:endParaRPr lang="en-US" sz="1000" dirty="0"/>
          </a:p>
          <a:p>
            <a:pPr indent="0" marL="0">
              <a:buNone/>
            </a:pPr>
            <a:endParaRPr lang="en-US" sz="1000" dirty="0"/>
          </a:p>
          <a:p>
            <a:pPr indent="0" marL="0">
              <a:buNone/>
            </a:pPr>
            <a:r>
              <a:rPr lang="en-US" sz="1000" dirty="0">
                <a:solidFill>
                  <a:srgbClr val="E6EDF3"/>
                </a:solidFill>
                <a:latin typeface="Courier New" pitchFamily="34" charset="0"/>
                <a:ea typeface="Courier New" pitchFamily="34" charset="-122"/>
                <a:cs typeface="Courier New" pitchFamily="34" charset="-120"/>
              </a:rPr>
              <a:t>-- ROLLUP returns quarters, yearly</a:t>
            </a:r>
            <a:endParaRPr lang="en-US" sz="1000" dirty="0"/>
          </a:p>
          <a:p>
            <a:pPr indent="0" marL="0">
              <a:buNone/>
            </a:pPr>
            <a:r>
              <a:rPr lang="en-US" sz="1000" dirty="0">
                <a:solidFill>
                  <a:srgbClr val="E6EDF3"/>
                </a:solidFill>
                <a:latin typeface="Courier New" pitchFamily="34" charset="0"/>
                <a:ea typeface="Courier New" pitchFamily="34" charset="-122"/>
                <a:cs typeface="Courier New" pitchFamily="34" charset="-120"/>
              </a:rPr>
              <a:t>-- subtotals and the grand total</a:t>
            </a:r>
            <a:endParaRPr lang="en-US" sz="1000" dirty="0"/>
          </a:p>
        </p:txBody>
      </p:sp>
      <p:pic>
        <p:nvPicPr>
          <p:cNvPr id="9" name="Image 0" descr="preencoded.png">    </p:cNvPr>
          <p:cNvPicPr>
            <a:picLocks noChangeAspect="1"/>
          </p:cNvPicPr>
          <p:nvPr/>
        </p:nvPicPr>
        <p:blipFill>
          <a:blip r:embed="rId1"/>
          <a:stretch>
            <a:fillRect/>
          </a:stretch>
        </p:blipFill>
        <p:spPr>
          <a:xfrm>
            <a:off x="6720840" y="1417320"/>
            <a:ext cx="4206240" cy="1775968"/>
          </a:xfrm>
          <a:prstGeom prst="rect">
            <a:avLst/>
          </a:prstGeom>
        </p:spPr>
      </p:pic>
      <p:graphicFrame>
        <p:nvGraphicFramePr>
          <p:cNvPr id="10" name="Chart 0" descr=""/>
          <p:cNvGraphicFramePr/>
          <p:nvPr/>
        </p:nvGraphicFramePr>
        <p:xfrm>
          <a:off x="6126480" y="3246120"/>
          <a:ext cx="5605272" cy="2423160"/>
        </p:xfrm>
        <a:graphic xmlns:a="http://schemas.openxmlformats.org/drawingml/2006/main">
          <a:graphicData uri="http://schemas.openxmlformats.org/drawingml/2006/chart">
            <c:chart xmlns:c="http://schemas.openxmlformats.org/drawingml/2006/chart" r:id="rId2"/>
          </a:graphicData>
        </a:graphic>
      </p:graphicFrame>
      <p:sp>
        <p:nvSpPr>
          <p:cNvPr id="11" name="Shape 7"/>
          <p:cNvSpPr/>
          <p:nvPr/>
        </p:nvSpPr>
        <p:spPr>
          <a:xfrm>
            <a:off x="457200" y="5806440"/>
            <a:ext cx="11274552" cy="548640"/>
          </a:xfrm>
          <a:prstGeom prst="rect">
            <a:avLst/>
          </a:prstGeom>
          <a:solidFill>
            <a:srgbClr val="F3F5F8"/>
          </a:solidFill>
          <a:ln w="12700">
            <a:solidFill>
              <a:srgbClr val="F3F5F8"/>
            </a:solidFill>
            <a:prstDash val="solid"/>
          </a:ln>
        </p:spPr>
      </p:sp>
      <p:sp>
        <p:nvSpPr>
          <p:cNvPr id="12" name="Text 8"/>
          <p:cNvSpPr txBox="1"/>
          <p:nvPr/>
        </p:nvSpPr>
        <p:spPr>
          <a:xfrm>
            <a:off x="640080" y="5806440"/>
            <a:ext cx="10908792" cy="548640"/>
          </a:xfrm>
          <a:prstGeom prst="rect">
            <a:avLst/>
          </a:prstGeom>
          <a:noFill/>
          <a:ln/>
        </p:spPr>
        <p:txBody>
          <a:bodyPr wrap="square" lIns="0" tIns="0" rIns="0" bIns="0" rtlCol="0" anchor="ctr"/>
          <a:lstStyle/>
          <a:p>
            <a:pPr indent="0" marL="0">
              <a:buNone/>
            </a:pPr>
            <a:r>
              <a:rPr lang="en-US" sz="1300" dirty="0">
                <a:solidFill>
                  <a:srgbClr val="1F2933"/>
                </a:solidFill>
                <a:latin typeface="Calibri" pitchFamily="34" charset="0"/>
                <a:ea typeface="Calibri" pitchFamily="34" charset="-122"/>
                <a:cs typeface="Calibri" pitchFamily="34" charset="-120"/>
              </a:rPr>
              <a:t>14,377 CVEs in 2020 → 49,549 in 2025 (×3.4). Critical ones grow less: from 14.0% to 8.1% of the total, and the average CVSS falls from 7.11 to 6.63.</a:t>
            </a:r>
            <a:endParaRPr lang="en-US" sz="13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320040"/>
            <a:ext cx="8778240" cy="640080"/>
          </a:xfrm>
          <a:prstGeom prst="rect">
            <a:avLst/>
          </a:prstGeom>
          <a:noFill/>
          <a:ln/>
        </p:spPr>
        <p:txBody>
          <a:bodyPr wrap="square" lIns="0" tIns="0" rIns="0" bIns="0" rtlCol="0" anchor="ctr"/>
          <a:lstStyle/>
          <a:p>
            <a:pPr indent="0" marL="0">
              <a:buNone/>
            </a:pPr>
            <a:r>
              <a:rPr lang="en-US" sz="2600" b="1" dirty="0">
                <a:solidFill>
                  <a:srgbClr val="1B2A41"/>
                </a:solidFill>
                <a:latin typeface="Arial" pitchFamily="34" charset="0"/>
                <a:ea typeface="Arial" pitchFamily="34" charset="-122"/>
                <a:cs typeface="Arial" pitchFamily="34" charset="-120"/>
              </a:rPr>
              <a:t>Q2a · Weakness families that get exploited</a:t>
            </a:r>
            <a:endParaRPr lang="en-US" sz="2600" dirty="0"/>
          </a:p>
        </p:txBody>
      </p:sp>
      <p:sp>
        <p:nvSpPr>
          <p:cNvPr id="3" name="Shape 1"/>
          <p:cNvSpPr/>
          <p:nvPr/>
        </p:nvSpPr>
        <p:spPr>
          <a:xfrm>
            <a:off x="9464040" y="384048"/>
            <a:ext cx="2267712" cy="512064"/>
          </a:xfrm>
          <a:prstGeom prst="roundRect">
            <a:avLst>
              <a:gd name="adj" fmla="val 50000"/>
            </a:avLst>
          </a:prstGeom>
          <a:solidFill>
            <a:srgbClr val="F2A541"/>
          </a:solidFill>
          <a:ln w="12700">
            <a:solidFill>
              <a:srgbClr val="F2A541"/>
            </a:solidFill>
            <a:prstDash val="solid"/>
          </a:ln>
        </p:spPr>
      </p:sp>
      <p:sp>
        <p:nvSpPr>
          <p:cNvPr id="4" name="Text 2"/>
          <p:cNvSpPr txBox="1"/>
          <p:nvPr/>
        </p:nvSpPr>
        <p:spPr>
          <a:xfrm>
            <a:off x="9464040" y="384048"/>
            <a:ext cx="2267712" cy="512064"/>
          </a:xfrm>
          <a:prstGeom prst="rect">
            <a:avLst/>
          </a:prstGeom>
          <a:noFill/>
          <a:ln/>
        </p:spPr>
        <p:txBody>
          <a:bodyPr wrap="square" lIns="0" tIns="0" rIns="0" bIns="0" rtlCol="0" anchor="ctr"/>
          <a:lstStyle/>
          <a:p>
            <a:pPr algn="ctr" indent="0" marL="0">
              <a:buNone/>
            </a:pPr>
            <a:r>
              <a:rPr lang="en-US" sz="1500" b="1" dirty="0">
                <a:solidFill>
                  <a:srgbClr val="1B2A41"/>
                </a:solidFill>
                <a:latin typeface="Arial" pitchFamily="34" charset="0"/>
                <a:ea typeface="Arial" pitchFamily="34" charset="-122"/>
                <a:cs typeface="Arial" pitchFamily="34" charset="-120"/>
              </a:rPr>
              <a:t>ROLL-UP</a:t>
            </a:r>
            <a:endParaRPr lang="en-US" sz="1500" dirty="0"/>
          </a:p>
        </p:txBody>
      </p:sp>
      <p:sp>
        <p:nvSpPr>
          <p:cNvPr id="5" name="Text 3"/>
          <p:cNvSpPr txBox="1"/>
          <p:nvPr/>
        </p:nvSpPr>
        <p:spPr>
          <a:xfrm>
            <a:off x="457200" y="987552"/>
            <a:ext cx="11247120" cy="411480"/>
          </a:xfrm>
          <a:prstGeom prst="rect">
            <a:avLst/>
          </a:prstGeom>
          <a:noFill/>
          <a:ln/>
        </p:spPr>
        <p:txBody>
          <a:bodyPr wrap="square" lIns="0" tIns="0" rIns="0" bIns="0" rtlCol="0" anchor="t"/>
          <a:lstStyle/>
          <a:p>
            <a:pPr indent="0" marL="0">
              <a:buNone/>
            </a:pPr>
            <a:r>
              <a:rPr lang="en-US" sz="1500" i="1" dirty="0">
                <a:solidFill>
                  <a:srgbClr val="5B6B7C"/>
                </a:solidFill>
                <a:latin typeface="Calibri" pitchFamily="34" charset="0"/>
                <a:ea typeface="Calibri" pitchFamily="34" charset="-122"/>
                <a:cs typeface="Calibri" pitchFamily="34" charset="-120"/>
              </a:rPr>
              <a:t>“For each CWE pillar: how many CVEs, how many in KEV, what share is exploited?”</a:t>
            </a:r>
            <a:endParaRPr lang="en-US" sz="1500" dirty="0"/>
          </a:p>
        </p:txBody>
      </p:sp>
      <p:sp>
        <p:nvSpPr>
          <p:cNvPr id="6" name="Text 4"/>
          <p:cNvSpPr txBox="1"/>
          <p:nvPr/>
        </p:nvSpPr>
        <p:spPr>
          <a:xfrm>
            <a:off x="6675120" y="6446520"/>
            <a:ext cx="5056632" cy="274320"/>
          </a:xfrm>
          <a:prstGeom prst="rect">
            <a:avLst/>
          </a:prstGeom>
          <a:noFill/>
          <a:ln/>
        </p:spPr>
        <p:txBody>
          <a:bodyPr wrap="square" lIns="0" tIns="0" rIns="0" bIns="0" rtlCol="0" anchor="ctr"/>
          <a:lstStyle/>
          <a:p>
            <a:pPr algn="r" indent="0" marL="0">
              <a:buNone/>
            </a:pPr>
            <a:r>
              <a:rPr lang="en-US" sz="900" dirty="0">
                <a:solidFill>
                  <a:srgbClr val="5B6B7C"/>
                </a:solidFill>
                <a:latin typeface="Calibri" pitchFamily="34" charset="0"/>
                <a:ea typeface="Calibri" pitchFamily="34" charset="-122"/>
                <a:cs typeface="Calibri" pitchFamily="34" charset="-120"/>
              </a:rPr>
              <a:t>CVE Data Warehouse · Alessia Angele · 12</a:t>
            </a:r>
            <a:endParaRPr lang="en-US" sz="900" dirty="0"/>
          </a:p>
        </p:txBody>
      </p:sp>
      <p:sp>
        <p:nvSpPr>
          <p:cNvPr id="7" name="Shape 5"/>
          <p:cNvSpPr/>
          <p:nvPr/>
        </p:nvSpPr>
        <p:spPr>
          <a:xfrm>
            <a:off x="457200" y="1554480"/>
            <a:ext cx="5394960" cy="4069080"/>
          </a:xfrm>
          <a:prstGeom prst="rect">
            <a:avLst/>
          </a:prstGeom>
          <a:solidFill>
            <a:srgbClr val="16202E"/>
          </a:solidFill>
          <a:ln w="12700">
            <a:solidFill>
              <a:srgbClr val="16202E"/>
            </a:solidFill>
            <a:prstDash val="solid"/>
          </a:ln>
        </p:spPr>
      </p:sp>
      <p:sp>
        <p:nvSpPr>
          <p:cNvPr id="8" name="Text 6"/>
          <p:cNvSpPr txBox="1"/>
          <p:nvPr/>
        </p:nvSpPr>
        <p:spPr>
          <a:xfrm>
            <a:off x="594360" y="1645920"/>
            <a:ext cx="5120640" cy="3886200"/>
          </a:xfrm>
          <a:prstGeom prst="rect">
            <a:avLst/>
          </a:prstGeom>
          <a:noFill/>
          <a:ln/>
        </p:spPr>
        <p:txBody>
          <a:bodyPr wrap="square" lIns="0" tIns="0" rIns="0" bIns="0" rtlCol="0" anchor="t"/>
          <a:lstStyle/>
          <a:p>
            <a:pPr indent="0" marL="0">
              <a:buNone/>
            </a:pPr>
            <a:r>
              <a:rPr lang="en-US" sz="1000" dirty="0">
                <a:solidFill>
                  <a:srgbClr val="E6EDF3"/>
                </a:solidFill>
                <a:latin typeface="Courier New" pitchFamily="34" charset="0"/>
                <a:ea typeface="Courier New" pitchFamily="34" charset="-122"/>
                <a:cs typeface="Courier New" pitchFamily="34" charset="-120"/>
              </a:rPr>
              <a:t>SELECT c.pillar_name,</a:t>
            </a:r>
            <a:endParaRPr lang="en-US" sz="1000" dirty="0"/>
          </a:p>
          <a:p>
            <a:pPr indent="0" marL="0">
              <a:buNone/>
            </a:pPr>
            <a:r>
              <a:rPr lang="en-US" sz="1000" dirty="0">
                <a:solidFill>
                  <a:srgbClr val="E6EDF3"/>
                </a:solidFill>
                <a:latin typeface="Courier New" pitchFamily="34" charset="0"/>
                <a:ea typeface="Courier New" pitchFamily="34" charset="-122"/>
                <a:cs typeface="Courier New" pitchFamily="34" charset="-120"/>
              </a:rPr>
              <a:t>  COUNT(*)                            AS cve_count,</a:t>
            </a:r>
            <a:endParaRPr lang="en-US" sz="1000" dirty="0"/>
          </a:p>
          <a:p>
            <a:pPr indent="0" marL="0">
              <a:buNone/>
            </a:pPr>
            <a:r>
              <a:rPr lang="en-US" sz="1000" dirty="0">
                <a:solidFill>
                  <a:srgbClr val="E6EDF3"/>
                </a:solidFill>
                <a:latin typeface="Courier New" pitchFamily="34" charset="0"/>
                <a:ea typeface="Courier New" pitchFamily="34" charset="-122"/>
                <a:cs typeface="Courier New" pitchFamily="34" charset="-120"/>
              </a:rPr>
              <a:t>  COUNT(*) FILTER (WHERE f.is_in_kev) AS in_kev,</a:t>
            </a:r>
            <a:endParaRPr lang="en-US" sz="1000" dirty="0"/>
          </a:p>
          <a:p>
            <a:pPr indent="0" marL="0">
              <a:buNone/>
            </a:pPr>
            <a:r>
              <a:rPr lang="en-US" sz="1000" dirty="0">
                <a:solidFill>
                  <a:srgbClr val="E6EDF3"/>
                </a:solidFill>
                <a:latin typeface="Courier New" pitchFamily="34" charset="0"/>
                <a:ea typeface="Courier New" pitchFamily="34" charset="-122"/>
                <a:cs typeface="Courier New" pitchFamily="34" charset="-120"/>
              </a:rPr>
              <a:t>  ROUND(100.0 * COUNT(*) FILTER</a:t>
            </a:r>
            <a:endParaRPr lang="en-US" sz="1000" dirty="0"/>
          </a:p>
          <a:p>
            <a:pPr indent="0" marL="0">
              <a:buNone/>
            </a:pPr>
            <a:r>
              <a:rPr lang="en-US" sz="1000" dirty="0">
                <a:solidFill>
                  <a:srgbClr val="E6EDF3"/>
                </a:solidFill>
                <a:latin typeface="Courier New" pitchFamily="34" charset="0"/>
                <a:ea typeface="Courier New" pitchFamily="34" charset="-122"/>
                <a:cs typeface="Courier New" pitchFamily="34" charset="-120"/>
              </a:rPr>
              <a:t>        (WHERE f.is_in_kev) / COUNT(*), 3)</a:t>
            </a:r>
            <a:endParaRPr lang="en-US" sz="1000" dirty="0"/>
          </a:p>
          <a:p>
            <a:pPr indent="0" marL="0">
              <a:buNone/>
            </a:pPr>
            <a:r>
              <a:rPr lang="en-US" sz="1000" dirty="0">
                <a:solidFill>
                  <a:srgbClr val="E6EDF3"/>
                </a:solidFill>
                <a:latin typeface="Courier New" pitchFamily="34" charset="0"/>
                <a:ea typeface="Courier New" pitchFamily="34" charset="-122"/>
                <a:cs typeface="Courier New" pitchFamily="34" charset="-120"/>
              </a:rPr>
              <a:t>                                      AS exploitation_rate_pct,</a:t>
            </a:r>
            <a:endParaRPr lang="en-US" sz="1000" dirty="0"/>
          </a:p>
          <a:p>
            <a:pPr indent="0" marL="0">
              <a:buNone/>
            </a:pPr>
            <a:r>
              <a:rPr lang="en-US" sz="1000" dirty="0">
                <a:solidFill>
                  <a:srgbClr val="E6EDF3"/>
                </a:solidFill>
                <a:latin typeface="Courier New" pitchFamily="34" charset="0"/>
                <a:ea typeface="Courier New" pitchFamily="34" charset="-122"/>
                <a:cs typeface="Courier New" pitchFamily="34" charset="-120"/>
              </a:rPr>
              <a:t>  ROUND(AVG(f.epss_score), 4)         AS avg_epss</a:t>
            </a:r>
            <a:endParaRPr lang="en-US" sz="1000" dirty="0"/>
          </a:p>
          <a:p>
            <a:pPr indent="0" marL="0">
              <a:buNone/>
            </a:pPr>
            <a:r>
              <a:rPr lang="en-US" sz="1000" dirty="0">
                <a:solidFill>
                  <a:srgbClr val="E6EDF3"/>
                </a:solidFill>
                <a:latin typeface="Courier New" pitchFamily="34" charset="0"/>
                <a:ea typeface="Courier New" pitchFamily="34" charset="-122"/>
                <a:cs typeface="Courier New" pitchFamily="34" charset="-120"/>
              </a:rPr>
              <a:t>FROM fact_vulnerability f</a:t>
            </a:r>
            <a:endParaRPr lang="en-US" sz="1000" dirty="0"/>
          </a:p>
          <a:p>
            <a:pPr indent="0" marL="0">
              <a:buNone/>
            </a:pPr>
            <a:r>
              <a:rPr lang="en-US" sz="1000" dirty="0">
                <a:solidFill>
                  <a:srgbClr val="E6EDF3"/>
                </a:solidFill>
                <a:latin typeface="Courier New" pitchFamily="34" charset="0"/>
                <a:ea typeface="Courier New" pitchFamily="34" charset="-122"/>
                <a:cs typeface="Courier New" pitchFamily="34" charset="-120"/>
              </a:rPr>
              <a:t>JOIN dim_cwe c ON c.cwe_key = f.cwe_key</a:t>
            </a:r>
            <a:endParaRPr lang="en-US" sz="1000" dirty="0"/>
          </a:p>
          <a:p>
            <a:pPr indent="0" marL="0">
              <a:buNone/>
            </a:pPr>
            <a:r>
              <a:rPr lang="en-US" sz="1000" dirty="0">
                <a:solidFill>
                  <a:srgbClr val="E6EDF3"/>
                </a:solidFill>
                <a:latin typeface="Courier New" pitchFamily="34" charset="0"/>
                <a:ea typeface="Courier New" pitchFamily="34" charset="-122"/>
                <a:cs typeface="Courier New" pitchFamily="34" charset="-120"/>
              </a:rPr>
              <a:t>WHERE c.pillar_id IS NOT NULL</a:t>
            </a:r>
            <a:endParaRPr lang="en-US" sz="1000" dirty="0"/>
          </a:p>
          <a:p>
            <a:pPr indent="0" marL="0">
              <a:buNone/>
            </a:pPr>
            <a:r>
              <a:rPr lang="en-US" sz="1000" dirty="0">
                <a:solidFill>
                  <a:srgbClr val="E6EDF3"/>
                </a:solidFill>
                <a:latin typeface="Courier New" pitchFamily="34" charset="0"/>
                <a:ea typeface="Courier New" pitchFamily="34" charset="-122"/>
                <a:cs typeface="Courier New" pitchFamily="34" charset="-120"/>
              </a:rPr>
              <a:t>GROUP BY c.pillar_name       -- cwe -&gt; pillar</a:t>
            </a:r>
            <a:endParaRPr lang="en-US" sz="1000" dirty="0"/>
          </a:p>
          <a:p>
            <a:pPr indent="0" marL="0">
              <a:buNone/>
            </a:pPr>
            <a:r>
              <a:rPr lang="en-US" sz="1000" dirty="0">
                <a:solidFill>
                  <a:srgbClr val="E6EDF3"/>
                </a:solidFill>
                <a:latin typeface="Courier New" pitchFamily="34" charset="0"/>
                <a:ea typeface="Courier New" pitchFamily="34" charset="-122"/>
                <a:cs typeface="Courier New" pitchFamily="34" charset="-120"/>
              </a:rPr>
              <a:t>ORDER BY in_kev DESC;</a:t>
            </a:r>
            <a:endParaRPr lang="en-US" sz="1000" dirty="0"/>
          </a:p>
        </p:txBody>
      </p:sp>
      <p:pic>
        <p:nvPicPr>
          <p:cNvPr id="9" name="Image 0" descr="preencoded.png">    </p:cNvPr>
          <p:cNvPicPr>
            <a:picLocks noChangeAspect="1"/>
          </p:cNvPicPr>
          <p:nvPr/>
        </p:nvPicPr>
        <p:blipFill>
          <a:blip r:embed="rId1"/>
          <a:stretch>
            <a:fillRect/>
          </a:stretch>
        </p:blipFill>
        <p:spPr>
          <a:xfrm>
            <a:off x="6720840" y="1417320"/>
            <a:ext cx="4206240" cy="1775968"/>
          </a:xfrm>
          <a:prstGeom prst="rect">
            <a:avLst/>
          </a:prstGeom>
        </p:spPr>
      </p:pic>
      <p:graphicFrame>
        <p:nvGraphicFramePr>
          <p:cNvPr id="10" name="Chart 0" descr=""/>
          <p:cNvGraphicFramePr/>
          <p:nvPr/>
        </p:nvGraphicFramePr>
        <p:xfrm>
          <a:off x="6126480" y="3246120"/>
          <a:ext cx="5605272" cy="2423160"/>
        </p:xfrm>
        <a:graphic xmlns:a="http://schemas.openxmlformats.org/drawingml/2006/main">
          <a:graphicData uri="http://schemas.openxmlformats.org/drawingml/2006/chart">
            <c:chart xmlns:c="http://schemas.openxmlformats.org/drawingml/2006/chart" r:id="rId2"/>
          </a:graphicData>
        </a:graphic>
      </p:graphicFrame>
      <p:sp>
        <p:nvSpPr>
          <p:cNvPr id="11" name="Shape 7"/>
          <p:cNvSpPr/>
          <p:nvPr/>
        </p:nvSpPr>
        <p:spPr>
          <a:xfrm>
            <a:off x="457200" y="5806440"/>
            <a:ext cx="11274552" cy="548640"/>
          </a:xfrm>
          <a:prstGeom prst="rect">
            <a:avLst/>
          </a:prstGeom>
          <a:solidFill>
            <a:srgbClr val="F3F5F8"/>
          </a:solidFill>
          <a:ln w="12700">
            <a:solidFill>
              <a:srgbClr val="F3F5F8"/>
            </a:solidFill>
            <a:prstDash val="solid"/>
          </a:ln>
        </p:spPr>
      </p:sp>
      <p:sp>
        <p:nvSpPr>
          <p:cNvPr id="12" name="Text 8"/>
          <p:cNvSpPr txBox="1"/>
          <p:nvPr/>
        </p:nvSpPr>
        <p:spPr>
          <a:xfrm>
            <a:off x="640080" y="5806440"/>
            <a:ext cx="10908792" cy="548640"/>
          </a:xfrm>
          <a:prstGeom prst="rect">
            <a:avLst/>
          </a:prstGeom>
          <a:noFill/>
          <a:ln/>
        </p:spPr>
        <p:txBody>
          <a:bodyPr wrap="square" lIns="0" tIns="0" rIns="0" bIns="0" rtlCol="0" anchor="ctr"/>
          <a:lstStyle/>
          <a:p>
            <a:pPr indent="0" marL="0">
              <a:buNone/>
            </a:pPr>
            <a:r>
              <a:rPr lang="en-US" sz="1300" dirty="0">
                <a:solidFill>
                  <a:srgbClr val="1F2933"/>
                </a:solidFill>
                <a:latin typeface="Calibri" pitchFamily="34" charset="0"/>
                <a:ea typeface="Calibri" pitchFamily="34" charset="-122"/>
                <a:cs typeface="Calibri" pitchFamily="34" charset="-120"/>
              </a:rPr>
              <a:t>Memory-lifetime weaknesses and injection weaknesses have similar volumes (63k vs 57k CVEs), but memory ones are exploited twice as often: 0.70% vs 0.36%.</a:t>
            </a:r>
            <a:endParaRPr lang="en-US" sz="13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320040"/>
            <a:ext cx="8778240" cy="640080"/>
          </a:xfrm>
          <a:prstGeom prst="rect">
            <a:avLst/>
          </a:prstGeom>
          <a:noFill/>
          <a:ln/>
        </p:spPr>
        <p:txBody>
          <a:bodyPr wrap="square" lIns="0" tIns="0" rIns="0" bIns="0" rtlCol="0" anchor="ctr"/>
          <a:lstStyle/>
          <a:p>
            <a:pPr indent="0" marL="0">
              <a:buNone/>
            </a:pPr>
            <a:r>
              <a:rPr lang="en-US" sz="2600" b="1" dirty="0">
                <a:solidFill>
                  <a:srgbClr val="1B2A41"/>
                </a:solidFill>
                <a:latin typeface="Arial" pitchFamily="34" charset="0"/>
                <a:ea typeface="Arial" pitchFamily="34" charset="-122"/>
                <a:cs typeface="Arial" pitchFamily="34" charset="-120"/>
              </a:rPr>
              <a:t>Q2b · Inside the most exploited family</a:t>
            </a:r>
            <a:endParaRPr lang="en-US" sz="2600" dirty="0"/>
          </a:p>
        </p:txBody>
      </p:sp>
      <p:sp>
        <p:nvSpPr>
          <p:cNvPr id="3" name="Shape 1"/>
          <p:cNvSpPr/>
          <p:nvPr/>
        </p:nvSpPr>
        <p:spPr>
          <a:xfrm>
            <a:off x="9464040" y="384048"/>
            <a:ext cx="2267712" cy="512064"/>
          </a:xfrm>
          <a:prstGeom prst="roundRect">
            <a:avLst>
              <a:gd name="adj" fmla="val 50000"/>
            </a:avLst>
          </a:prstGeom>
          <a:solidFill>
            <a:srgbClr val="148C8C"/>
          </a:solidFill>
          <a:ln w="12700">
            <a:solidFill>
              <a:srgbClr val="148C8C"/>
            </a:solidFill>
            <a:prstDash val="solid"/>
          </a:ln>
        </p:spPr>
      </p:sp>
      <p:sp>
        <p:nvSpPr>
          <p:cNvPr id="4" name="Text 2"/>
          <p:cNvSpPr txBox="1"/>
          <p:nvPr/>
        </p:nvSpPr>
        <p:spPr>
          <a:xfrm>
            <a:off x="9464040" y="384048"/>
            <a:ext cx="2267712" cy="512064"/>
          </a:xfrm>
          <a:prstGeom prst="rect">
            <a:avLst/>
          </a:prstGeom>
          <a:noFill/>
          <a:ln/>
        </p:spPr>
        <p:txBody>
          <a:bodyPr wrap="square" lIns="0" tIns="0" rIns="0" bIns="0" rtlCol="0" anchor="ctr"/>
          <a:lstStyle/>
          <a:p>
            <a:pPr algn="ctr" indent="0" marL="0">
              <a:buNone/>
            </a:pPr>
            <a:r>
              <a:rPr lang="en-US" sz="1500" b="1" dirty="0">
                <a:solidFill>
                  <a:srgbClr val="FFFFFF"/>
                </a:solidFill>
                <a:latin typeface="Arial" pitchFamily="34" charset="0"/>
                <a:ea typeface="Arial" pitchFamily="34" charset="-122"/>
                <a:cs typeface="Arial" pitchFamily="34" charset="-120"/>
              </a:rPr>
              <a:t>DRILL-DOWN</a:t>
            </a:r>
            <a:endParaRPr lang="en-US" sz="1500" dirty="0"/>
          </a:p>
        </p:txBody>
      </p:sp>
      <p:sp>
        <p:nvSpPr>
          <p:cNvPr id="5" name="Text 3"/>
          <p:cNvSpPr txBox="1"/>
          <p:nvPr/>
        </p:nvSpPr>
        <p:spPr>
          <a:xfrm>
            <a:off x="457200" y="987552"/>
            <a:ext cx="11247120" cy="411480"/>
          </a:xfrm>
          <a:prstGeom prst="rect">
            <a:avLst/>
          </a:prstGeom>
          <a:noFill/>
          <a:ln/>
        </p:spPr>
        <p:txBody>
          <a:bodyPr wrap="square" lIns="0" tIns="0" rIns="0" bIns="0" rtlCol="0" anchor="t"/>
          <a:lstStyle/>
          <a:p>
            <a:pPr indent="0" marL="0">
              <a:buNone/>
            </a:pPr>
            <a:r>
              <a:rPr lang="en-US" sz="1500" i="1" dirty="0">
                <a:solidFill>
                  <a:srgbClr val="5B6B7C"/>
                </a:solidFill>
                <a:latin typeface="Calibri" pitchFamily="34" charset="0"/>
                <a:ea typeface="Calibri" pitchFamily="34" charset="-122"/>
                <a:cs typeface="Calibri" pitchFamily="34" charset="-120"/>
              </a:rPr>
              <a:t>“Open the pillar ‘Resource lifetime’ into its CWEs: most frequent vs most exploited.”</a:t>
            </a:r>
            <a:endParaRPr lang="en-US" sz="1500" dirty="0"/>
          </a:p>
        </p:txBody>
      </p:sp>
      <p:sp>
        <p:nvSpPr>
          <p:cNvPr id="6" name="Text 4"/>
          <p:cNvSpPr txBox="1"/>
          <p:nvPr/>
        </p:nvSpPr>
        <p:spPr>
          <a:xfrm>
            <a:off x="6675120" y="6446520"/>
            <a:ext cx="5056632" cy="274320"/>
          </a:xfrm>
          <a:prstGeom prst="rect">
            <a:avLst/>
          </a:prstGeom>
          <a:noFill/>
          <a:ln/>
        </p:spPr>
        <p:txBody>
          <a:bodyPr wrap="square" lIns="0" tIns="0" rIns="0" bIns="0" rtlCol="0" anchor="ctr"/>
          <a:lstStyle/>
          <a:p>
            <a:pPr algn="r" indent="0" marL="0">
              <a:buNone/>
            </a:pPr>
            <a:r>
              <a:rPr lang="en-US" sz="900" dirty="0">
                <a:solidFill>
                  <a:srgbClr val="5B6B7C"/>
                </a:solidFill>
                <a:latin typeface="Calibri" pitchFamily="34" charset="0"/>
                <a:ea typeface="Calibri" pitchFamily="34" charset="-122"/>
                <a:cs typeface="Calibri" pitchFamily="34" charset="-120"/>
              </a:rPr>
              <a:t>CVE Data Warehouse · Alessia Angele · 13</a:t>
            </a:r>
            <a:endParaRPr lang="en-US" sz="900" dirty="0"/>
          </a:p>
        </p:txBody>
      </p:sp>
      <p:sp>
        <p:nvSpPr>
          <p:cNvPr id="7" name="Shape 5"/>
          <p:cNvSpPr/>
          <p:nvPr/>
        </p:nvSpPr>
        <p:spPr>
          <a:xfrm>
            <a:off x="457200" y="1554480"/>
            <a:ext cx="5394960" cy="4069080"/>
          </a:xfrm>
          <a:prstGeom prst="rect">
            <a:avLst/>
          </a:prstGeom>
          <a:solidFill>
            <a:srgbClr val="16202E"/>
          </a:solidFill>
          <a:ln w="12700">
            <a:solidFill>
              <a:srgbClr val="16202E"/>
            </a:solidFill>
            <a:prstDash val="solid"/>
          </a:ln>
        </p:spPr>
      </p:sp>
      <p:sp>
        <p:nvSpPr>
          <p:cNvPr id="8" name="Text 6"/>
          <p:cNvSpPr txBox="1"/>
          <p:nvPr/>
        </p:nvSpPr>
        <p:spPr>
          <a:xfrm>
            <a:off x="594360" y="1645920"/>
            <a:ext cx="5120640" cy="3886200"/>
          </a:xfrm>
          <a:prstGeom prst="rect">
            <a:avLst/>
          </a:prstGeom>
          <a:noFill/>
          <a:ln/>
        </p:spPr>
        <p:txBody>
          <a:bodyPr wrap="square" lIns="0" tIns="0" rIns="0" bIns="0" rtlCol="0" anchor="t"/>
          <a:lstStyle/>
          <a:p>
            <a:pPr indent="0" marL="0">
              <a:buNone/>
            </a:pPr>
            <a:r>
              <a:rPr lang="en-US" sz="1000" dirty="0">
                <a:solidFill>
                  <a:srgbClr val="E6EDF3"/>
                </a:solidFill>
                <a:latin typeface="Courier New" pitchFamily="34" charset="0"/>
                <a:ea typeface="Courier New" pitchFamily="34" charset="-122"/>
                <a:cs typeface="Courier New" pitchFamily="34" charset="-120"/>
              </a:rPr>
              <a:t>SELECT c.cwe_id, c.cwe_name,</a:t>
            </a:r>
            <a:endParaRPr lang="en-US" sz="1000" dirty="0"/>
          </a:p>
          <a:p>
            <a:pPr indent="0" marL="0">
              <a:buNone/>
            </a:pPr>
            <a:r>
              <a:rPr lang="en-US" sz="1000" dirty="0">
                <a:solidFill>
                  <a:srgbClr val="E6EDF3"/>
                </a:solidFill>
                <a:latin typeface="Courier New" pitchFamily="34" charset="0"/>
                <a:ea typeface="Courier New" pitchFamily="34" charset="-122"/>
                <a:cs typeface="Courier New" pitchFamily="34" charset="-120"/>
              </a:rPr>
              <a:t>  COUNT(*)                            AS cve_count,</a:t>
            </a:r>
            <a:endParaRPr lang="en-US" sz="1000" dirty="0"/>
          </a:p>
          <a:p>
            <a:pPr indent="0" marL="0">
              <a:buNone/>
            </a:pPr>
            <a:r>
              <a:rPr lang="en-US" sz="1000" dirty="0">
                <a:solidFill>
                  <a:srgbClr val="E6EDF3"/>
                </a:solidFill>
                <a:latin typeface="Courier New" pitchFamily="34" charset="0"/>
                <a:ea typeface="Courier New" pitchFamily="34" charset="-122"/>
                <a:cs typeface="Courier New" pitchFamily="34" charset="-120"/>
              </a:rPr>
              <a:t>  COUNT(*) FILTER (WHERE f.is_in_kev) AS in_kev,</a:t>
            </a:r>
            <a:endParaRPr lang="en-US" sz="1000" dirty="0"/>
          </a:p>
          <a:p>
            <a:pPr indent="0" marL="0">
              <a:buNone/>
            </a:pPr>
            <a:r>
              <a:rPr lang="en-US" sz="1000" dirty="0">
                <a:solidFill>
                  <a:srgbClr val="E6EDF3"/>
                </a:solidFill>
                <a:latin typeface="Courier New" pitchFamily="34" charset="0"/>
                <a:ea typeface="Courier New" pitchFamily="34" charset="-122"/>
                <a:cs typeface="Courier New" pitchFamily="34" charset="-120"/>
              </a:rPr>
              <a:t>  RANK() OVER (ORDER BY COUNT(*) DESC)</a:t>
            </a:r>
            <a:endParaRPr lang="en-US" sz="1000" dirty="0"/>
          </a:p>
          <a:p>
            <a:pPr indent="0" marL="0">
              <a:buNone/>
            </a:pPr>
            <a:r>
              <a:rPr lang="en-US" sz="1000" dirty="0">
                <a:solidFill>
                  <a:srgbClr val="E6EDF3"/>
                </a:solidFill>
                <a:latin typeface="Courier New" pitchFamily="34" charset="0"/>
                <a:ea typeface="Courier New" pitchFamily="34" charset="-122"/>
                <a:cs typeface="Courier New" pitchFamily="34" charset="-120"/>
              </a:rPr>
              <a:t>                                  AS rank_by_frequency,</a:t>
            </a:r>
            <a:endParaRPr lang="en-US" sz="1000" dirty="0"/>
          </a:p>
          <a:p>
            <a:pPr indent="0" marL="0">
              <a:buNone/>
            </a:pPr>
            <a:r>
              <a:rPr lang="en-US" sz="1000" dirty="0">
                <a:solidFill>
                  <a:srgbClr val="E6EDF3"/>
                </a:solidFill>
                <a:latin typeface="Courier New" pitchFamily="34" charset="0"/>
                <a:ea typeface="Courier New" pitchFamily="34" charset="-122"/>
                <a:cs typeface="Courier New" pitchFamily="34" charset="-120"/>
              </a:rPr>
              <a:t>  RANK() OVER (ORDER BY COUNT(*)</a:t>
            </a:r>
            <a:endParaRPr lang="en-US" sz="1000" dirty="0"/>
          </a:p>
          <a:p>
            <a:pPr indent="0" marL="0">
              <a:buNone/>
            </a:pPr>
            <a:r>
              <a:rPr lang="en-US" sz="1000" dirty="0">
                <a:solidFill>
                  <a:srgbClr val="E6EDF3"/>
                </a:solidFill>
                <a:latin typeface="Courier New" pitchFamily="34" charset="0"/>
                <a:ea typeface="Courier New" pitchFamily="34" charset="-122"/>
                <a:cs typeface="Courier New" pitchFamily="34" charset="-120"/>
              </a:rPr>
              <a:t>        FILTER (WHERE f.is_in_kev) DESC)</a:t>
            </a:r>
            <a:endParaRPr lang="en-US" sz="1000" dirty="0"/>
          </a:p>
          <a:p>
            <a:pPr indent="0" marL="0">
              <a:buNone/>
            </a:pPr>
            <a:r>
              <a:rPr lang="en-US" sz="1000" dirty="0">
                <a:solidFill>
                  <a:srgbClr val="E6EDF3"/>
                </a:solidFill>
                <a:latin typeface="Courier New" pitchFamily="34" charset="0"/>
                <a:ea typeface="Courier New" pitchFamily="34" charset="-122"/>
                <a:cs typeface="Courier New" pitchFamily="34" charset="-120"/>
              </a:rPr>
              <a:t>                                  AS rank_by_exploitation</a:t>
            </a:r>
            <a:endParaRPr lang="en-US" sz="1000" dirty="0"/>
          </a:p>
          <a:p>
            <a:pPr indent="0" marL="0">
              <a:buNone/>
            </a:pPr>
            <a:r>
              <a:rPr lang="en-US" sz="1000" dirty="0">
                <a:solidFill>
                  <a:srgbClr val="E6EDF3"/>
                </a:solidFill>
                <a:latin typeface="Courier New" pitchFamily="34" charset="0"/>
                <a:ea typeface="Courier New" pitchFamily="34" charset="-122"/>
                <a:cs typeface="Courier New" pitchFamily="34" charset="-120"/>
              </a:rPr>
              <a:t>FROM fact_vulnerability f</a:t>
            </a:r>
            <a:endParaRPr lang="en-US" sz="1000" dirty="0"/>
          </a:p>
          <a:p>
            <a:pPr indent="0" marL="0">
              <a:buNone/>
            </a:pPr>
            <a:r>
              <a:rPr lang="en-US" sz="1000" dirty="0">
                <a:solidFill>
                  <a:srgbClr val="E6EDF3"/>
                </a:solidFill>
                <a:latin typeface="Courier New" pitchFamily="34" charset="0"/>
                <a:ea typeface="Courier New" pitchFamily="34" charset="-122"/>
                <a:cs typeface="Courier New" pitchFamily="34" charset="-120"/>
              </a:rPr>
              <a:t>JOIN dim_cwe c ON c.cwe_key = f.cwe_key</a:t>
            </a:r>
            <a:endParaRPr lang="en-US" sz="1000" dirty="0"/>
          </a:p>
          <a:p>
            <a:pPr indent="0" marL="0">
              <a:buNone/>
            </a:pPr>
            <a:r>
              <a:rPr lang="en-US" sz="1000" dirty="0">
                <a:solidFill>
                  <a:srgbClr val="E6EDF3"/>
                </a:solidFill>
                <a:latin typeface="Courier New" pitchFamily="34" charset="0"/>
                <a:ea typeface="Courier New" pitchFamily="34" charset="-122"/>
                <a:cs typeface="Courier New" pitchFamily="34" charset="-120"/>
              </a:rPr>
              <a:t>WHERE c.pillar_name = &lt;top pillar of Q2a&gt;</a:t>
            </a:r>
            <a:endParaRPr lang="en-US" sz="1000" dirty="0"/>
          </a:p>
          <a:p>
            <a:pPr indent="0" marL="0">
              <a:buNone/>
            </a:pPr>
            <a:r>
              <a:rPr lang="en-US" sz="1000" dirty="0">
                <a:solidFill>
                  <a:srgbClr val="E6EDF3"/>
                </a:solidFill>
                <a:latin typeface="Courier New" pitchFamily="34" charset="0"/>
                <a:ea typeface="Courier New" pitchFamily="34" charset="-122"/>
                <a:cs typeface="Courier New" pitchFamily="34" charset="-120"/>
              </a:rPr>
              <a:t>GROUP BY c.cwe_id, c.cwe_name  -- pillar -&gt; cwe</a:t>
            </a:r>
            <a:endParaRPr lang="en-US" sz="1000" dirty="0"/>
          </a:p>
          <a:p>
            <a:pPr indent="0" marL="0">
              <a:buNone/>
            </a:pPr>
            <a:r>
              <a:rPr lang="en-US" sz="1000" dirty="0">
                <a:solidFill>
                  <a:srgbClr val="E6EDF3"/>
                </a:solidFill>
                <a:latin typeface="Courier New" pitchFamily="34" charset="0"/>
                <a:ea typeface="Courier New" pitchFamily="34" charset="-122"/>
                <a:cs typeface="Courier New" pitchFamily="34" charset="-120"/>
              </a:rPr>
              <a:t>ORDER BY in_kev DESC LIMIT 15;</a:t>
            </a:r>
            <a:endParaRPr lang="en-US" sz="1000" dirty="0"/>
          </a:p>
        </p:txBody>
      </p:sp>
      <p:pic>
        <p:nvPicPr>
          <p:cNvPr id="9" name="Image 0" descr="preencoded.png">    </p:cNvPr>
          <p:cNvPicPr>
            <a:picLocks noChangeAspect="1"/>
          </p:cNvPicPr>
          <p:nvPr/>
        </p:nvPicPr>
        <p:blipFill>
          <a:blip r:embed="rId1"/>
          <a:stretch>
            <a:fillRect/>
          </a:stretch>
        </p:blipFill>
        <p:spPr>
          <a:xfrm>
            <a:off x="6720840" y="1417320"/>
            <a:ext cx="4206240" cy="1775968"/>
          </a:xfrm>
          <a:prstGeom prst="rect">
            <a:avLst/>
          </a:prstGeom>
        </p:spPr>
      </p:pic>
      <p:graphicFrame>
        <p:nvGraphicFramePr>
          <p:cNvPr id="14" name="Table 0"/>
          <p:cNvGraphicFramePr>
            <a:graphicFrameLocks noGrp="1"/>
          </p:cNvGraphicFramePr>
          <p:nvPr>
            <p:extLst>
              <p:ext uri="{D42A27DB-BD31-4B8C-83A1-F6EECF244321}">
                <p14:modId xmlns:p14="http://schemas.microsoft.com/office/powerpoint/2010/main" val="1579011935"/>
              </p:ext>
            </p:extLst>
          </p:nvPr>
        </p:nvGraphicFramePr>
        <p:xfrm>
          <a:off x="6126480" y="3246120"/>
          <a:ext cx="5605272" cy="914400"/>
        </p:xfrm>
        <a:graphic>
          <a:graphicData uri="http://schemas.openxmlformats.org/drawingml/2006/table">
            <a:tbl>
              <a:tblPr/>
              <a:tblGrid>
                <a:gridCol w="868680"/>
                <a:gridCol w="1737360"/>
                <a:gridCol w="731520"/>
                <a:gridCol w="713232"/>
                <a:gridCol w="777240"/>
                <a:gridCol w="777240"/>
              </a:tblGrid>
              <a:tr h="365760">
                <a:tc>
                  <a:txBody>
                    <a:bodyPr/>
                    <a:lstStyle/>
                    <a:p>
                      <a:pPr algn="ctr" indent="0" marL="0">
                        <a:buNone/>
                      </a:pPr>
                      <a:r>
                        <a:rPr lang="en-US" sz="1150" b="1" dirty="0">
                          <a:solidFill>
                            <a:srgbClr val="FFFFFF"/>
                          </a:solidFill>
                          <a:latin typeface="Calibri" pitchFamily="34" charset="0"/>
                          <a:ea typeface="Calibri" pitchFamily="34" charset="-122"/>
                          <a:cs typeface="Calibri" pitchFamily="34" charset="-120"/>
                        </a:rPr>
                        <a:t>CWE</a:t>
                      </a:r>
                      <a:endParaRPr lang="en-US" sz="1150" dirty="0">
                        <a:latin typeface="Calibri" charset="0"/>
                        <a:ea typeface="Calibri" charset="0"/>
                        <a:cs typeface="Calibr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1B2A41"/>
                    </a:solidFill>
                  </a:tcPr>
                </a:tc>
                <a:tc>
                  <a:txBody>
                    <a:bodyPr/>
                    <a:lstStyle/>
                    <a:p>
                      <a:pPr algn="ctr" indent="0" marL="0">
                        <a:buNone/>
                      </a:pPr>
                      <a:r>
                        <a:rPr lang="en-US" sz="1150" b="1" dirty="0">
                          <a:solidFill>
                            <a:srgbClr val="FFFFFF"/>
                          </a:solidFill>
                          <a:latin typeface="Calibri" pitchFamily="34" charset="0"/>
                          <a:ea typeface="Calibri" pitchFamily="34" charset="-122"/>
                          <a:cs typeface="Calibri" pitchFamily="34" charset="-120"/>
                        </a:rPr>
                        <a:t>Weakness</a:t>
                      </a:r>
                      <a:endParaRPr lang="en-US" sz="1150" dirty="0">
                        <a:latin typeface="Calibri" charset="0"/>
                        <a:ea typeface="Calibri" charset="0"/>
                        <a:cs typeface="Calibr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1B2A41"/>
                    </a:solidFill>
                  </a:tcPr>
                </a:tc>
                <a:tc>
                  <a:txBody>
                    <a:bodyPr/>
                    <a:lstStyle/>
                    <a:p>
                      <a:pPr algn="ctr" indent="0" marL="0">
                        <a:buNone/>
                      </a:pPr>
                      <a:r>
                        <a:rPr lang="en-US" sz="1150" b="1" dirty="0">
                          <a:solidFill>
                            <a:srgbClr val="FFFFFF"/>
                          </a:solidFill>
                          <a:latin typeface="Calibri" pitchFamily="34" charset="0"/>
                          <a:ea typeface="Calibri" pitchFamily="34" charset="-122"/>
                          <a:cs typeface="Calibri" pitchFamily="34" charset="-120"/>
                        </a:rPr>
                        <a:t>CVEs</a:t>
                      </a:r>
                      <a:endParaRPr lang="en-US" sz="1150" dirty="0">
                        <a:latin typeface="Calibri" charset="0"/>
                        <a:ea typeface="Calibri" charset="0"/>
                        <a:cs typeface="Calibr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1B2A41"/>
                    </a:solidFill>
                  </a:tcPr>
                </a:tc>
                <a:tc>
                  <a:txBody>
                    <a:bodyPr/>
                    <a:lstStyle/>
                    <a:p>
                      <a:pPr algn="ctr" indent="0" marL="0">
                        <a:buNone/>
                      </a:pPr>
                      <a:r>
                        <a:rPr lang="en-US" sz="1150" b="1" dirty="0">
                          <a:solidFill>
                            <a:srgbClr val="FFFFFF"/>
                          </a:solidFill>
                          <a:latin typeface="Calibri" pitchFamily="34" charset="0"/>
                          <a:ea typeface="Calibri" pitchFamily="34" charset="-122"/>
                          <a:cs typeface="Calibri" pitchFamily="34" charset="-120"/>
                        </a:rPr>
                        <a:t>In KEV</a:t>
                      </a:r>
                      <a:endParaRPr lang="en-US" sz="1150" dirty="0">
                        <a:latin typeface="Calibri" charset="0"/>
                        <a:ea typeface="Calibri" charset="0"/>
                        <a:cs typeface="Calibr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1B2A41"/>
                    </a:solidFill>
                  </a:tcPr>
                </a:tc>
                <a:tc>
                  <a:txBody>
                    <a:bodyPr/>
                    <a:lstStyle/>
                    <a:p>
                      <a:pPr algn="ctr" indent="0" marL="0">
                        <a:buNone/>
                      </a:pPr>
                      <a:r>
                        <a:rPr lang="en-US" sz="1150" b="1" dirty="0">
                          <a:solidFill>
                            <a:srgbClr val="FFFFFF"/>
                          </a:solidFill>
                          <a:latin typeface="Calibri" pitchFamily="34" charset="0"/>
                          <a:ea typeface="Calibri" pitchFamily="34" charset="-122"/>
                          <a:cs typeface="Calibri" pitchFamily="34" charset="-120"/>
                        </a:rPr>
                        <a:t>Rank freq.</a:t>
                      </a:r>
                      <a:endParaRPr lang="en-US" sz="1150" dirty="0">
                        <a:latin typeface="Calibri" charset="0"/>
                        <a:ea typeface="Calibri" charset="0"/>
                        <a:cs typeface="Calibr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1B2A41"/>
                    </a:solidFill>
                  </a:tcPr>
                </a:tc>
                <a:tc>
                  <a:txBody>
                    <a:bodyPr/>
                    <a:lstStyle/>
                    <a:p>
                      <a:pPr algn="ctr" indent="0" marL="0">
                        <a:buNone/>
                      </a:pPr>
                      <a:r>
                        <a:rPr lang="en-US" sz="1150" b="1" dirty="0">
                          <a:solidFill>
                            <a:srgbClr val="FFFFFF"/>
                          </a:solidFill>
                          <a:latin typeface="Calibri" pitchFamily="34" charset="0"/>
                          <a:ea typeface="Calibri" pitchFamily="34" charset="-122"/>
                          <a:cs typeface="Calibri" pitchFamily="34" charset="-120"/>
                        </a:rPr>
                        <a:t>Rank expl.</a:t>
                      </a:r>
                      <a:endParaRPr lang="en-US" sz="1150" dirty="0">
                        <a:latin typeface="Calibri" charset="0"/>
                        <a:ea typeface="Calibri" charset="0"/>
                        <a:cs typeface="Calibr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1B2A41"/>
                    </a:solidFill>
                  </a:tcPr>
                </a:tc>
              </a:tr>
              <a:tr h="365760">
                <a:tc>
                  <a:txBody>
                    <a:bodyPr/>
                    <a:lstStyle/>
                    <a:p>
                      <a:pPr indent="0" marL="0">
                        <a:buNone/>
                      </a:pPr>
                      <a:r>
                        <a:rPr lang="en-US" sz="1150" dirty="0">
                          <a:solidFill>
                            <a:srgbClr val="1F2933"/>
                          </a:solidFill>
                          <a:latin typeface="Calibri" pitchFamily="34" charset="0"/>
                          <a:ea typeface="Calibri" pitchFamily="34" charset="-122"/>
                          <a:cs typeface="Calibri" pitchFamily="34" charset="-120"/>
                        </a:rPr>
                        <a:t>CWE-787</a:t>
                      </a:r>
                      <a:endParaRPr lang="en-US" sz="1150" dirty="0">
                        <a:latin typeface="Calibri" charset="0"/>
                        <a:ea typeface="Calibri" charset="0"/>
                        <a:cs typeface="Calibr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a:txBody>
                    <a:bodyPr/>
                    <a:lstStyle/>
                    <a:p>
                      <a:pPr indent="0" marL="0">
                        <a:buNone/>
                      </a:pPr>
                      <a:r>
                        <a:rPr lang="en-US" sz="1150" dirty="0">
                          <a:solidFill>
                            <a:srgbClr val="1F2933"/>
                          </a:solidFill>
                          <a:latin typeface="Calibri" pitchFamily="34" charset="0"/>
                          <a:ea typeface="Calibri" pitchFamily="34" charset="-122"/>
                          <a:cs typeface="Calibri" pitchFamily="34" charset="-120"/>
                        </a:rPr>
                        <a:t>Out-of-bounds write</a:t>
                      </a:r>
                      <a:endParaRPr lang="en-US" sz="1150" dirty="0">
                        <a:latin typeface="Calibri" charset="0"/>
                        <a:ea typeface="Calibri" charset="0"/>
                        <a:cs typeface="Calibr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a:txBody>
                    <a:bodyPr/>
                    <a:lstStyle/>
                    <a:p>
                      <a:pPr algn="ctr" indent="0" marL="0">
                        <a:buNone/>
                      </a:pPr>
                      <a:r>
                        <a:rPr lang="en-US" sz="1150" dirty="0">
                          <a:solidFill>
                            <a:srgbClr val="1F2933"/>
                          </a:solidFill>
                          <a:latin typeface="Calibri" pitchFamily="34" charset="0"/>
                          <a:ea typeface="Calibri" pitchFamily="34" charset="-122"/>
                          <a:cs typeface="Calibri" pitchFamily="34" charset="-120"/>
                        </a:rPr>
                        <a:t>9,754</a:t>
                      </a:r>
                      <a:endParaRPr lang="en-US" sz="1150" dirty="0">
                        <a:latin typeface="Calibri" charset="0"/>
                        <a:ea typeface="Calibri" charset="0"/>
                        <a:cs typeface="Calibr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a:txBody>
                    <a:bodyPr/>
                    <a:lstStyle/>
                    <a:p>
                      <a:pPr algn="ctr" indent="0" marL="0">
                        <a:buNone/>
                      </a:pPr>
                      <a:r>
                        <a:rPr lang="en-US" sz="1150" dirty="0">
                          <a:solidFill>
                            <a:srgbClr val="1F2933"/>
                          </a:solidFill>
                          <a:latin typeface="Calibri" pitchFamily="34" charset="0"/>
                          <a:ea typeface="Calibri" pitchFamily="34" charset="-122"/>
                          <a:cs typeface="Calibri" pitchFamily="34" charset="-120"/>
                        </a:rPr>
                        <a:t>98</a:t>
                      </a:r>
                      <a:endParaRPr lang="en-US" sz="1150" dirty="0">
                        <a:latin typeface="Calibri" charset="0"/>
                        <a:ea typeface="Calibri" charset="0"/>
                        <a:cs typeface="Calibr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a:txBody>
                    <a:bodyPr/>
                    <a:lstStyle/>
                    <a:p>
                      <a:pPr algn="ctr" indent="0" marL="0">
                        <a:buNone/>
                      </a:pPr>
                      <a:r>
                        <a:rPr lang="en-US" sz="1150" dirty="0">
                          <a:solidFill>
                            <a:srgbClr val="1F2933"/>
                          </a:solidFill>
                          <a:latin typeface="Calibri" pitchFamily="34" charset="0"/>
                          <a:ea typeface="Calibri" pitchFamily="34" charset="-122"/>
                          <a:cs typeface="Calibri" pitchFamily="34" charset="-120"/>
                        </a:rPr>
                        <a:t>1</a:t>
                      </a:r>
                      <a:endParaRPr lang="en-US" sz="1150" dirty="0">
                        <a:latin typeface="Calibri" charset="0"/>
                        <a:ea typeface="Calibri" charset="0"/>
                        <a:cs typeface="Calibr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a:txBody>
                    <a:bodyPr/>
                    <a:lstStyle/>
                    <a:p>
                      <a:pPr algn="ctr" indent="0" marL="0">
                        <a:buNone/>
                      </a:pPr>
                      <a:r>
                        <a:rPr lang="en-US" sz="1150" dirty="0">
                          <a:solidFill>
                            <a:srgbClr val="1F2933"/>
                          </a:solidFill>
                          <a:latin typeface="Calibri" pitchFamily="34" charset="0"/>
                          <a:ea typeface="Calibri" pitchFamily="34" charset="-122"/>
                          <a:cs typeface="Calibri" pitchFamily="34" charset="-120"/>
                        </a:rPr>
                        <a:t>1</a:t>
                      </a:r>
                      <a:endParaRPr lang="en-US" sz="1150" dirty="0">
                        <a:latin typeface="Calibri" charset="0"/>
                        <a:ea typeface="Calibri" charset="0"/>
                        <a:cs typeface="Calibr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r>
              <a:tr h="365760">
                <a:tc>
                  <a:txBody>
                    <a:bodyPr/>
                    <a:lstStyle/>
                    <a:p>
                      <a:pPr indent="0" marL="0">
                        <a:buNone/>
                      </a:pPr>
                      <a:r>
                        <a:rPr lang="en-US" sz="1150" dirty="0">
                          <a:solidFill>
                            <a:srgbClr val="1F2933"/>
                          </a:solidFill>
                          <a:latin typeface="Calibri" pitchFamily="34" charset="0"/>
                          <a:ea typeface="Calibri" pitchFamily="34" charset="-122"/>
                          <a:cs typeface="Calibri" pitchFamily="34" charset="-120"/>
                        </a:rPr>
                        <a:t>CWE-416</a:t>
                      </a:r>
                      <a:endParaRPr lang="en-US" sz="1150" dirty="0">
                        <a:latin typeface="Calibri" charset="0"/>
                        <a:ea typeface="Calibri" charset="0"/>
                        <a:cs typeface="Calibr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a:txBody>
                    <a:bodyPr/>
                    <a:lstStyle/>
                    <a:p>
                      <a:pPr indent="0" marL="0">
                        <a:buNone/>
                      </a:pPr>
                      <a:r>
                        <a:rPr lang="en-US" sz="1150" dirty="0">
                          <a:solidFill>
                            <a:srgbClr val="1F2933"/>
                          </a:solidFill>
                          <a:latin typeface="Calibri" pitchFamily="34" charset="0"/>
                          <a:ea typeface="Calibri" pitchFamily="34" charset="-122"/>
                          <a:cs typeface="Calibri" pitchFamily="34" charset="-120"/>
                        </a:rPr>
                        <a:t>Use after free</a:t>
                      </a:r>
                      <a:endParaRPr lang="en-US" sz="1150" dirty="0">
                        <a:latin typeface="Calibri" charset="0"/>
                        <a:ea typeface="Calibri" charset="0"/>
                        <a:cs typeface="Calibr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a:txBody>
                    <a:bodyPr/>
                    <a:lstStyle/>
                    <a:p>
                      <a:pPr algn="ctr" indent="0" marL="0">
                        <a:buNone/>
                      </a:pPr>
                      <a:r>
                        <a:rPr lang="en-US" sz="1150" dirty="0">
                          <a:solidFill>
                            <a:srgbClr val="1F2933"/>
                          </a:solidFill>
                          <a:latin typeface="Calibri" pitchFamily="34" charset="0"/>
                          <a:ea typeface="Calibri" pitchFamily="34" charset="-122"/>
                          <a:cs typeface="Calibri" pitchFamily="34" charset="-120"/>
                        </a:rPr>
                        <a:t>4,511</a:t>
                      </a:r>
                      <a:endParaRPr lang="en-US" sz="1150" dirty="0">
                        <a:latin typeface="Calibri" charset="0"/>
                        <a:ea typeface="Calibri" charset="0"/>
                        <a:cs typeface="Calibr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a:txBody>
                    <a:bodyPr/>
                    <a:lstStyle/>
                    <a:p>
                      <a:pPr algn="ctr" indent="0" marL="0">
                        <a:buNone/>
                      </a:pPr>
                      <a:r>
                        <a:rPr lang="en-US" sz="1150" dirty="0">
                          <a:solidFill>
                            <a:srgbClr val="1F2933"/>
                          </a:solidFill>
                          <a:latin typeface="Calibri" pitchFamily="34" charset="0"/>
                          <a:ea typeface="Calibri" pitchFamily="34" charset="-122"/>
                          <a:cs typeface="Calibri" pitchFamily="34" charset="-120"/>
                        </a:rPr>
                        <a:t>65</a:t>
                      </a:r>
                      <a:endParaRPr lang="en-US" sz="1150" dirty="0">
                        <a:latin typeface="Calibri" charset="0"/>
                        <a:ea typeface="Calibri" charset="0"/>
                        <a:cs typeface="Calibr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a:txBody>
                    <a:bodyPr/>
                    <a:lstStyle/>
                    <a:p>
                      <a:pPr algn="ctr" indent="0" marL="0">
                        <a:buNone/>
                      </a:pPr>
                      <a:r>
                        <a:rPr lang="en-US" sz="1150" dirty="0">
                          <a:solidFill>
                            <a:srgbClr val="1F2933"/>
                          </a:solidFill>
                          <a:latin typeface="Calibri" pitchFamily="34" charset="0"/>
                          <a:ea typeface="Calibri" pitchFamily="34" charset="-122"/>
                          <a:cs typeface="Calibri" pitchFamily="34" charset="-120"/>
                        </a:rPr>
                        <a:t>4</a:t>
                      </a:r>
                      <a:endParaRPr lang="en-US" sz="1150" dirty="0">
                        <a:latin typeface="Calibri" charset="0"/>
                        <a:ea typeface="Calibri" charset="0"/>
                        <a:cs typeface="Calibr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a:txBody>
                    <a:bodyPr/>
                    <a:lstStyle/>
                    <a:p>
                      <a:pPr algn="ctr" indent="0" marL="0">
                        <a:buNone/>
                      </a:pPr>
                      <a:r>
                        <a:rPr lang="en-US" sz="1150" b="1" dirty="0">
                          <a:solidFill>
                            <a:srgbClr val="C8102E"/>
                          </a:solidFill>
                          <a:latin typeface="Calibri" pitchFamily="34" charset="0"/>
                          <a:ea typeface="Calibri" pitchFamily="34" charset="-122"/>
                          <a:cs typeface="Calibri" pitchFamily="34" charset="-120"/>
                        </a:rPr>
                        <a:t>2</a:t>
                      </a:r>
                      <a:endParaRPr lang="en-US" sz="1150" dirty="0">
                        <a:latin typeface="Calibri" charset="0"/>
                        <a:ea typeface="Calibri" charset="0"/>
                        <a:cs typeface="Calibr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r>
              <a:tr h="365760">
                <a:tc>
                  <a:txBody>
                    <a:bodyPr/>
                    <a:lstStyle/>
                    <a:p>
                      <a:pPr indent="0" marL="0">
                        <a:buNone/>
                      </a:pPr>
                      <a:r>
                        <a:rPr lang="en-US" sz="1150" dirty="0">
                          <a:solidFill>
                            <a:srgbClr val="1F2933"/>
                          </a:solidFill>
                          <a:latin typeface="Calibri" pitchFamily="34" charset="0"/>
                          <a:ea typeface="Calibri" pitchFamily="34" charset="-122"/>
                          <a:cs typeface="Calibri" pitchFamily="34" charset="-120"/>
                        </a:rPr>
                        <a:t>CWE-502</a:t>
                      </a:r>
                      <a:endParaRPr lang="en-US" sz="1150" dirty="0">
                        <a:latin typeface="Calibri" charset="0"/>
                        <a:ea typeface="Calibri" charset="0"/>
                        <a:cs typeface="Calibr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a:txBody>
                    <a:bodyPr/>
                    <a:lstStyle/>
                    <a:p>
                      <a:pPr indent="0" marL="0">
                        <a:buNone/>
                      </a:pPr>
                      <a:r>
                        <a:rPr lang="en-US" sz="1150" dirty="0">
                          <a:solidFill>
                            <a:srgbClr val="1F2933"/>
                          </a:solidFill>
                          <a:latin typeface="Calibri" pitchFamily="34" charset="0"/>
                          <a:ea typeface="Calibri" pitchFamily="34" charset="-122"/>
                          <a:cs typeface="Calibri" pitchFamily="34" charset="-120"/>
                        </a:rPr>
                        <a:t>Deserialization</a:t>
                      </a:r>
                      <a:endParaRPr lang="en-US" sz="1150" dirty="0">
                        <a:latin typeface="Calibri" charset="0"/>
                        <a:ea typeface="Calibri" charset="0"/>
                        <a:cs typeface="Calibr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a:txBody>
                    <a:bodyPr/>
                    <a:lstStyle/>
                    <a:p>
                      <a:pPr algn="ctr" indent="0" marL="0">
                        <a:buNone/>
                      </a:pPr>
                      <a:r>
                        <a:rPr lang="en-US" sz="1150" dirty="0">
                          <a:solidFill>
                            <a:srgbClr val="1F2933"/>
                          </a:solidFill>
                          <a:latin typeface="Calibri" pitchFamily="34" charset="0"/>
                          <a:ea typeface="Calibri" pitchFamily="34" charset="-122"/>
                          <a:cs typeface="Calibri" pitchFamily="34" charset="-120"/>
                        </a:rPr>
                        <a:t>2,013</a:t>
                      </a:r>
                      <a:endParaRPr lang="en-US" sz="1150" dirty="0">
                        <a:latin typeface="Calibri" charset="0"/>
                        <a:ea typeface="Calibri" charset="0"/>
                        <a:cs typeface="Calibr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a:txBody>
                    <a:bodyPr/>
                    <a:lstStyle/>
                    <a:p>
                      <a:pPr algn="ctr" indent="0" marL="0">
                        <a:buNone/>
                      </a:pPr>
                      <a:r>
                        <a:rPr lang="en-US" sz="1150" dirty="0">
                          <a:solidFill>
                            <a:srgbClr val="1F2933"/>
                          </a:solidFill>
                          <a:latin typeface="Calibri" pitchFamily="34" charset="0"/>
                          <a:ea typeface="Calibri" pitchFamily="34" charset="-122"/>
                          <a:cs typeface="Calibri" pitchFamily="34" charset="-120"/>
                        </a:rPr>
                        <a:t>46</a:t>
                      </a:r>
                      <a:endParaRPr lang="en-US" sz="1150" dirty="0">
                        <a:latin typeface="Calibri" charset="0"/>
                        <a:ea typeface="Calibri" charset="0"/>
                        <a:cs typeface="Calibr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a:txBody>
                    <a:bodyPr/>
                    <a:lstStyle/>
                    <a:p>
                      <a:pPr algn="ctr" indent="0" marL="0">
                        <a:buNone/>
                      </a:pPr>
                      <a:r>
                        <a:rPr lang="en-US" sz="1150" dirty="0">
                          <a:solidFill>
                            <a:srgbClr val="1F2933"/>
                          </a:solidFill>
                          <a:latin typeface="Calibri" pitchFamily="34" charset="0"/>
                          <a:ea typeface="Calibri" pitchFamily="34" charset="-122"/>
                          <a:cs typeface="Calibri" pitchFamily="34" charset="-120"/>
                        </a:rPr>
                        <a:t>8</a:t>
                      </a:r>
                      <a:endParaRPr lang="en-US" sz="1150" dirty="0">
                        <a:latin typeface="Calibri" charset="0"/>
                        <a:ea typeface="Calibri" charset="0"/>
                        <a:cs typeface="Calibr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a:txBody>
                    <a:bodyPr/>
                    <a:lstStyle/>
                    <a:p>
                      <a:pPr algn="ctr" indent="0" marL="0">
                        <a:buNone/>
                      </a:pPr>
                      <a:r>
                        <a:rPr lang="en-US" sz="1150" b="1" dirty="0">
                          <a:solidFill>
                            <a:srgbClr val="C8102E"/>
                          </a:solidFill>
                          <a:latin typeface="Calibri" pitchFamily="34" charset="0"/>
                          <a:ea typeface="Calibri" pitchFamily="34" charset="-122"/>
                          <a:cs typeface="Calibri" pitchFamily="34" charset="-120"/>
                        </a:rPr>
                        <a:t>4</a:t>
                      </a:r>
                      <a:endParaRPr lang="en-US" sz="1150" dirty="0">
                        <a:latin typeface="Calibri" charset="0"/>
                        <a:ea typeface="Calibri" charset="0"/>
                        <a:cs typeface="Calibr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r>
              <a:tr h="365760">
                <a:tc>
                  <a:txBody>
                    <a:bodyPr/>
                    <a:lstStyle/>
                    <a:p>
                      <a:pPr indent="0" marL="0">
                        <a:buNone/>
                      </a:pPr>
                      <a:r>
                        <a:rPr lang="en-US" sz="1150" dirty="0">
                          <a:solidFill>
                            <a:srgbClr val="1F2933"/>
                          </a:solidFill>
                          <a:latin typeface="Calibri" pitchFamily="34" charset="0"/>
                          <a:ea typeface="Calibri" pitchFamily="34" charset="-122"/>
                          <a:cs typeface="Calibri" pitchFamily="34" charset="-120"/>
                        </a:rPr>
                        <a:t>CWE-843</a:t>
                      </a:r>
                      <a:endParaRPr lang="en-US" sz="1150" dirty="0">
                        <a:latin typeface="Calibri" charset="0"/>
                        <a:ea typeface="Calibri" charset="0"/>
                        <a:cs typeface="Calibr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a:txBody>
                    <a:bodyPr/>
                    <a:lstStyle/>
                    <a:p>
                      <a:pPr indent="0" marL="0">
                        <a:buNone/>
                      </a:pPr>
                      <a:r>
                        <a:rPr lang="en-US" sz="1150" dirty="0">
                          <a:solidFill>
                            <a:srgbClr val="1F2933"/>
                          </a:solidFill>
                          <a:latin typeface="Calibri" pitchFamily="34" charset="0"/>
                          <a:ea typeface="Calibri" pitchFamily="34" charset="-122"/>
                          <a:cs typeface="Calibri" pitchFamily="34" charset="-120"/>
                        </a:rPr>
                        <a:t>Type confusion</a:t>
                      </a:r>
                      <a:endParaRPr lang="en-US" sz="1150" dirty="0">
                        <a:latin typeface="Calibri" charset="0"/>
                        <a:ea typeface="Calibri" charset="0"/>
                        <a:cs typeface="Calibr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a:txBody>
                    <a:bodyPr/>
                    <a:lstStyle/>
                    <a:p>
                      <a:pPr algn="ctr" indent="0" marL="0">
                        <a:buNone/>
                      </a:pPr>
                      <a:r>
                        <a:rPr lang="en-US" sz="1150" dirty="0">
                          <a:solidFill>
                            <a:srgbClr val="1F2933"/>
                          </a:solidFill>
                          <a:latin typeface="Calibri" pitchFamily="34" charset="0"/>
                          <a:ea typeface="Calibri" pitchFamily="34" charset="-122"/>
                          <a:cs typeface="Calibri" pitchFamily="34" charset="-120"/>
                        </a:rPr>
                        <a:t>469</a:t>
                      </a:r>
                      <a:endParaRPr lang="en-US" sz="1150" dirty="0">
                        <a:latin typeface="Calibri" charset="0"/>
                        <a:ea typeface="Calibri" charset="0"/>
                        <a:cs typeface="Calibr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a:txBody>
                    <a:bodyPr/>
                    <a:lstStyle/>
                    <a:p>
                      <a:pPr algn="ctr" indent="0" marL="0">
                        <a:buNone/>
                      </a:pPr>
                      <a:r>
                        <a:rPr lang="en-US" sz="1150" dirty="0">
                          <a:solidFill>
                            <a:srgbClr val="1F2933"/>
                          </a:solidFill>
                          <a:latin typeface="Calibri" pitchFamily="34" charset="0"/>
                          <a:ea typeface="Calibri" pitchFamily="34" charset="-122"/>
                          <a:cs typeface="Calibri" pitchFamily="34" charset="-120"/>
                        </a:rPr>
                        <a:t>27</a:t>
                      </a:r>
                      <a:endParaRPr lang="en-US" sz="1150" dirty="0">
                        <a:latin typeface="Calibri" charset="0"/>
                        <a:ea typeface="Calibri" charset="0"/>
                        <a:cs typeface="Calibr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a:txBody>
                    <a:bodyPr/>
                    <a:lstStyle/>
                    <a:p>
                      <a:pPr algn="ctr" indent="0" marL="0">
                        <a:buNone/>
                      </a:pPr>
                      <a:r>
                        <a:rPr lang="en-US" sz="1150" dirty="0">
                          <a:solidFill>
                            <a:srgbClr val="1F2933"/>
                          </a:solidFill>
                          <a:latin typeface="Calibri" pitchFamily="34" charset="0"/>
                          <a:ea typeface="Calibri" pitchFamily="34" charset="-122"/>
                          <a:cs typeface="Calibri" pitchFamily="34" charset="-120"/>
                        </a:rPr>
                        <a:t>29</a:t>
                      </a:r>
                      <a:endParaRPr lang="en-US" sz="1150" dirty="0">
                        <a:latin typeface="Calibri" charset="0"/>
                        <a:ea typeface="Calibri" charset="0"/>
                        <a:cs typeface="Calibr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a:txBody>
                    <a:bodyPr/>
                    <a:lstStyle/>
                    <a:p>
                      <a:pPr algn="ctr" indent="0" marL="0">
                        <a:buNone/>
                      </a:pPr>
                      <a:r>
                        <a:rPr lang="en-US" sz="1150" b="1" dirty="0">
                          <a:solidFill>
                            <a:srgbClr val="C8102E"/>
                          </a:solidFill>
                          <a:latin typeface="Calibri" pitchFamily="34" charset="0"/>
                          <a:ea typeface="Calibri" pitchFamily="34" charset="-122"/>
                          <a:cs typeface="Calibri" pitchFamily="34" charset="-120"/>
                        </a:rPr>
                        <a:t>5</a:t>
                      </a:r>
                      <a:endParaRPr lang="en-US" sz="1150" dirty="0">
                        <a:latin typeface="Calibri" charset="0"/>
                        <a:ea typeface="Calibri" charset="0"/>
                        <a:cs typeface="Calibr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r>
              <a:tr h="365760">
                <a:tc>
                  <a:txBody>
                    <a:bodyPr/>
                    <a:lstStyle/>
                    <a:p>
                      <a:pPr indent="0" marL="0">
                        <a:buNone/>
                      </a:pPr>
                      <a:r>
                        <a:rPr lang="en-US" sz="1150" dirty="0">
                          <a:solidFill>
                            <a:srgbClr val="1F2933"/>
                          </a:solidFill>
                          <a:latin typeface="Calibri" pitchFamily="34" charset="0"/>
                          <a:ea typeface="Calibri" pitchFamily="34" charset="-122"/>
                          <a:cs typeface="Calibri" pitchFamily="34" charset="-120"/>
                        </a:rPr>
                        <a:t>CWE-125</a:t>
                      </a:r>
                      <a:endParaRPr lang="en-US" sz="1150" dirty="0">
                        <a:latin typeface="Calibri" charset="0"/>
                        <a:ea typeface="Calibri" charset="0"/>
                        <a:cs typeface="Calibr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a:txBody>
                    <a:bodyPr/>
                    <a:lstStyle/>
                    <a:p>
                      <a:pPr indent="0" marL="0">
                        <a:buNone/>
                      </a:pPr>
                      <a:r>
                        <a:rPr lang="en-US" sz="1150" dirty="0">
                          <a:solidFill>
                            <a:srgbClr val="1F2933"/>
                          </a:solidFill>
                          <a:latin typeface="Calibri" pitchFamily="34" charset="0"/>
                          <a:ea typeface="Calibri" pitchFamily="34" charset="-122"/>
                          <a:cs typeface="Calibri" pitchFamily="34" charset="-120"/>
                        </a:rPr>
                        <a:t>Out-of-bounds read</a:t>
                      </a:r>
                      <a:endParaRPr lang="en-US" sz="1150" dirty="0">
                        <a:latin typeface="Calibri" charset="0"/>
                        <a:ea typeface="Calibri" charset="0"/>
                        <a:cs typeface="Calibr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a:txBody>
                    <a:bodyPr/>
                    <a:lstStyle/>
                    <a:p>
                      <a:pPr algn="ctr" indent="0" marL="0">
                        <a:buNone/>
                      </a:pPr>
                      <a:r>
                        <a:rPr lang="en-US" sz="1150" dirty="0">
                          <a:solidFill>
                            <a:srgbClr val="1F2933"/>
                          </a:solidFill>
                          <a:latin typeface="Calibri" pitchFamily="34" charset="0"/>
                          <a:ea typeface="Calibri" pitchFamily="34" charset="-122"/>
                          <a:cs typeface="Calibri" pitchFamily="34" charset="-120"/>
                        </a:rPr>
                        <a:t>5,372</a:t>
                      </a:r>
                      <a:endParaRPr lang="en-US" sz="1150" dirty="0">
                        <a:latin typeface="Calibri" charset="0"/>
                        <a:ea typeface="Calibri" charset="0"/>
                        <a:cs typeface="Calibr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a:txBody>
                    <a:bodyPr/>
                    <a:lstStyle/>
                    <a:p>
                      <a:pPr algn="ctr" indent="0" marL="0">
                        <a:buNone/>
                      </a:pPr>
                      <a:r>
                        <a:rPr lang="en-US" sz="1150" dirty="0">
                          <a:solidFill>
                            <a:srgbClr val="1F2933"/>
                          </a:solidFill>
                          <a:latin typeface="Calibri" pitchFamily="34" charset="0"/>
                          <a:ea typeface="Calibri" pitchFamily="34" charset="-122"/>
                          <a:cs typeface="Calibri" pitchFamily="34" charset="-120"/>
                        </a:rPr>
                        <a:t>12</a:t>
                      </a:r>
                      <a:endParaRPr lang="en-US" sz="1150" dirty="0">
                        <a:latin typeface="Calibri" charset="0"/>
                        <a:ea typeface="Calibri" charset="0"/>
                        <a:cs typeface="Calibr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a:txBody>
                    <a:bodyPr/>
                    <a:lstStyle/>
                    <a:p>
                      <a:pPr algn="ctr" indent="0" marL="0">
                        <a:buNone/>
                      </a:pPr>
                      <a:r>
                        <a:rPr lang="en-US" sz="1150" b="1" dirty="0">
                          <a:solidFill>
                            <a:srgbClr val="C8102E"/>
                          </a:solidFill>
                          <a:latin typeface="Calibri" pitchFamily="34" charset="0"/>
                          <a:ea typeface="Calibri" pitchFamily="34" charset="-122"/>
                          <a:cs typeface="Calibri" pitchFamily="34" charset="-120"/>
                        </a:rPr>
                        <a:t>2</a:t>
                      </a:r>
                      <a:endParaRPr lang="en-US" sz="1150" dirty="0">
                        <a:latin typeface="Calibri" charset="0"/>
                        <a:ea typeface="Calibri" charset="0"/>
                        <a:cs typeface="Calibr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a:txBody>
                    <a:bodyPr/>
                    <a:lstStyle/>
                    <a:p>
                      <a:pPr algn="ctr" indent="0" marL="0">
                        <a:buNone/>
                      </a:pPr>
                      <a:r>
                        <a:rPr lang="en-US" sz="1150" dirty="0">
                          <a:solidFill>
                            <a:srgbClr val="1F2933"/>
                          </a:solidFill>
                          <a:latin typeface="Calibri" pitchFamily="34" charset="0"/>
                          <a:ea typeface="Calibri" pitchFamily="34" charset="-122"/>
                          <a:cs typeface="Calibri" pitchFamily="34" charset="-120"/>
                        </a:rPr>
                        <a:t>9</a:t>
                      </a:r>
                      <a:endParaRPr lang="en-US" sz="1150" dirty="0">
                        <a:latin typeface="Calibri" charset="0"/>
                        <a:ea typeface="Calibri" charset="0"/>
                        <a:cs typeface="Calibr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r>
            </a:tbl>
          </a:graphicData>
        </a:graphic>
      </p:graphicFrame>
      <p:sp>
        <p:nvSpPr>
          <p:cNvPr id="11" name="Shape 7"/>
          <p:cNvSpPr/>
          <p:nvPr/>
        </p:nvSpPr>
        <p:spPr>
          <a:xfrm>
            <a:off x="457200" y="5806440"/>
            <a:ext cx="11274552" cy="548640"/>
          </a:xfrm>
          <a:prstGeom prst="rect">
            <a:avLst/>
          </a:prstGeom>
          <a:solidFill>
            <a:srgbClr val="F3F5F8"/>
          </a:solidFill>
          <a:ln w="12700">
            <a:solidFill>
              <a:srgbClr val="F3F5F8"/>
            </a:solidFill>
            <a:prstDash val="solid"/>
          </a:ln>
        </p:spPr>
      </p:sp>
      <p:sp>
        <p:nvSpPr>
          <p:cNvPr id="12" name="Text 8"/>
          <p:cNvSpPr txBox="1"/>
          <p:nvPr/>
        </p:nvSpPr>
        <p:spPr>
          <a:xfrm>
            <a:off x="640080" y="5806440"/>
            <a:ext cx="10908792" cy="548640"/>
          </a:xfrm>
          <a:prstGeom prst="rect">
            <a:avLst/>
          </a:prstGeom>
          <a:noFill/>
          <a:ln/>
        </p:spPr>
        <p:txBody>
          <a:bodyPr wrap="square" lIns="0" tIns="0" rIns="0" bIns="0" rtlCol="0" anchor="ctr"/>
          <a:lstStyle/>
          <a:p>
            <a:pPr indent="0" marL="0">
              <a:buNone/>
            </a:pPr>
            <a:r>
              <a:rPr lang="en-US" sz="1300" dirty="0">
                <a:solidFill>
                  <a:srgbClr val="1F2933"/>
                </a:solidFill>
                <a:latin typeface="Calibri" pitchFamily="34" charset="0"/>
                <a:ea typeface="Calibri" pitchFamily="34" charset="-122"/>
                <a:cs typeface="Calibri" pitchFamily="34" charset="-120"/>
              </a:rPr>
              <a:t>Frequency is a poor guide: type confusion is only #29 by volume but #5 by exploitation (5.8% of its CVEs are in KEV), while out-of-bounds read is #2 by volume and #9 by exploitation.</a:t>
            </a:r>
            <a:endParaRPr lang="en-US" sz="13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320040"/>
            <a:ext cx="8778240" cy="640080"/>
          </a:xfrm>
          <a:prstGeom prst="rect">
            <a:avLst/>
          </a:prstGeom>
          <a:noFill/>
          <a:ln/>
        </p:spPr>
        <p:txBody>
          <a:bodyPr wrap="square" lIns="0" tIns="0" rIns="0" bIns="0" rtlCol="0" anchor="ctr"/>
          <a:lstStyle/>
          <a:p>
            <a:pPr indent="0" marL="0">
              <a:buNone/>
            </a:pPr>
            <a:r>
              <a:rPr lang="en-US" sz="2600" b="1" dirty="0">
                <a:solidFill>
                  <a:srgbClr val="1B2A41"/>
                </a:solidFill>
                <a:latin typeface="Arial" pitchFamily="34" charset="0"/>
                <a:ea typeface="Arial" pitchFamily="34" charset="-122"/>
                <a:cs typeface="Arial" pitchFamily="34" charset="-120"/>
              </a:rPr>
              <a:t>Q3 · Attack classes in 2025</a:t>
            </a:r>
            <a:endParaRPr lang="en-US" sz="2600" dirty="0"/>
          </a:p>
        </p:txBody>
      </p:sp>
      <p:sp>
        <p:nvSpPr>
          <p:cNvPr id="3" name="Shape 1"/>
          <p:cNvSpPr/>
          <p:nvPr/>
        </p:nvSpPr>
        <p:spPr>
          <a:xfrm>
            <a:off x="9464040" y="384048"/>
            <a:ext cx="2267712" cy="512064"/>
          </a:xfrm>
          <a:prstGeom prst="roundRect">
            <a:avLst>
              <a:gd name="adj" fmla="val 50000"/>
            </a:avLst>
          </a:prstGeom>
          <a:solidFill>
            <a:srgbClr val="C8102E"/>
          </a:solidFill>
          <a:ln w="12700">
            <a:solidFill>
              <a:srgbClr val="C8102E"/>
            </a:solidFill>
            <a:prstDash val="solid"/>
          </a:ln>
        </p:spPr>
      </p:sp>
      <p:sp>
        <p:nvSpPr>
          <p:cNvPr id="4" name="Text 2"/>
          <p:cNvSpPr txBox="1"/>
          <p:nvPr/>
        </p:nvSpPr>
        <p:spPr>
          <a:xfrm>
            <a:off x="9464040" y="384048"/>
            <a:ext cx="2267712" cy="512064"/>
          </a:xfrm>
          <a:prstGeom prst="rect">
            <a:avLst/>
          </a:prstGeom>
          <a:noFill/>
          <a:ln/>
        </p:spPr>
        <p:txBody>
          <a:bodyPr wrap="square" lIns="0" tIns="0" rIns="0" bIns="0" rtlCol="0" anchor="ctr"/>
          <a:lstStyle/>
          <a:p>
            <a:pPr algn="ctr" indent="0" marL="0">
              <a:buNone/>
            </a:pPr>
            <a:r>
              <a:rPr lang="en-US" sz="1500" b="1" dirty="0">
                <a:solidFill>
                  <a:srgbClr val="FFFFFF"/>
                </a:solidFill>
                <a:latin typeface="Arial" pitchFamily="34" charset="0"/>
                <a:ea typeface="Arial" pitchFamily="34" charset="-122"/>
                <a:cs typeface="Arial" pitchFamily="34" charset="-120"/>
              </a:rPr>
              <a:t>SLICE</a:t>
            </a:r>
            <a:endParaRPr lang="en-US" sz="1500" dirty="0"/>
          </a:p>
        </p:txBody>
      </p:sp>
      <p:sp>
        <p:nvSpPr>
          <p:cNvPr id="5" name="Text 3"/>
          <p:cNvSpPr txBox="1"/>
          <p:nvPr/>
        </p:nvSpPr>
        <p:spPr>
          <a:xfrm>
            <a:off x="457200" y="987552"/>
            <a:ext cx="11247120" cy="411480"/>
          </a:xfrm>
          <a:prstGeom prst="rect">
            <a:avLst/>
          </a:prstGeom>
          <a:noFill/>
          <a:ln/>
        </p:spPr>
        <p:txBody>
          <a:bodyPr wrap="square" lIns="0" tIns="0" rIns="0" bIns="0" rtlCol="0" anchor="t"/>
          <a:lstStyle/>
          <a:p>
            <a:pPr indent="0" marL="0">
              <a:buNone/>
            </a:pPr>
            <a:r>
              <a:rPr lang="en-US" sz="1500" i="1" dirty="0">
                <a:solidFill>
                  <a:srgbClr val="5B6B7C"/>
                </a:solidFill>
                <a:latin typeface="Calibri" pitchFamily="34" charset="0"/>
                <a:ea typeface="Calibri" pitchFamily="34" charset="-122"/>
                <a:cs typeface="Calibri" pitchFamily="34" charset="-120"/>
              </a:rPr>
              <a:t>“Fix year = 2025: how do attack classes compare in severity and predicted exploitation?”</a:t>
            </a:r>
            <a:endParaRPr lang="en-US" sz="1500" dirty="0"/>
          </a:p>
        </p:txBody>
      </p:sp>
      <p:sp>
        <p:nvSpPr>
          <p:cNvPr id="6" name="Text 4"/>
          <p:cNvSpPr txBox="1"/>
          <p:nvPr/>
        </p:nvSpPr>
        <p:spPr>
          <a:xfrm>
            <a:off x="6675120" y="6446520"/>
            <a:ext cx="5056632" cy="274320"/>
          </a:xfrm>
          <a:prstGeom prst="rect">
            <a:avLst/>
          </a:prstGeom>
          <a:noFill/>
          <a:ln/>
        </p:spPr>
        <p:txBody>
          <a:bodyPr wrap="square" lIns="0" tIns="0" rIns="0" bIns="0" rtlCol="0" anchor="ctr"/>
          <a:lstStyle/>
          <a:p>
            <a:pPr algn="r" indent="0" marL="0">
              <a:buNone/>
            </a:pPr>
            <a:r>
              <a:rPr lang="en-US" sz="900" dirty="0">
                <a:solidFill>
                  <a:srgbClr val="5B6B7C"/>
                </a:solidFill>
                <a:latin typeface="Calibri" pitchFamily="34" charset="0"/>
                <a:ea typeface="Calibri" pitchFamily="34" charset="-122"/>
                <a:cs typeface="Calibri" pitchFamily="34" charset="-120"/>
              </a:rPr>
              <a:t>CVE Data Warehouse · Alessia Angele · 14</a:t>
            </a:r>
            <a:endParaRPr lang="en-US" sz="900" dirty="0"/>
          </a:p>
        </p:txBody>
      </p:sp>
      <p:sp>
        <p:nvSpPr>
          <p:cNvPr id="7" name="Shape 5"/>
          <p:cNvSpPr/>
          <p:nvPr/>
        </p:nvSpPr>
        <p:spPr>
          <a:xfrm>
            <a:off x="457200" y="1554480"/>
            <a:ext cx="5394960" cy="4069080"/>
          </a:xfrm>
          <a:prstGeom prst="rect">
            <a:avLst/>
          </a:prstGeom>
          <a:solidFill>
            <a:srgbClr val="16202E"/>
          </a:solidFill>
          <a:ln w="12700">
            <a:solidFill>
              <a:srgbClr val="16202E"/>
            </a:solidFill>
            <a:prstDash val="solid"/>
          </a:ln>
        </p:spPr>
      </p:sp>
      <p:sp>
        <p:nvSpPr>
          <p:cNvPr id="8" name="Text 6"/>
          <p:cNvSpPr txBox="1"/>
          <p:nvPr/>
        </p:nvSpPr>
        <p:spPr>
          <a:xfrm>
            <a:off x="594360" y="1645920"/>
            <a:ext cx="5120640" cy="3886200"/>
          </a:xfrm>
          <a:prstGeom prst="rect">
            <a:avLst/>
          </a:prstGeom>
          <a:noFill/>
          <a:ln/>
        </p:spPr>
        <p:txBody>
          <a:bodyPr wrap="square" lIns="0" tIns="0" rIns="0" bIns="0" rtlCol="0" anchor="t"/>
          <a:lstStyle/>
          <a:p>
            <a:pPr indent="0" marL="0">
              <a:buNone/>
            </a:pPr>
            <a:r>
              <a:rPr lang="en-US" sz="1000" dirty="0">
                <a:solidFill>
                  <a:srgbClr val="E6EDF3"/>
                </a:solidFill>
                <a:latin typeface="Courier New" pitchFamily="34" charset="0"/>
                <a:ea typeface="Courier New" pitchFamily="34" charset="-122"/>
                <a:cs typeface="Courier New" pitchFamily="34" charset="-120"/>
              </a:rPr>
              <a:t>SELECT e.primary_class         AS exploit_class,</a:t>
            </a:r>
            <a:endParaRPr lang="en-US" sz="1000" dirty="0"/>
          </a:p>
          <a:p>
            <a:pPr indent="0" marL="0">
              <a:buNone/>
            </a:pPr>
            <a:r>
              <a:rPr lang="en-US" sz="1000" dirty="0">
                <a:solidFill>
                  <a:srgbClr val="E6EDF3"/>
                </a:solidFill>
                <a:latin typeface="Courier New" pitchFamily="34" charset="0"/>
                <a:ea typeface="Courier New" pitchFamily="34" charset="-122"/>
                <a:cs typeface="Courier New" pitchFamily="34" charset="-120"/>
              </a:rPr>
              <a:t>  COUNT(*)                        AS cve_count,</a:t>
            </a:r>
            <a:endParaRPr lang="en-US" sz="1000" dirty="0"/>
          </a:p>
          <a:p>
            <a:pPr indent="0" marL="0">
              <a:buNone/>
            </a:pPr>
            <a:r>
              <a:rPr lang="en-US" sz="1000" dirty="0">
                <a:solidFill>
                  <a:srgbClr val="E6EDF3"/>
                </a:solidFill>
                <a:latin typeface="Courier New" pitchFamily="34" charset="0"/>
                <a:ea typeface="Courier New" pitchFamily="34" charset="-122"/>
                <a:cs typeface="Courier New" pitchFamily="34" charset="-120"/>
              </a:rPr>
              <a:t>  COUNT(*) FILTER (WHERE s.severity_level</a:t>
            </a:r>
            <a:endParaRPr lang="en-US" sz="1000" dirty="0"/>
          </a:p>
          <a:p>
            <a:pPr indent="0" marL="0">
              <a:buNone/>
            </a:pPr>
            <a:r>
              <a:rPr lang="en-US" sz="1000" dirty="0">
                <a:solidFill>
                  <a:srgbClr val="E6EDF3"/>
                </a:solidFill>
                <a:latin typeface="Courier New" pitchFamily="34" charset="0"/>
                <a:ea typeface="Courier New" pitchFamily="34" charset="-122"/>
                <a:cs typeface="Courier New" pitchFamily="34" charset="-120"/>
              </a:rPr>
              <a:t>       IN ('CRITICAL','HIGH'))    AS critical_or_high,</a:t>
            </a:r>
            <a:endParaRPr lang="en-US" sz="1000" dirty="0"/>
          </a:p>
          <a:p>
            <a:pPr indent="0" marL="0">
              <a:buNone/>
            </a:pPr>
            <a:r>
              <a:rPr lang="en-US" sz="1000" dirty="0">
                <a:solidFill>
                  <a:srgbClr val="E6EDF3"/>
                </a:solidFill>
                <a:latin typeface="Courier New" pitchFamily="34" charset="0"/>
                <a:ea typeface="Courier New" pitchFamily="34" charset="-122"/>
                <a:cs typeface="Courier New" pitchFamily="34" charset="-120"/>
              </a:rPr>
              <a:t>  ROUND(AVG(f.cvss_score), 2)     AS avg_cvss,</a:t>
            </a:r>
            <a:endParaRPr lang="en-US" sz="1000" dirty="0"/>
          </a:p>
          <a:p>
            <a:pPr indent="0" marL="0">
              <a:buNone/>
            </a:pPr>
            <a:r>
              <a:rPr lang="en-US" sz="1000" dirty="0">
                <a:solidFill>
                  <a:srgbClr val="E6EDF3"/>
                </a:solidFill>
                <a:latin typeface="Courier New" pitchFamily="34" charset="0"/>
                <a:ea typeface="Courier New" pitchFamily="34" charset="-122"/>
                <a:cs typeface="Courier New" pitchFamily="34" charset="-120"/>
              </a:rPr>
              <a:t>  ROUND(AVG(f.epss_score), 4)     AS avg_epss</a:t>
            </a:r>
            <a:endParaRPr lang="en-US" sz="1000" dirty="0"/>
          </a:p>
          <a:p>
            <a:pPr indent="0" marL="0">
              <a:buNone/>
            </a:pPr>
            <a:r>
              <a:rPr lang="en-US" sz="1000" dirty="0">
                <a:solidFill>
                  <a:srgbClr val="E6EDF3"/>
                </a:solidFill>
                <a:latin typeface="Courier New" pitchFamily="34" charset="0"/>
                <a:ea typeface="Courier New" pitchFamily="34" charset="-122"/>
                <a:cs typeface="Courier New" pitchFamily="34" charset="-120"/>
              </a:rPr>
              <a:t>FROM fact_vulnerability f</a:t>
            </a:r>
            <a:endParaRPr lang="en-US" sz="1000" dirty="0"/>
          </a:p>
          <a:p>
            <a:pPr indent="0" marL="0">
              <a:buNone/>
            </a:pPr>
            <a:r>
              <a:rPr lang="en-US" sz="1000" dirty="0">
                <a:solidFill>
                  <a:srgbClr val="E6EDF3"/>
                </a:solidFill>
                <a:latin typeface="Courier New" pitchFamily="34" charset="0"/>
                <a:ea typeface="Courier New" pitchFamily="34" charset="-122"/>
                <a:cs typeface="Courier New" pitchFamily="34" charset="-120"/>
              </a:rPr>
              <a:t>JOIN dim_date d</a:t>
            </a:r>
            <a:endParaRPr lang="en-US" sz="1000" dirty="0"/>
          </a:p>
          <a:p>
            <a:pPr indent="0" marL="0">
              <a:buNone/>
            </a:pPr>
            <a:r>
              <a:rPr lang="en-US" sz="1000" dirty="0">
                <a:solidFill>
                  <a:srgbClr val="E6EDF3"/>
                </a:solidFill>
                <a:latin typeface="Courier New" pitchFamily="34" charset="0"/>
                <a:ea typeface="Courier New" pitchFamily="34" charset="-122"/>
                <a:cs typeface="Courier New" pitchFamily="34" charset="-120"/>
              </a:rPr>
              <a:t>  ON d.date_key = f.published_date_key</a:t>
            </a:r>
            <a:endParaRPr lang="en-US" sz="1000" dirty="0"/>
          </a:p>
          <a:p>
            <a:pPr indent="0" marL="0">
              <a:buNone/>
            </a:pPr>
            <a:r>
              <a:rPr lang="en-US" sz="1000" dirty="0">
                <a:solidFill>
                  <a:srgbClr val="E6EDF3"/>
                </a:solidFill>
                <a:latin typeface="Courier New" pitchFamily="34" charset="0"/>
                <a:ea typeface="Courier New" pitchFamily="34" charset="-122"/>
                <a:cs typeface="Courier New" pitchFamily="34" charset="-120"/>
              </a:rPr>
              <a:t>JOIN dim_exploit_type e</a:t>
            </a:r>
            <a:endParaRPr lang="en-US" sz="1000" dirty="0"/>
          </a:p>
          <a:p>
            <a:pPr indent="0" marL="0">
              <a:buNone/>
            </a:pPr>
            <a:r>
              <a:rPr lang="en-US" sz="1000" dirty="0">
                <a:solidFill>
                  <a:srgbClr val="E6EDF3"/>
                </a:solidFill>
                <a:latin typeface="Courier New" pitchFamily="34" charset="0"/>
                <a:ea typeface="Courier New" pitchFamily="34" charset="-122"/>
                <a:cs typeface="Courier New" pitchFamily="34" charset="-120"/>
              </a:rPr>
              <a:t>  ON e.exploit_type_key = f.exploit_type_key</a:t>
            </a:r>
            <a:endParaRPr lang="en-US" sz="1000" dirty="0"/>
          </a:p>
          <a:p>
            <a:pPr indent="0" marL="0">
              <a:buNone/>
            </a:pPr>
            <a:r>
              <a:rPr lang="en-US" sz="1000" dirty="0">
                <a:solidFill>
                  <a:srgbClr val="E6EDF3"/>
                </a:solidFill>
                <a:latin typeface="Courier New" pitchFamily="34" charset="0"/>
                <a:ea typeface="Courier New" pitchFamily="34" charset="-122"/>
                <a:cs typeface="Courier New" pitchFamily="34" charset="-120"/>
              </a:rPr>
              <a:t>JOIN dim_severity s</a:t>
            </a:r>
            <a:endParaRPr lang="en-US" sz="1000" dirty="0"/>
          </a:p>
          <a:p>
            <a:pPr indent="0" marL="0">
              <a:buNone/>
            </a:pPr>
            <a:r>
              <a:rPr lang="en-US" sz="1000" dirty="0">
                <a:solidFill>
                  <a:srgbClr val="E6EDF3"/>
                </a:solidFill>
                <a:latin typeface="Courier New" pitchFamily="34" charset="0"/>
                <a:ea typeface="Courier New" pitchFamily="34" charset="-122"/>
                <a:cs typeface="Courier New" pitchFamily="34" charset="-120"/>
              </a:rPr>
              <a:t>  ON s.severity_key = f.severity_key</a:t>
            </a:r>
            <a:endParaRPr lang="en-US" sz="1000" dirty="0"/>
          </a:p>
          <a:p>
            <a:pPr indent="0" marL="0">
              <a:buNone/>
            </a:pPr>
            <a:r>
              <a:rPr lang="en-US" sz="1000" dirty="0">
                <a:solidFill>
                  <a:srgbClr val="E6EDF3"/>
                </a:solidFill>
                <a:latin typeface="Courier New" pitchFamily="34" charset="0"/>
                <a:ea typeface="Courier New" pitchFamily="34" charset="-122"/>
                <a:cs typeface="Courier New" pitchFamily="34" charset="-120"/>
              </a:rPr>
              <a:t>WHERE d.year = 2025          -- the slice</a:t>
            </a:r>
            <a:endParaRPr lang="en-US" sz="1000" dirty="0"/>
          </a:p>
          <a:p>
            <a:pPr indent="0" marL="0">
              <a:buNone/>
            </a:pPr>
            <a:r>
              <a:rPr lang="en-US" sz="1000" dirty="0">
                <a:solidFill>
                  <a:srgbClr val="E6EDF3"/>
                </a:solidFill>
                <a:latin typeface="Courier New" pitchFamily="34" charset="0"/>
                <a:ea typeface="Courier New" pitchFamily="34" charset="-122"/>
                <a:cs typeface="Courier New" pitchFamily="34" charset="-120"/>
              </a:rPr>
              <a:t>GROUP BY e.primary_class</a:t>
            </a:r>
            <a:endParaRPr lang="en-US" sz="1000" dirty="0"/>
          </a:p>
          <a:p>
            <a:pPr indent="0" marL="0">
              <a:buNone/>
            </a:pPr>
            <a:r>
              <a:rPr lang="en-US" sz="1000" dirty="0">
                <a:solidFill>
                  <a:srgbClr val="E6EDF3"/>
                </a:solidFill>
                <a:latin typeface="Courier New" pitchFamily="34" charset="0"/>
                <a:ea typeface="Courier New" pitchFamily="34" charset="-122"/>
                <a:cs typeface="Courier New" pitchFamily="34" charset="-120"/>
              </a:rPr>
              <a:t>ORDER BY avg_epss DESC;</a:t>
            </a:r>
            <a:endParaRPr lang="en-US" sz="1000" dirty="0"/>
          </a:p>
        </p:txBody>
      </p:sp>
      <p:pic>
        <p:nvPicPr>
          <p:cNvPr id="9" name="Image 0" descr="preencoded.png">    </p:cNvPr>
          <p:cNvPicPr>
            <a:picLocks noChangeAspect="1"/>
          </p:cNvPicPr>
          <p:nvPr/>
        </p:nvPicPr>
        <p:blipFill>
          <a:blip r:embed="rId1"/>
          <a:stretch>
            <a:fillRect/>
          </a:stretch>
        </p:blipFill>
        <p:spPr>
          <a:xfrm>
            <a:off x="6720840" y="1417320"/>
            <a:ext cx="4206240" cy="1775968"/>
          </a:xfrm>
          <a:prstGeom prst="rect">
            <a:avLst/>
          </a:prstGeom>
        </p:spPr>
      </p:pic>
      <p:graphicFrame>
        <p:nvGraphicFramePr>
          <p:cNvPr id="10" name="Chart 0" descr=""/>
          <p:cNvGraphicFramePr/>
          <p:nvPr/>
        </p:nvGraphicFramePr>
        <p:xfrm>
          <a:off x="6126480" y="3246120"/>
          <a:ext cx="5605272" cy="2423160"/>
        </p:xfrm>
        <a:graphic xmlns:a="http://schemas.openxmlformats.org/drawingml/2006/main">
          <a:graphicData uri="http://schemas.openxmlformats.org/drawingml/2006/chart">
            <c:chart xmlns:c="http://schemas.openxmlformats.org/drawingml/2006/chart" r:id="rId2"/>
          </a:graphicData>
        </a:graphic>
      </p:graphicFrame>
      <p:sp>
        <p:nvSpPr>
          <p:cNvPr id="11" name="Shape 7"/>
          <p:cNvSpPr/>
          <p:nvPr/>
        </p:nvSpPr>
        <p:spPr>
          <a:xfrm>
            <a:off x="457200" y="5806440"/>
            <a:ext cx="11274552" cy="548640"/>
          </a:xfrm>
          <a:prstGeom prst="rect">
            <a:avLst/>
          </a:prstGeom>
          <a:solidFill>
            <a:srgbClr val="F3F5F8"/>
          </a:solidFill>
          <a:ln w="12700">
            <a:solidFill>
              <a:srgbClr val="F3F5F8"/>
            </a:solidFill>
            <a:prstDash val="solid"/>
          </a:ln>
        </p:spPr>
      </p:sp>
      <p:sp>
        <p:nvSpPr>
          <p:cNvPr id="12" name="Text 8"/>
          <p:cNvSpPr txBox="1"/>
          <p:nvPr/>
        </p:nvSpPr>
        <p:spPr>
          <a:xfrm>
            <a:off x="640080" y="5806440"/>
            <a:ext cx="10908792" cy="548640"/>
          </a:xfrm>
          <a:prstGeom prst="rect">
            <a:avLst/>
          </a:prstGeom>
          <a:noFill/>
          <a:ln/>
        </p:spPr>
        <p:txBody>
          <a:bodyPr wrap="square" lIns="0" tIns="0" rIns="0" bIns="0" rtlCol="0" anchor="ctr"/>
          <a:lstStyle/>
          <a:p>
            <a:pPr indent="0" marL="0">
              <a:buNone/>
            </a:pPr>
            <a:r>
              <a:rPr lang="en-US" sz="1300" dirty="0">
                <a:solidFill>
                  <a:srgbClr val="1F2933"/>
                </a:solidFill>
                <a:latin typeface="Calibri" pitchFamily="34" charset="0"/>
                <a:ea typeface="Calibri" pitchFamily="34" charset="-122"/>
                <a:cs typeface="Calibri" pitchFamily="34" charset="-120"/>
              </a:rPr>
              <a:t>In 2025 remote code execution has an average EPSS 4× higher than any other class; XSS is the most harmless despite 7,147 CVEs.</a:t>
            </a:r>
            <a:endParaRPr lang="en-US" sz="13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320040"/>
            <a:ext cx="8778240" cy="640080"/>
          </a:xfrm>
          <a:prstGeom prst="rect">
            <a:avLst/>
          </a:prstGeom>
          <a:noFill/>
          <a:ln/>
        </p:spPr>
        <p:txBody>
          <a:bodyPr wrap="square" lIns="0" tIns="0" rIns="0" bIns="0" rtlCol="0" anchor="ctr"/>
          <a:lstStyle/>
          <a:p>
            <a:pPr indent="0" marL="0">
              <a:buNone/>
            </a:pPr>
            <a:r>
              <a:rPr lang="en-US" sz="2600" b="1" dirty="0">
                <a:solidFill>
                  <a:srgbClr val="1B2A41"/>
                </a:solidFill>
                <a:latin typeface="Arial" pitchFamily="34" charset="0"/>
                <a:ea typeface="Arial" pitchFamily="34" charset="-122"/>
                <a:cs typeface="Arial" pitchFamily="34" charset="-120"/>
              </a:rPr>
              <a:t>Q4 · Riskiest vendors for severe remote flaws</a:t>
            </a:r>
            <a:endParaRPr lang="en-US" sz="2600" dirty="0"/>
          </a:p>
        </p:txBody>
      </p:sp>
      <p:sp>
        <p:nvSpPr>
          <p:cNvPr id="3" name="Shape 1"/>
          <p:cNvSpPr/>
          <p:nvPr/>
        </p:nvSpPr>
        <p:spPr>
          <a:xfrm>
            <a:off x="9464040" y="384048"/>
            <a:ext cx="2267712" cy="512064"/>
          </a:xfrm>
          <a:prstGeom prst="roundRect">
            <a:avLst>
              <a:gd name="adj" fmla="val 50000"/>
            </a:avLst>
          </a:prstGeom>
          <a:solidFill>
            <a:srgbClr val="C8102E"/>
          </a:solidFill>
          <a:ln w="12700">
            <a:solidFill>
              <a:srgbClr val="C8102E"/>
            </a:solidFill>
            <a:prstDash val="solid"/>
          </a:ln>
        </p:spPr>
      </p:sp>
      <p:sp>
        <p:nvSpPr>
          <p:cNvPr id="4" name="Text 2"/>
          <p:cNvSpPr txBox="1"/>
          <p:nvPr/>
        </p:nvSpPr>
        <p:spPr>
          <a:xfrm>
            <a:off x="9464040" y="384048"/>
            <a:ext cx="2267712" cy="512064"/>
          </a:xfrm>
          <a:prstGeom prst="rect">
            <a:avLst/>
          </a:prstGeom>
          <a:noFill/>
          <a:ln/>
        </p:spPr>
        <p:txBody>
          <a:bodyPr wrap="square" lIns="0" tIns="0" rIns="0" bIns="0" rtlCol="0" anchor="ctr"/>
          <a:lstStyle/>
          <a:p>
            <a:pPr algn="ctr" indent="0" marL="0">
              <a:buNone/>
            </a:pPr>
            <a:r>
              <a:rPr lang="en-US" sz="1500" b="1" dirty="0">
                <a:solidFill>
                  <a:srgbClr val="FFFFFF"/>
                </a:solidFill>
                <a:latin typeface="Arial" pitchFamily="34" charset="0"/>
                <a:ea typeface="Arial" pitchFamily="34" charset="-122"/>
                <a:cs typeface="Arial" pitchFamily="34" charset="-120"/>
              </a:rPr>
              <a:t>DICE</a:t>
            </a:r>
            <a:endParaRPr lang="en-US" sz="1500" dirty="0"/>
          </a:p>
        </p:txBody>
      </p:sp>
      <p:sp>
        <p:nvSpPr>
          <p:cNvPr id="5" name="Text 3"/>
          <p:cNvSpPr txBox="1"/>
          <p:nvPr/>
        </p:nvSpPr>
        <p:spPr>
          <a:xfrm>
            <a:off x="457200" y="987552"/>
            <a:ext cx="11247120" cy="411480"/>
          </a:xfrm>
          <a:prstGeom prst="rect">
            <a:avLst/>
          </a:prstGeom>
          <a:noFill/>
          <a:ln/>
        </p:spPr>
        <p:txBody>
          <a:bodyPr wrap="square" lIns="0" tIns="0" rIns="0" bIns="0" rtlCol="0" anchor="t"/>
          <a:lstStyle/>
          <a:p>
            <a:pPr indent="0" marL="0">
              <a:buNone/>
            </a:pPr>
            <a:r>
              <a:rPr lang="en-US" sz="1500" i="1" dirty="0">
                <a:solidFill>
                  <a:srgbClr val="5B6B7C"/>
                </a:solidFill>
                <a:latin typeface="Calibri" pitchFamily="34" charset="0"/>
                <a:ea typeface="Calibri" pitchFamily="34" charset="-122"/>
                <a:cs typeface="Calibri" pitchFamily="34" charset="-120"/>
              </a:rPr>
              <a:t>“Severity CRITICAL/HIGH, network vector, 2022–2025, applications only: which vendors?”</a:t>
            </a:r>
            <a:endParaRPr lang="en-US" sz="1500" dirty="0"/>
          </a:p>
        </p:txBody>
      </p:sp>
      <p:sp>
        <p:nvSpPr>
          <p:cNvPr id="6" name="Text 4"/>
          <p:cNvSpPr txBox="1"/>
          <p:nvPr/>
        </p:nvSpPr>
        <p:spPr>
          <a:xfrm>
            <a:off x="6675120" y="6446520"/>
            <a:ext cx="5056632" cy="274320"/>
          </a:xfrm>
          <a:prstGeom prst="rect">
            <a:avLst/>
          </a:prstGeom>
          <a:noFill/>
          <a:ln/>
        </p:spPr>
        <p:txBody>
          <a:bodyPr wrap="square" lIns="0" tIns="0" rIns="0" bIns="0" rtlCol="0" anchor="ctr"/>
          <a:lstStyle/>
          <a:p>
            <a:pPr algn="r" indent="0" marL="0">
              <a:buNone/>
            </a:pPr>
            <a:r>
              <a:rPr lang="en-US" sz="900" dirty="0">
                <a:solidFill>
                  <a:srgbClr val="5B6B7C"/>
                </a:solidFill>
                <a:latin typeface="Calibri" pitchFamily="34" charset="0"/>
                <a:ea typeface="Calibri" pitchFamily="34" charset="-122"/>
                <a:cs typeface="Calibri" pitchFamily="34" charset="-120"/>
              </a:rPr>
              <a:t>CVE Data Warehouse · Alessia Angele · 15</a:t>
            </a:r>
            <a:endParaRPr lang="en-US" sz="900" dirty="0"/>
          </a:p>
        </p:txBody>
      </p:sp>
      <p:sp>
        <p:nvSpPr>
          <p:cNvPr id="7" name="Shape 5"/>
          <p:cNvSpPr/>
          <p:nvPr/>
        </p:nvSpPr>
        <p:spPr>
          <a:xfrm>
            <a:off x="457200" y="1554480"/>
            <a:ext cx="5394960" cy="4069080"/>
          </a:xfrm>
          <a:prstGeom prst="rect">
            <a:avLst/>
          </a:prstGeom>
          <a:solidFill>
            <a:srgbClr val="16202E"/>
          </a:solidFill>
          <a:ln w="12700">
            <a:solidFill>
              <a:srgbClr val="16202E"/>
            </a:solidFill>
            <a:prstDash val="solid"/>
          </a:ln>
        </p:spPr>
      </p:sp>
      <p:sp>
        <p:nvSpPr>
          <p:cNvPr id="8" name="Text 6"/>
          <p:cNvSpPr txBox="1"/>
          <p:nvPr/>
        </p:nvSpPr>
        <p:spPr>
          <a:xfrm>
            <a:off x="594360" y="1645920"/>
            <a:ext cx="5120640" cy="3886200"/>
          </a:xfrm>
          <a:prstGeom prst="rect">
            <a:avLst/>
          </a:prstGeom>
          <a:noFill/>
          <a:ln/>
        </p:spPr>
        <p:txBody>
          <a:bodyPr wrap="square" lIns="0" tIns="0" rIns="0" bIns="0" rtlCol="0" anchor="t"/>
          <a:lstStyle/>
          <a:p>
            <a:pPr indent="0" marL="0">
              <a:buNone/>
            </a:pPr>
            <a:r>
              <a:rPr lang="en-US" sz="950" dirty="0">
                <a:solidFill>
                  <a:srgbClr val="E6EDF3"/>
                </a:solidFill>
                <a:latin typeface="Courier New" pitchFamily="34" charset="0"/>
                <a:ea typeface="Courier New" pitchFamily="34" charset="-122"/>
                <a:cs typeface="Courier New" pitchFamily="34" charset="-120"/>
              </a:rPr>
              <a:t>SELECT p.vendor,</a:t>
            </a:r>
            <a:endParaRPr lang="en-US" sz="950" dirty="0"/>
          </a:p>
          <a:p>
            <a:pPr indent="0" marL="0">
              <a:buNone/>
            </a:pPr>
            <a:r>
              <a:rPr lang="en-US" sz="950" dirty="0">
                <a:solidFill>
                  <a:srgbClr val="E6EDF3"/>
                </a:solidFill>
                <a:latin typeface="Courier New" pitchFamily="34" charset="0"/>
                <a:ea typeface="Courier New" pitchFamily="34" charset="-122"/>
                <a:cs typeface="Courier New" pitchFamily="34" charset="-120"/>
              </a:rPr>
              <a:t>  COUNT(*)                            AS cve_count,</a:t>
            </a:r>
            <a:endParaRPr lang="en-US" sz="950" dirty="0"/>
          </a:p>
          <a:p>
            <a:pPr indent="0" marL="0">
              <a:buNone/>
            </a:pPr>
            <a:r>
              <a:rPr lang="en-US" sz="950" dirty="0">
                <a:solidFill>
                  <a:srgbClr val="E6EDF3"/>
                </a:solidFill>
                <a:latin typeface="Courier New" pitchFamily="34" charset="0"/>
                <a:ea typeface="Courier New" pitchFamily="34" charset="-122"/>
                <a:cs typeface="Courier New" pitchFamily="34" charset="-120"/>
              </a:rPr>
              <a:t>  COUNT(*) FILTER (WHERE f.is_in_kev) AS in_kev,</a:t>
            </a:r>
            <a:endParaRPr lang="en-US" sz="950" dirty="0"/>
          </a:p>
          <a:p>
            <a:pPr indent="0" marL="0">
              <a:buNone/>
            </a:pPr>
            <a:r>
              <a:rPr lang="en-US" sz="950" dirty="0">
                <a:solidFill>
                  <a:srgbClr val="E6EDF3"/>
                </a:solidFill>
                <a:latin typeface="Courier New" pitchFamily="34" charset="0"/>
                <a:ea typeface="Courier New" pitchFamily="34" charset="-122"/>
                <a:cs typeface="Courier New" pitchFamily="34" charset="-120"/>
              </a:rPr>
              <a:t>  COUNT(*) FILTER</a:t>
            </a:r>
            <a:endParaRPr lang="en-US" sz="950" dirty="0"/>
          </a:p>
          <a:p>
            <a:pPr indent="0" marL="0">
              <a:buNone/>
            </a:pPr>
            <a:r>
              <a:rPr lang="en-US" sz="950" dirty="0">
                <a:solidFill>
                  <a:srgbClr val="E6EDF3"/>
                </a:solidFill>
                <a:latin typeface="Courier New" pitchFamily="34" charset="0"/>
                <a:ea typeface="Courier New" pitchFamily="34" charset="-122"/>
                <a:cs typeface="Courier New" pitchFamily="34" charset="-120"/>
              </a:rPr>
              <a:t>    (WHERE f.epss_percentile &gt;= 0.95) AS epss_top5pct</a:t>
            </a:r>
            <a:endParaRPr lang="en-US" sz="950" dirty="0"/>
          </a:p>
          <a:p>
            <a:pPr indent="0" marL="0">
              <a:buNone/>
            </a:pPr>
            <a:r>
              <a:rPr lang="en-US" sz="950" dirty="0">
                <a:solidFill>
                  <a:srgbClr val="E6EDF3"/>
                </a:solidFill>
                <a:latin typeface="Courier New" pitchFamily="34" charset="0"/>
                <a:ea typeface="Courier New" pitchFamily="34" charset="-122"/>
                <a:cs typeface="Courier New" pitchFamily="34" charset="-120"/>
              </a:rPr>
              <a:t>FROM fact_vulnerability f</a:t>
            </a:r>
            <a:endParaRPr lang="en-US" sz="950" dirty="0"/>
          </a:p>
          <a:p>
            <a:pPr indent="0" marL="0">
              <a:buNone/>
            </a:pPr>
            <a:r>
              <a:rPr lang="en-US" sz="950" dirty="0">
                <a:solidFill>
                  <a:srgbClr val="E6EDF3"/>
                </a:solidFill>
                <a:latin typeface="Courier New" pitchFamily="34" charset="0"/>
                <a:ea typeface="Courier New" pitchFamily="34" charset="-122"/>
                <a:cs typeface="Courier New" pitchFamily="34" charset="-120"/>
              </a:rPr>
              <a:t>JOIN dim_date d     ON d.date_key = f.published_date_key</a:t>
            </a:r>
            <a:endParaRPr lang="en-US" sz="950" dirty="0"/>
          </a:p>
          <a:p>
            <a:pPr indent="0" marL="0">
              <a:buNone/>
            </a:pPr>
            <a:r>
              <a:rPr lang="en-US" sz="950" dirty="0">
                <a:solidFill>
                  <a:srgbClr val="E6EDF3"/>
                </a:solidFill>
                <a:latin typeface="Courier New" pitchFamily="34" charset="0"/>
                <a:ea typeface="Courier New" pitchFamily="34" charset="-122"/>
                <a:cs typeface="Courier New" pitchFamily="34" charset="-120"/>
              </a:rPr>
              <a:t>JOIN dim_severity s ON s.severity_key = f.severity_key</a:t>
            </a:r>
            <a:endParaRPr lang="en-US" sz="950" dirty="0"/>
          </a:p>
          <a:p>
            <a:pPr indent="0" marL="0">
              <a:buNone/>
            </a:pPr>
            <a:r>
              <a:rPr lang="en-US" sz="950" dirty="0">
                <a:solidFill>
                  <a:srgbClr val="E6EDF3"/>
                </a:solidFill>
                <a:latin typeface="Courier New" pitchFamily="34" charset="0"/>
                <a:ea typeface="Courier New" pitchFamily="34" charset="-122"/>
                <a:cs typeface="Courier New" pitchFamily="34" charset="-120"/>
              </a:rPr>
              <a:t>JOIN dim_product p  ON p.product_key = f.product_key</a:t>
            </a:r>
            <a:endParaRPr lang="en-US" sz="950" dirty="0"/>
          </a:p>
          <a:p>
            <a:pPr indent="0" marL="0">
              <a:buNone/>
            </a:pPr>
            <a:r>
              <a:rPr lang="en-US" sz="950" dirty="0">
                <a:solidFill>
                  <a:srgbClr val="E6EDF3"/>
                </a:solidFill>
                <a:latin typeface="Courier New" pitchFamily="34" charset="0"/>
                <a:ea typeface="Courier New" pitchFamily="34" charset="-122"/>
                <a:cs typeface="Courier New" pitchFamily="34" charset="-120"/>
              </a:rPr>
              <a:t>WHERE s.severity_level IN ('CRITICAL','HIGH')</a:t>
            </a:r>
            <a:endParaRPr lang="en-US" sz="950" dirty="0"/>
          </a:p>
          <a:p>
            <a:pPr indent="0" marL="0">
              <a:buNone/>
            </a:pPr>
            <a:r>
              <a:rPr lang="en-US" sz="950" dirty="0">
                <a:solidFill>
                  <a:srgbClr val="E6EDF3"/>
                </a:solidFill>
                <a:latin typeface="Courier New" pitchFamily="34" charset="0"/>
                <a:ea typeface="Courier New" pitchFamily="34" charset="-122"/>
                <a:cs typeface="Courier New" pitchFamily="34" charset="-120"/>
              </a:rPr>
              <a:t>  AND s.attack_vector = 'NETWORK'</a:t>
            </a:r>
            <a:endParaRPr lang="en-US" sz="950" dirty="0"/>
          </a:p>
          <a:p>
            <a:pPr indent="0" marL="0">
              <a:buNone/>
            </a:pPr>
            <a:r>
              <a:rPr lang="en-US" sz="950" dirty="0">
                <a:solidFill>
                  <a:srgbClr val="E6EDF3"/>
                </a:solidFill>
                <a:latin typeface="Courier New" pitchFamily="34" charset="0"/>
                <a:ea typeface="Courier New" pitchFamily="34" charset="-122"/>
                <a:cs typeface="Courier New" pitchFamily="34" charset="-120"/>
              </a:rPr>
              <a:t>  AND d.year BETWEEN 2022 AND 2025</a:t>
            </a:r>
            <a:endParaRPr lang="en-US" sz="950" dirty="0"/>
          </a:p>
          <a:p>
            <a:pPr indent="0" marL="0">
              <a:buNone/>
            </a:pPr>
            <a:r>
              <a:rPr lang="en-US" sz="950" dirty="0">
                <a:solidFill>
                  <a:srgbClr val="E6EDF3"/>
                </a:solidFill>
                <a:latin typeface="Courier New" pitchFamily="34" charset="0"/>
                <a:ea typeface="Courier New" pitchFamily="34" charset="-122"/>
                <a:cs typeface="Courier New" pitchFamily="34" charset="-120"/>
              </a:rPr>
              <a:t>  AND p.product_type = 'application'</a:t>
            </a:r>
            <a:endParaRPr lang="en-US" sz="950" dirty="0"/>
          </a:p>
          <a:p>
            <a:pPr indent="0" marL="0">
              <a:buNone/>
            </a:pPr>
            <a:r>
              <a:rPr lang="en-US" sz="950" dirty="0">
                <a:solidFill>
                  <a:srgbClr val="E6EDF3"/>
                </a:solidFill>
                <a:latin typeface="Courier New" pitchFamily="34" charset="0"/>
                <a:ea typeface="Courier New" pitchFamily="34" charset="-122"/>
                <a:cs typeface="Courier New" pitchFamily="34" charset="-120"/>
              </a:rPr>
              <a:t>GROUP BY p.vendor</a:t>
            </a:r>
            <a:endParaRPr lang="en-US" sz="950" dirty="0"/>
          </a:p>
          <a:p>
            <a:pPr indent="0" marL="0">
              <a:buNone/>
            </a:pPr>
            <a:r>
              <a:rPr lang="en-US" sz="950" dirty="0">
                <a:solidFill>
                  <a:srgbClr val="E6EDF3"/>
                </a:solidFill>
                <a:latin typeface="Courier New" pitchFamily="34" charset="0"/>
                <a:ea typeface="Courier New" pitchFamily="34" charset="-122"/>
                <a:cs typeface="Courier New" pitchFamily="34" charset="-120"/>
              </a:rPr>
              <a:t>HAVING COUNT(*) &gt;= 10</a:t>
            </a:r>
            <a:endParaRPr lang="en-US" sz="950" dirty="0"/>
          </a:p>
          <a:p>
            <a:pPr indent="0" marL="0">
              <a:buNone/>
            </a:pPr>
            <a:r>
              <a:rPr lang="en-US" sz="950" dirty="0">
                <a:solidFill>
                  <a:srgbClr val="E6EDF3"/>
                </a:solidFill>
                <a:latin typeface="Courier New" pitchFamily="34" charset="0"/>
                <a:ea typeface="Courier New" pitchFamily="34" charset="-122"/>
                <a:cs typeface="Courier New" pitchFamily="34" charset="-120"/>
              </a:rPr>
              <a:t>ORDER BY epss_top5pct DESC LIMIT 15;</a:t>
            </a:r>
            <a:endParaRPr lang="en-US" sz="950" dirty="0"/>
          </a:p>
        </p:txBody>
      </p:sp>
      <p:pic>
        <p:nvPicPr>
          <p:cNvPr id="9" name="Image 0" descr="preencoded.png">    </p:cNvPr>
          <p:cNvPicPr>
            <a:picLocks noChangeAspect="1"/>
          </p:cNvPicPr>
          <p:nvPr/>
        </p:nvPicPr>
        <p:blipFill>
          <a:blip r:embed="rId1"/>
          <a:stretch>
            <a:fillRect/>
          </a:stretch>
        </p:blipFill>
        <p:spPr>
          <a:xfrm>
            <a:off x="6720840" y="1417320"/>
            <a:ext cx="4206240" cy="1775968"/>
          </a:xfrm>
          <a:prstGeom prst="rect">
            <a:avLst/>
          </a:prstGeom>
        </p:spPr>
      </p:pic>
      <p:graphicFrame>
        <p:nvGraphicFramePr>
          <p:cNvPr id="10" name="Chart 0" descr=""/>
          <p:cNvGraphicFramePr/>
          <p:nvPr/>
        </p:nvGraphicFramePr>
        <p:xfrm>
          <a:off x="6126480" y="3246120"/>
          <a:ext cx="5605272" cy="2423160"/>
        </p:xfrm>
        <a:graphic xmlns:a="http://schemas.openxmlformats.org/drawingml/2006/main">
          <a:graphicData uri="http://schemas.openxmlformats.org/drawingml/2006/chart">
            <c:chart xmlns:c="http://schemas.openxmlformats.org/drawingml/2006/chart" r:id="rId2"/>
          </a:graphicData>
        </a:graphic>
      </p:graphicFrame>
      <p:sp>
        <p:nvSpPr>
          <p:cNvPr id="11" name="Shape 7"/>
          <p:cNvSpPr/>
          <p:nvPr/>
        </p:nvSpPr>
        <p:spPr>
          <a:xfrm>
            <a:off x="457200" y="5806440"/>
            <a:ext cx="11274552" cy="548640"/>
          </a:xfrm>
          <a:prstGeom prst="rect">
            <a:avLst/>
          </a:prstGeom>
          <a:solidFill>
            <a:srgbClr val="F3F5F8"/>
          </a:solidFill>
          <a:ln w="12700">
            <a:solidFill>
              <a:srgbClr val="F3F5F8"/>
            </a:solidFill>
            <a:prstDash val="solid"/>
          </a:ln>
        </p:spPr>
      </p:sp>
      <p:sp>
        <p:nvSpPr>
          <p:cNvPr id="12" name="Text 8"/>
          <p:cNvSpPr txBox="1"/>
          <p:nvPr/>
        </p:nvSpPr>
        <p:spPr>
          <a:xfrm>
            <a:off x="640080" y="5806440"/>
            <a:ext cx="10908792" cy="548640"/>
          </a:xfrm>
          <a:prstGeom prst="rect">
            <a:avLst/>
          </a:prstGeom>
          <a:noFill/>
          <a:ln/>
        </p:spPr>
        <p:txBody>
          <a:bodyPr wrap="square" lIns="0" tIns="0" rIns="0" bIns="0" rtlCol="0" anchor="ctr"/>
          <a:lstStyle/>
          <a:p>
            <a:pPr indent="0" marL="0">
              <a:buNone/>
            </a:pPr>
            <a:r>
              <a:rPr lang="en-US" sz="1300" dirty="0">
                <a:solidFill>
                  <a:srgbClr val="1F2933"/>
                </a:solidFill>
                <a:latin typeface="Calibri" pitchFamily="34" charset="0"/>
                <a:ea typeface="Calibri" pitchFamily="34" charset="-122"/>
                <a:cs typeface="Calibri" pitchFamily="34" charset="-120"/>
              </a:rPr>
              <a:t>Ivanti has 76 of its 218 severe remote CVEs (35%) in the EPSS top 5%, against 13% for Apache and 7% for Microsoft: volume alone hides the riskiest vendor.</a:t>
            </a:r>
            <a:endParaRPr lang="en-US" sz="13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320040"/>
            <a:ext cx="8778240" cy="640080"/>
          </a:xfrm>
          <a:prstGeom prst="rect">
            <a:avLst/>
          </a:prstGeom>
          <a:noFill/>
          <a:ln/>
        </p:spPr>
        <p:txBody>
          <a:bodyPr wrap="square" lIns="0" tIns="0" rIns="0" bIns="0" rtlCol="0" anchor="ctr"/>
          <a:lstStyle/>
          <a:p>
            <a:pPr indent="0" marL="0">
              <a:buNone/>
            </a:pPr>
            <a:r>
              <a:rPr lang="en-US" sz="2600" b="1" dirty="0">
                <a:solidFill>
                  <a:srgbClr val="1B2A41"/>
                </a:solidFill>
                <a:latin typeface="Arial" pitchFamily="34" charset="0"/>
                <a:ea typeface="Arial" pitchFamily="34" charset="-122"/>
                <a:cs typeface="Arial" pitchFamily="34" charset="-120"/>
              </a:rPr>
              <a:t>Q5 · Does CVSS agree with EPSS?</a:t>
            </a:r>
            <a:endParaRPr lang="en-US" sz="2600" dirty="0"/>
          </a:p>
        </p:txBody>
      </p:sp>
      <p:sp>
        <p:nvSpPr>
          <p:cNvPr id="3" name="Shape 1"/>
          <p:cNvSpPr/>
          <p:nvPr/>
        </p:nvSpPr>
        <p:spPr>
          <a:xfrm>
            <a:off x="9464040" y="384048"/>
            <a:ext cx="2267712" cy="512064"/>
          </a:xfrm>
          <a:prstGeom prst="roundRect">
            <a:avLst>
              <a:gd name="adj" fmla="val 50000"/>
            </a:avLst>
          </a:prstGeom>
          <a:solidFill>
            <a:srgbClr val="148C8C"/>
          </a:solidFill>
          <a:ln w="12700">
            <a:solidFill>
              <a:srgbClr val="148C8C"/>
            </a:solidFill>
            <a:prstDash val="solid"/>
          </a:ln>
        </p:spPr>
      </p:sp>
      <p:sp>
        <p:nvSpPr>
          <p:cNvPr id="4" name="Text 2"/>
          <p:cNvSpPr txBox="1"/>
          <p:nvPr/>
        </p:nvSpPr>
        <p:spPr>
          <a:xfrm>
            <a:off x="9464040" y="384048"/>
            <a:ext cx="2267712" cy="512064"/>
          </a:xfrm>
          <a:prstGeom prst="rect">
            <a:avLst/>
          </a:prstGeom>
          <a:noFill/>
          <a:ln/>
        </p:spPr>
        <p:txBody>
          <a:bodyPr wrap="square" lIns="0" tIns="0" rIns="0" bIns="0" rtlCol="0" anchor="ctr"/>
          <a:lstStyle/>
          <a:p>
            <a:pPr algn="ctr" indent="0" marL="0">
              <a:buNone/>
            </a:pPr>
            <a:r>
              <a:rPr lang="en-US" sz="1500" b="1" dirty="0">
                <a:solidFill>
                  <a:srgbClr val="FFFFFF"/>
                </a:solidFill>
                <a:latin typeface="Arial" pitchFamily="34" charset="0"/>
                <a:ea typeface="Arial" pitchFamily="34" charset="-122"/>
                <a:cs typeface="Arial" pitchFamily="34" charset="-120"/>
              </a:rPr>
              <a:t>PIVOT</a:t>
            </a:r>
            <a:endParaRPr lang="en-US" sz="1500" dirty="0"/>
          </a:p>
        </p:txBody>
      </p:sp>
      <p:sp>
        <p:nvSpPr>
          <p:cNvPr id="5" name="Text 3"/>
          <p:cNvSpPr txBox="1"/>
          <p:nvPr/>
        </p:nvSpPr>
        <p:spPr>
          <a:xfrm>
            <a:off x="457200" y="987552"/>
            <a:ext cx="11247120" cy="411480"/>
          </a:xfrm>
          <a:prstGeom prst="rect">
            <a:avLst/>
          </a:prstGeom>
          <a:noFill/>
          <a:ln/>
        </p:spPr>
        <p:txBody>
          <a:bodyPr wrap="square" lIns="0" tIns="0" rIns="0" bIns="0" rtlCol="0" anchor="t"/>
          <a:lstStyle/>
          <a:p>
            <a:pPr indent="0" marL="0">
              <a:buNone/>
            </a:pPr>
            <a:r>
              <a:rPr lang="en-US" sz="1500" i="1" dirty="0">
                <a:solidFill>
                  <a:srgbClr val="5B6B7C"/>
                </a:solidFill>
                <a:latin typeface="Calibri" pitchFamily="34" charset="0"/>
                <a:ea typeface="Calibri" pitchFamily="34" charset="-122"/>
                <a:cs typeface="Calibri" pitchFamily="34" charset="-120"/>
              </a:rPr>
              <a:t>“Count CVEs by CVSS band (rows) and EPSS band rotated into columns.”</a:t>
            </a:r>
            <a:endParaRPr lang="en-US" sz="1500" dirty="0"/>
          </a:p>
        </p:txBody>
      </p:sp>
      <p:sp>
        <p:nvSpPr>
          <p:cNvPr id="6" name="Text 4"/>
          <p:cNvSpPr txBox="1"/>
          <p:nvPr/>
        </p:nvSpPr>
        <p:spPr>
          <a:xfrm>
            <a:off x="6675120" y="6446520"/>
            <a:ext cx="5056632" cy="274320"/>
          </a:xfrm>
          <a:prstGeom prst="rect">
            <a:avLst/>
          </a:prstGeom>
          <a:noFill/>
          <a:ln/>
        </p:spPr>
        <p:txBody>
          <a:bodyPr wrap="square" lIns="0" tIns="0" rIns="0" bIns="0" rtlCol="0" anchor="ctr"/>
          <a:lstStyle/>
          <a:p>
            <a:pPr algn="r" indent="0" marL="0">
              <a:buNone/>
            </a:pPr>
            <a:r>
              <a:rPr lang="en-US" sz="900" dirty="0">
                <a:solidFill>
                  <a:srgbClr val="5B6B7C"/>
                </a:solidFill>
                <a:latin typeface="Calibri" pitchFamily="34" charset="0"/>
                <a:ea typeface="Calibri" pitchFamily="34" charset="-122"/>
                <a:cs typeface="Calibri" pitchFamily="34" charset="-120"/>
              </a:rPr>
              <a:t>CVE Data Warehouse · Alessia Angele · 16</a:t>
            </a:r>
            <a:endParaRPr lang="en-US" sz="900" dirty="0"/>
          </a:p>
        </p:txBody>
      </p:sp>
      <p:sp>
        <p:nvSpPr>
          <p:cNvPr id="7" name="Shape 5"/>
          <p:cNvSpPr/>
          <p:nvPr/>
        </p:nvSpPr>
        <p:spPr>
          <a:xfrm>
            <a:off x="457200" y="1554480"/>
            <a:ext cx="5394960" cy="4069080"/>
          </a:xfrm>
          <a:prstGeom prst="rect">
            <a:avLst/>
          </a:prstGeom>
          <a:solidFill>
            <a:srgbClr val="16202E"/>
          </a:solidFill>
          <a:ln w="12700">
            <a:solidFill>
              <a:srgbClr val="16202E"/>
            </a:solidFill>
            <a:prstDash val="solid"/>
          </a:ln>
        </p:spPr>
      </p:sp>
      <p:sp>
        <p:nvSpPr>
          <p:cNvPr id="8" name="Text 6"/>
          <p:cNvSpPr txBox="1"/>
          <p:nvPr/>
        </p:nvSpPr>
        <p:spPr>
          <a:xfrm>
            <a:off x="594360" y="1645920"/>
            <a:ext cx="5120640" cy="3886200"/>
          </a:xfrm>
          <a:prstGeom prst="rect">
            <a:avLst/>
          </a:prstGeom>
          <a:noFill/>
          <a:ln/>
        </p:spPr>
        <p:txBody>
          <a:bodyPr wrap="square" lIns="0" tIns="0" rIns="0" bIns="0" rtlCol="0" anchor="t"/>
          <a:lstStyle/>
          <a:p>
            <a:pPr indent="0" marL="0">
              <a:buNone/>
            </a:pPr>
            <a:r>
              <a:rPr lang="en-US" sz="1000" dirty="0">
                <a:solidFill>
                  <a:srgbClr val="E6EDF3"/>
                </a:solidFill>
                <a:latin typeface="Courier New" pitchFamily="34" charset="0"/>
                <a:ea typeface="Courier New" pitchFamily="34" charset="-122"/>
                <a:cs typeface="Courier New" pitchFamily="34" charset="-120"/>
              </a:rPr>
              <a:t>WITH banded AS (</a:t>
            </a:r>
            <a:endParaRPr lang="en-US" sz="1000" dirty="0"/>
          </a:p>
          <a:p>
            <a:pPr indent="0" marL="0">
              <a:buNone/>
            </a:pPr>
            <a:r>
              <a:rPr lang="en-US" sz="1000" dirty="0">
                <a:solidFill>
                  <a:srgbClr val="E6EDF3"/>
                </a:solidFill>
                <a:latin typeface="Courier New" pitchFamily="34" charset="0"/>
                <a:ea typeface="Courier New" pitchFamily="34" charset="-122"/>
                <a:cs typeface="Courier New" pitchFamily="34" charset="-120"/>
              </a:rPr>
              <a:t>  SELECT CASE</a:t>
            </a:r>
            <a:endParaRPr lang="en-US" sz="1000" dirty="0"/>
          </a:p>
          <a:p>
            <a:pPr indent="0" marL="0">
              <a:buNone/>
            </a:pPr>
            <a:r>
              <a:rPr lang="en-US" sz="1000" dirty="0">
                <a:solidFill>
                  <a:srgbClr val="E6EDF3"/>
                </a:solidFill>
                <a:latin typeface="Courier New" pitchFamily="34" charset="0"/>
                <a:ea typeface="Courier New" pitchFamily="34" charset="-122"/>
                <a:cs typeface="Courier New" pitchFamily="34" charset="-120"/>
              </a:rPr>
              <a:t>    WHEN cvss_score &gt;= 9 THEN 'Critical'</a:t>
            </a:r>
            <a:endParaRPr lang="en-US" sz="1000" dirty="0"/>
          </a:p>
          <a:p>
            <a:pPr indent="0" marL="0">
              <a:buNone/>
            </a:pPr>
            <a:r>
              <a:rPr lang="en-US" sz="1000" dirty="0">
                <a:solidFill>
                  <a:srgbClr val="E6EDF3"/>
                </a:solidFill>
                <a:latin typeface="Courier New" pitchFamily="34" charset="0"/>
                <a:ea typeface="Courier New" pitchFamily="34" charset="-122"/>
                <a:cs typeface="Courier New" pitchFamily="34" charset="-120"/>
              </a:rPr>
              <a:t>    WHEN cvss_score &gt;= 7 THEN 'High'</a:t>
            </a:r>
            <a:endParaRPr lang="en-US" sz="1000" dirty="0"/>
          </a:p>
          <a:p>
            <a:pPr indent="0" marL="0">
              <a:buNone/>
            </a:pPr>
            <a:r>
              <a:rPr lang="en-US" sz="1000" dirty="0">
                <a:solidFill>
                  <a:srgbClr val="E6EDF3"/>
                </a:solidFill>
                <a:latin typeface="Courier New" pitchFamily="34" charset="0"/>
                <a:ea typeface="Courier New" pitchFamily="34" charset="-122"/>
                <a:cs typeface="Courier New" pitchFamily="34" charset="-120"/>
              </a:rPr>
              <a:t>    WHEN cvss_score &gt;= 4 THEN 'Medium'</a:t>
            </a:r>
            <a:endParaRPr lang="en-US" sz="1000" dirty="0"/>
          </a:p>
          <a:p>
            <a:pPr indent="0" marL="0">
              <a:buNone/>
            </a:pPr>
            <a:r>
              <a:rPr lang="en-US" sz="1000" dirty="0">
                <a:solidFill>
                  <a:srgbClr val="E6EDF3"/>
                </a:solidFill>
                <a:latin typeface="Courier New" pitchFamily="34" charset="0"/>
                <a:ea typeface="Courier New" pitchFamily="34" charset="-122"/>
                <a:cs typeface="Courier New" pitchFamily="34" charset="-120"/>
              </a:rPr>
              <a:t>    ELSE 'Low' END AS cvss_band,</a:t>
            </a:r>
            <a:endParaRPr lang="en-US" sz="1000" dirty="0"/>
          </a:p>
          <a:p>
            <a:pPr indent="0" marL="0">
              <a:buNone/>
            </a:pPr>
            <a:r>
              <a:rPr lang="en-US" sz="1000" dirty="0">
                <a:solidFill>
                  <a:srgbClr val="E6EDF3"/>
                </a:solidFill>
                <a:latin typeface="Courier New" pitchFamily="34" charset="0"/>
                <a:ea typeface="Courier New" pitchFamily="34" charset="-122"/>
                <a:cs typeface="Courier New" pitchFamily="34" charset="-120"/>
              </a:rPr>
              <a:t>    epss_score</a:t>
            </a:r>
            <a:endParaRPr lang="en-US" sz="1000" dirty="0"/>
          </a:p>
          <a:p>
            <a:pPr indent="0" marL="0">
              <a:buNone/>
            </a:pPr>
            <a:r>
              <a:rPr lang="en-US" sz="1000" dirty="0">
                <a:solidFill>
                  <a:srgbClr val="E6EDF3"/>
                </a:solidFill>
                <a:latin typeface="Courier New" pitchFamily="34" charset="0"/>
                <a:ea typeface="Courier New" pitchFamily="34" charset="-122"/>
                <a:cs typeface="Courier New" pitchFamily="34" charset="-120"/>
              </a:rPr>
              <a:t>  FROM fact_vulnerability</a:t>
            </a:r>
            <a:endParaRPr lang="en-US" sz="1000" dirty="0"/>
          </a:p>
          <a:p>
            <a:pPr indent="0" marL="0">
              <a:buNone/>
            </a:pPr>
            <a:r>
              <a:rPr lang="en-US" sz="1000" dirty="0">
                <a:solidFill>
                  <a:srgbClr val="E6EDF3"/>
                </a:solidFill>
                <a:latin typeface="Courier New" pitchFamily="34" charset="0"/>
                <a:ea typeface="Courier New" pitchFamily="34" charset="-122"/>
                <a:cs typeface="Courier New" pitchFamily="34" charset="-120"/>
              </a:rPr>
              <a:t>  WHERE cvss_score IS NOT NULL</a:t>
            </a:r>
            <a:endParaRPr lang="en-US" sz="1000" dirty="0"/>
          </a:p>
          <a:p>
            <a:pPr indent="0" marL="0">
              <a:buNone/>
            </a:pPr>
            <a:r>
              <a:rPr lang="en-US" sz="1000" dirty="0">
                <a:solidFill>
                  <a:srgbClr val="E6EDF3"/>
                </a:solidFill>
                <a:latin typeface="Courier New" pitchFamily="34" charset="0"/>
                <a:ea typeface="Courier New" pitchFamily="34" charset="-122"/>
                <a:cs typeface="Courier New" pitchFamily="34" charset="-120"/>
              </a:rPr>
              <a:t>    AND epss_score IS NOT NULL)</a:t>
            </a:r>
            <a:endParaRPr lang="en-US" sz="1000" dirty="0"/>
          </a:p>
          <a:p>
            <a:pPr indent="0" marL="0">
              <a:buNone/>
            </a:pPr>
            <a:r>
              <a:rPr lang="en-US" sz="1000" dirty="0">
                <a:solidFill>
                  <a:srgbClr val="E6EDF3"/>
                </a:solidFill>
                <a:latin typeface="Courier New" pitchFamily="34" charset="0"/>
                <a:ea typeface="Courier New" pitchFamily="34" charset="-122"/>
                <a:cs typeface="Courier New" pitchFamily="34" charset="-120"/>
              </a:rPr>
              <a:t>SELECT cvss_band,</a:t>
            </a:r>
            <a:endParaRPr lang="en-US" sz="1000" dirty="0"/>
          </a:p>
          <a:p>
            <a:pPr indent="0" marL="0">
              <a:buNone/>
            </a:pPr>
            <a:r>
              <a:rPr lang="en-US" sz="1000" dirty="0">
                <a:solidFill>
                  <a:srgbClr val="E6EDF3"/>
                </a:solidFill>
                <a:latin typeface="Courier New" pitchFamily="34" charset="0"/>
                <a:ea typeface="Courier New" pitchFamily="34" charset="-122"/>
                <a:cs typeface="Courier New" pitchFamily="34" charset="-120"/>
              </a:rPr>
              <a:t>  COUNT(*) FILTER (WHERE epss_score &lt; 0.01)</a:t>
            </a:r>
            <a:endParaRPr lang="en-US" sz="1000" dirty="0"/>
          </a:p>
          <a:p>
            <a:pPr indent="0" marL="0">
              <a:buNone/>
            </a:pPr>
            <a:r>
              <a:rPr lang="en-US" sz="1000" dirty="0">
                <a:solidFill>
                  <a:srgbClr val="E6EDF3"/>
                </a:solidFill>
                <a:latin typeface="Courier New" pitchFamily="34" charset="0"/>
                <a:ea typeface="Courier New" pitchFamily="34" charset="-122"/>
                <a:cs typeface="Courier New" pitchFamily="34" charset="-120"/>
              </a:rPr>
              <a:t>                               AS "EPSS &lt;1%",</a:t>
            </a:r>
            <a:endParaRPr lang="en-US" sz="1000" dirty="0"/>
          </a:p>
          <a:p>
            <a:pPr indent="0" marL="0">
              <a:buNone/>
            </a:pPr>
            <a:r>
              <a:rPr lang="en-US" sz="1000" dirty="0">
                <a:solidFill>
                  <a:srgbClr val="E6EDF3"/>
                </a:solidFill>
                <a:latin typeface="Courier New" pitchFamily="34" charset="0"/>
                <a:ea typeface="Courier New" pitchFamily="34" charset="-122"/>
                <a:cs typeface="Courier New" pitchFamily="34" charset="-120"/>
              </a:rPr>
              <a:t>  ...                          -- 1-10%, 10-50%</a:t>
            </a:r>
            <a:endParaRPr lang="en-US" sz="1000" dirty="0"/>
          </a:p>
          <a:p>
            <a:pPr indent="0" marL="0">
              <a:buNone/>
            </a:pPr>
            <a:r>
              <a:rPr lang="en-US" sz="1000" dirty="0">
                <a:solidFill>
                  <a:srgbClr val="E6EDF3"/>
                </a:solidFill>
                <a:latin typeface="Courier New" pitchFamily="34" charset="0"/>
                <a:ea typeface="Courier New" pitchFamily="34" charset="-122"/>
                <a:cs typeface="Courier New" pitchFamily="34" charset="-120"/>
              </a:rPr>
              <a:t>  COUNT(*) FILTER (WHERE epss_score &gt;= 0.5)</a:t>
            </a:r>
            <a:endParaRPr lang="en-US" sz="1000" dirty="0"/>
          </a:p>
          <a:p>
            <a:pPr indent="0" marL="0">
              <a:buNone/>
            </a:pPr>
            <a:r>
              <a:rPr lang="en-US" sz="1000" dirty="0">
                <a:solidFill>
                  <a:srgbClr val="E6EDF3"/>
                </a:solidFill>
                <a:latin typeface="Courier New" pitchFamily="34" charset="0"/>
                <a:ea typeface="Courier New" pitchFamily="34" charset="-122"/>
                <a:cs typeface="Courier New" pitchFamily="34" charset="-120"/>
              </a:rPr>
              <a:t>                               AS "EPSS &gt;=50%"</a:t>
            </a:r>
            <a:endParaRPr lang="en-US" sz="1000" dirty="0"/>
          </a:p>
          <a:p>
            <a:pPr indent="0" marL="0">
              <a:buNone/>
            </a:pPr>
            <a:r>
              <a:rPr lang="en-US" sz="1000" dirty="0">
                <a:solidFill>
                  <a:srgbClr val="E6EDF3"/>
                </a:solidFill>
                <a:latin typeface="Courier New" pitchFamily="34" charset="0"/>
                <a:ea typeface="Courier New" pitchFamily="34" charset="-122"/>
                <a:cs typeface="Courier New" pitchFamily="34" charset="-120"/>
              </a:rPr>
              <a:t>FROM banded GROUP BY cvss_band;</a:t>
            </a:r>
            <a:endParaRPr lang="en-US" sz="1000" dirty="0"/>
          </a:p>
        </p:txBody>
      </p:sp>
      <p:pic>
        <p:nvPicPr>
          <p:cNvPr id="9" name="Image 0" descr="preencoded.png">    </p:cNvPr>
          <p:cNvPicPr>
            <a:picLocks noChangeAspect="1"/>
          </p:cNvPicPr>
          <p:nvPr/>
        </p:nvPicPr>
        <p:blipFill>
          <a:blip r:embed="rId1"/>
          <a:stretch>
            <a:fillRect/>
          </a:stretch>
        </p:blipFill>
        <p:spPr>
          <a:xfrm>
            <a:off x="6720840" y="1417320"/>
            <a:ext cx="4206240" cy="1775968"/>
          </a:xfrm>
          <a:prstGeom prst="rect">
            <a:avLst/>
          </a:prstGeom>
        </p:spPr>
      </p:pic>
      <p:graphicFrame>
        <p:nvGraphicFramePr>
          <p:cNvPr id="17" name="Table 0"/>
          <p:cNvGraphicFramePr>
            <a:graphicFrameLocks noGrp="1"/>
          </p:cNvGraphicFramePr>
          <p:nvPr>
            <p:extLst>
              <p:ext uri="{D42A27DB-BD31-4B8C-83A1-F6EECF244321}">
                <p14:modId xmlns:p14="http://schemas.microsoft.com/office/powerpoint/2010/main" val="1579011935"/>
              </p:ext>
            </p:extLst>
          </p:nvPr>
        </p:nvGraphicFramePr>
        <p:xfrm>
          <a:off x="6126480" y="3246120"/>
          <a:ext cx="5605272" cy="914400"/>
        </p:xfrm>
        <a:graphic>
          <a:graphicData uri="http://schemas.openxmlformats.org/drawingml/2006/table">
            <a:tbl>
              <a:tblPr/>
              <a:tblGrid>
                <a:gridCol w="1325880"/>
                <a:gridCol w="1069848"/>
                <a:gridCol w="1069848"/>
                <a:gridCol w="1069848"/>
                <a:gridCol w="1069848"/>
              </a:tblGrid>
              <a:tr h="384048">
                <a:tc>
                  <a:txBody>
                    <a:bodyPr/>
                    <a:lstStyle/>
                    <a:p>
                      <a:pPr algn="ctr" indent="0" marL="0">
                        <a:buNone/>
                      </a:pPr>
                      <a:r>
                        <a:rPr lang="en-US" sz="1250" b="1" dirty="0">
                          <a:solidFill>
                            <a:srgbClr val="FFFFFF"/>
                          </a:solidFill>
                          <a:latin typeface="Calibri" pitchFamily="34" charset="0"/>
                          <a:ea typeface="Calibri" pitchFamily="34" charset="-122"/>
                          <a:cs typeface="Calibri" pitchFamily="34" charset="-120"/>
                        </a:rPr>
                        <a:t>CVSS \ EPSS</a:t>
                      </a:r>
                      <a:endParaRPr lang="en-US" sz="125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1B2A41"/>
                    </a:solidFill>
                  </a:tcPr>
                </a:tc>
                <a:tc>
                  <a:txBody>
                    <a:bodyPr/>
                    <a:lstStyle/>
                    <a:p>
                      <a:pPr algn="ctr" indent="0" marL="0">
                        <a:buNone/>
                      </a:pPr>
                      <a:r>
                        <a:rPr lang="en-US" sz="1250" b="1" dirty="0">
                          <a:solidFill>
                            <a:srgbClr val="FFFFFF"/>
                          </a:solidFill>
                          <a:latin typeface="Calibri" pitchFamily="34" charset="0"/>
                          <a:ea typeface="Calibri" pitchFamily="34" charset="-122"/>
                          <a:cs typeface="Calibri" pitchFamily="34" charset="-120"/>
                        </a:rPr>
                        <a:t>&lt; 1%</a:t>
                      </a:r>
                      <a:endParaRPr lang="en-US" sz="125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1B2A41"/>
                    </a:solidFill>
                  </a:tcPr>
                </a:tc>
                <a:tc>
                  <a:txBody>
                    <a:bodyPr/>
                    <a:lstStyle/>
                    <a:p>
                      <a:pPr algn="ctr" indent="0" marL="0">
                        <a:buNone/>
                      </a:pPr>
                      <a:r>
                        <a:rPr lang="en-US" sz="1250" b="1" dirty="0">
                          <a:solidFill>
                            <a:srgbClr val="FFFFFF"/>
                          </a:solidFill>
                          <a:latin typeface="Calibri" pitchFamily="34" charset="0"/>
                          <a:ea typeface="Calibri" pitchFamily="34" charset="-122"/>
                          <a:cs typeface="Calibri" pitchFamily="34" charset="-120"/>
                        </a:rPr>
                        <a:t>1–10%</a:t>
                      </a:r>
                      <a:endParaRPr lang="en-US" sz="125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1B2A41"/>
                    </a:solidFill>
                  </a:tcPr>
                </a:tc>
                <a:tc>
                  <a:txBody>
                    <a:bodyPr/>
                    <a:lstStyle/>
                    <a:p>
                      <a:pPr algn="ctr" indent="0" marL="0">
                        <a:buNone/>
                      </a:pPr>
                      <a:r>
                        <a:rPr lang="en-US" sz="1250" b="1" dirty="0">
                          <a:solidFill>
                            <a:srgbClr val="FFFFFF"/>
                          </a:solidFill>
                          <a:latin typeface="Calibri" pitchFamily="34" charset="0"/>
                          <a:ea typeface="Calibri" pitchFamily="34" charset="-122"/>
                          <a:cs typeface="Calibri" pitchFamily="34" charset="-120"/>
                        </a:rPr>
                        <a:t>10–50%</a:t>
                      </a:r>
                      <a:endParaRPr lang="en-US" sz="125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1B2A41"/>
                    </a:solidFill>
                  </a:tcPr>
                </a:tc>
                <a:tc>
                  <a:txBody>
                    <a:bodyPr/>
                    <a:lstStyle/>
                    <a:p>
                      <a:pPr algn="ctr" indent="0" marL="0">
                        <a:buNone/>
                      </a:pPr>
                      <a:r>
                        <a:rPr lang="en-US" sz="1250" b="1" dirty="0">
                          <a:solidFill>
                            <a:srgbClr val="FFFFFF"/>
                          </a:solidFill>
                          <a:latin typeface="Calibri" pitchFamily="34" charset="0"/>
                          <a:ea typeface="Calibri" pitchFamily="34" charset="-122"/>
                          <a:cs typeface="Calibri" pitchFamily="34" charset="-120"/>
                        </a:rPr>
                        <a:t>≥ 50%</a:t>
                      </a:r>
                      <a:endParaRPr lang="en-US" sz="125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1B2A41"/>
                    </a:solidFill>
                  </a:tcPr>
                </a:tc>
              </a:tr>
              <a:tr h="384048">
                <a:tc>
                  <a:txBody>
                    <a:bodyPr/>
                    <a:lstStyle/>
                    <a:p>
                      <a:pPr indent="0" marL="0">
                        <a:buNone/>
                      </a:pPr>
                      <a:r>
                        <a:rPr lang="en-US" sz="1250" b="1" dirty="0">
                          <a:solidFill>
                            <a:srgbClr val="1F2933"/>
                          </a:solidFill>
                          <a:latin typeface="Calibri" pitchFamily="34" charset="0"/>
                          <a:ea typeface="Calibri" pitchFamily="34" charset="-122"/>
                          <a:cs typeface="Calibri" pitchFamily="34" charset="-120"/>
                        </a:rPr>
                        <a:t>Critical</a:t>
                      </a:r>
                      <a:endParaRPr lang="en-US" sz="125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tcPr>
                </a:tc>
                <a:tc>
                  <a:txBody>
                    <a:bodyPr/>
                    <a:lstStyle/>
                    <a:p>
                      <a:pPr algn="ctr" indent="0" marL="0">
                        <a:buNone/>
                      </a:pPr>
                      <a:r>
                        <a:rPr lang="en-US" sz="1250" b="1" dirty="0">
                          <a:solidFill>
                            <a:srgbClr val="C8102E"/>
                          </a:solidFill>
                          <a:latin typeface="Calibri" pitchFamily="34" charset="0"/>
                          <a:ea typeface="Calibri" pitchFamily="34" charset="-122"/>
                          <a:cs typeface="Calibri" pitchFamily="34" charset="-120"/>
                        </a:rPr>
                        <a:t>15,844</a:t>
                      </a:r>
                      <a:endParaRPr lang="en-US" sz="125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6C9CF"/>
                    </a:solidFill>
                  </a:tcPr>
                </a:tc>
                <a:tc>
                  <a:txBody>
                    <a:bodyPr/>
                    <a:lstStyle/>
                    <a:p>
                      <a:pPr algn="ctr" indent="0" marL="0">
                        <a:buNone/>
                      </a:pPr>
                      <a:r>
                        <a:rPr lang="en-US" sz="1250" dirty="0">
                          <a:solidFill>
                            <a:srgbClr val="1F2933"/>
                          </a:solidFill>
                          <a:latin typeface="Calibri" pitchFamily="34" charset="0"/>
                          <a:ea typeface="Calibri" pitchFamily="34" charset="-122"/>
                          <a:cs typeface="Calibri" pitchFamily="34" charset="-120"/>
                        </a:rPr>
                        <a:t>4,843</a:t>
                      </a:r>
                      <a:endParaRPr lang="en-US" sz="125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3F5F8"/>
                    </a:solidFill>
                  </a:tcPr>
                </a:tc>
                <a:tc>
                  <a:txBody>
                    <a:bodyPr/>
                    <a:lstStyle/>
                    <a:p>
                      <a:pPr algn="ctr" indent="0" marL="0">
                        <a:buNone/>
                      </a:pPr>
                      <a:r>
                        <a:rPr lang="en-US" sz="1250" dirty="0">
                          <a:solidFill>
                            <a:srgbClr val="1F2933"/>
                          </a:solidFill>
                          <a:latin typeface="Calibri" pitchFamily="34" charset="0"/>
                          <a:ea typeface="Calibri" pitchFamily="34" charset="-122"/>
                          <a:cs typeface="Calibri" pitchFamily="34" charset="-120"/>
                        </a:rPr>
                        <a:t>1,383</a:t>
                      </a:r>
                      <a:endParaRPr lang="en-US" sz="125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3F5F8"/>
                    </a:solidFill>
                  </a:tcPr>
                </a:tc>
                <a:tc>
                  <a:txBody>
                    <a:bodyPr/>
                    <a:lstStyle/>
                    <a:p>
                      <a:pPr algn="ctr" indent="0" marL="0">
                        <a:buNone/>
                      </a:pPr>
                      <a:r>
                        <a:rPr lang="en-US" sz="1250" dirty="0">
                          <a:solidFill>
                            <a:srgbClr val="1F2933"/>
                          </a:solidFill>
                          <a:latin typeface="Calibri" pitchFamily="34" charset="0"/>
                          <a:ea typeface="Calibri" pitchFamily="34" charset="-122"/>
                          <a:cs typeface="Calibri" pitchFamily="34" charset="-120"/>
                        </a:rPr>
                        <a:t>1,353</a:t>
                      </a:r>
                      <a:endParaRPr lang="en-US" sz="125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D6ECEC"/>
                    </a:solidFill>
                  </a:tcPr>
                </a:tc>
              </a:tr>
              <a:tr h="384048">
                <a:tc>
                  <a:txBody>
                    <a:bodyPr/>
                    <a:lstStyle/>
                    <a:p>
                      <a:pPr indent="0" marL="0">
                        <a:buNone/>
                      </a:pPr>
                      <a:r>
                        <a:rPr lang="en-US" sz="1250" b="1" dirty="0">
                          <a:solidFill>
                            <a:srgbClr val="1F2933"/>
                          </a:solidFill>
                          <a:latin typeface="Calibri" pitchFamily="34" charset="0"/>
                          <a:ea typeface="Calibri" pitchFamily="34" charset="-122"/>
                          <a:cs typeface="Calibri" pitchFamily="34" charset="-120"/>
                        </a:rPr>
                        <a:t>High</a:t>
                      </a:r>
                      <a:endParaRPr lang="en-US" sz="125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tcPr>
                </a:tc>
                <a:tc>
                  <a:txBody>
                    <a:bodyPr/>
                    <a:lstStyle/>
                    <a:p>
                      <a:pPr algn="ctr" indent="0" marL="0">
                        <a:buNone/>
                      </a:pPr>
                      <a:r>
                        <a:rPr lang="en-US" sz="1250" dirty="0">
                          <a:solidFill>
                            <a:srgbClr val="1F2933"/>
                          </a:solidFill>
                          <a:latin typeface="Calibri" pitchFamily="34" charset="0"/>
                          <a:ea typeface="Calibri" pitchFamily="34" charset="-122"/>
                          <a:cs typeface="Calibri" pitchFamily="34" charset="-120"/>
                        </a:rPr>
                        <a:t>60,023</a:t>
                      </a:r>
                      <a:endParaRPr lang="en-US" sz="125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3F5F8"/>
                    </a:solidFill>
                  </a:tcPr>
                </a:tc>
                <a:tc>
                  <a:txBody>
                    <a:bodyPr/>
                    <a:lstStyle/>
                    <a:p>
                      <a:pPr algn="ctr" indent="0" marL="0">
                        <a:buNone/>
                      </a:pPr>
                      <a:r>
                        <a:rPr lang="en-US" sz="1250" dirty="0">
                          <a:solidFill>
                            <a:srgbClr val="1F2933"/>
                          </a:solidFill>
                          <a:latin typeface="Calibri" pitchFamily="34" charset="0"/>
                          <a:ea typeface="Calibri" pitchFamily="34" charset="-122"/>
                          <a:cs typeface="Calibri" pitchFamily="34" charset="-120"/>
                        </a:rPr>
                        <a:t>8,894</a:t>
                      </a:r>
                      <a:endParaRPr lang="en-US" sz="125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3F5F8"/>
                    </a:solidFill>
                  </a:tcPr>
                </a:tc>
                <a:tc>
                  <a:txBody>
                    <a:bodyPr/>
                    <a:lstStyle/>
                    <a:p>
                      <a:pPr algn="ctr" indent="0" marL="0">
                        <a:buNone/>
                      </a:pPr>
                      <a:r>
                        <a:rPr lang="en-US" sz="1250" dirty="0">
                          <a:solidFill>
                            <a:srgbClr val="1F2933"/>
                          </a:solidFill>
                          <a:latin typeface="Calibri" pitchFamily="34" charset="0"/>
                          <a:ea typeface="Calibri" pitchFamily="34" charset="-122"/>
                          <a:cs typeface="Calibri" pitchFamily="34" charset="-120"/>
                        </a:rPr>
                        <a:t>2,089</a:t>
                      </a:r>
                      <a:endParaRPr lang="en-US" sz="125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3F5F8"/>
                    </a:solidFill>
                  </a:tcPr>
                </a:tc>
                <a:tc>
                  <a:txBody>
                    <a:bodyPr/>
                    <a:lstStyle/>
                    <a:p>
                      <a:pPr algn="ctr" indent="0" marL="0">
                        <a:buNone/>
                      </a:pPr>
                      <a:r>
                        <a:rPr lang="en-US" sz="1250" dirty="0">
                          <a:solidFill>
                            <a:srgbClr val="1F2933"/>
                          </a:solidFill>
                          <a:latin typeface="Calibri" pitchFamily="34" charset="0"/>
                          <a:ea typeface="Calibri" pitchFamily="34" charset="-122"/>
                          <a:cs typeface="Calibri" pitchFamily="34" charset="-120"/>
                        </a:rPr>
                        <a:t>1,059</a:t>
                      </a:r>
                      <a:endParaRPr lang="en-US" sz="125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D6ECEC"/>
                    </a:solidFill>
                  </a:tcPr>
                </a:tc>
              </a:tr>
              <a:tr h="384048">
                <a:tc>
                  <a:txBody>
                    <a:bodyPr/>
                    <a:lstStyle/>
                    <a:p>
                      <a:pPr indent="0" marL="0">
                        <a:buNone/>
                      </a:pPr>
                      <a:r>
                        <a:rPr lang="en-US" sz="1250" b="1" dirty="0">
                          <a:solidFill>
                            <a:srgbClr val="1F2933"/>
                          </a:solidFill>
                          <a:latin typeface="Calibri" pitchFamily="34" charset="0"/>
                          <a:ea typeface="Calibri" pitchFamily="34" charset="-122"/>
                          <a:cs typeface="Calibri" pitchFamily="34" charset="-120"/>
                        </a:rPr>
                        <a:t>Medium</a:t>
                      </a:r>
                      <a:endParaRPr lang="en-US" sz="125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tcPr>
                </a:tc>
                <a:tc>
                  <a:txBody>
                    <a:bodyPr/>
                    <a:lstStyle/>
                    <a:p>
                      <a:pPr algn="ctr" indent="0" marL="0">
                        <a:buNone/>
                      </a:pPr>
                      <a:r>
                        <a:rPr lang="en-US" sz="1250" dirty="0">
                          <a:solidFill>
                            <a:srgbClr val="1F2933"/>
                          </a:solidFill>
                          <a:latin typeface="Calibri" pitchFamily="34" charset="0"/>
                          <a:ea typeface="Calibri" pitchFamily="34" charset="-122"/>
                          <a:cs typeface="Calibri" pitchFamily="34" charset="-120"/>
                        </a:rPr>
                        <a:t>86,895</a:t>
                      </a:r>
                      <a:endParaRPr lang="en-US" sz="125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3F5F8"/>
                    </a:solidFill>
                  </a:tcPr>
                </a:tc>
                <a:tc>
                  <a:txBody>
                    <a:bodyPr/>
                    <a:lstStyle/>
                    <a:p>
                      <a:pPr algn="ctr" indent="0" marL="0">
                        <a:buNone/>
                      </a:pPr>
                      <a:r>
                        <a:rPr lang="en-US" sz="1250" dirty="0">
                          <a:solidFill>
                            <a:srgbClr val="1F2933"/>
                          </a:solidFill>
                          <a:latin typeface="Calibri" pitchFamily="34" charset="0"/>
                          <a:ea typeface="Calibri" pitchFamily="34" charset="-122"/>
                          <a:cs typeface="Calibri" pitchFamily="34" charset="-120"/>
                        </a:rPr>
                        <a:t>4,288</a:t>
                      </a:r>
                      <a:endParaRPr lang="en-US" sz="125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3F5F8"/>
                    </a:solidFill>
                  </a:tcPr>
                </a:tc>
                <a:tc>
                  <a:txBody>
                    <a:bodyPr/>
                    <a:lstStyle/>
                    <a:p>
                      <a:pPr algn="ctr" indent="0" marL="0">
                        <a:buNone/>
                      </a:pPr>
                      <a:r>
                        <a:rPr lang="en-US" sz="1250" dirty="0">
                          <a:solidFill>
                            <a:srgbClr val="1F2933"/>
                          </a:solidFill>
                          <a:latin typeface="Calibri" pitchFamily="34" charset="0"/>
                          <a:ea typeface="Calibri" pitchFamily="34" charset="-122"/>
                          <a:cs typeface="Calibri" pitchFamily="34" charset="-120"/>
                        </a:rPr>
                        <a:t>1,001</a:t>
                      </a:r>
                      <a:endParaRPr lang="en-US" sz="125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3F5F8"/>
                    </a:solidFill>
                  </a:tcPr>
                </a:tc>
                <a:tc>
                  <a:txBody>
                    <a:bodyPr/>
                    <a:lstStyle/>
                    <a:p>
                      <a:pPr algn="ctr" indent="0" marL="0">
                        <a:buNone/>
                      </a:pPr>
                      <a:r>
                        <a:rPr lang="en-US" sz="1250" b="1" dirty="0">
                          <a:solidFill>
                            <a:srgbClr val="C8102E"/>
                          </a:solidFill>
                          <a:latin typeface="Calibri" pitchFamily="34" charset="0"/>
                          <a:ea typeface="Calibri" pitchFamily="34" charset="-122"/>
                          <a:cs typeface="Calibri" pitchFamily="34" charset="-120"/>
                        </a:rPr>
                        <a:t>337</a:t>
                      </a:r>
                      <a:endParaRPr lang="en-US" sz="125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6C9CF"/>
                    </a:solidFill>
                  </a:tcPr>
                </a:tc>
              </a:tr>
              <a:tr h="384048">
                <a:tc>
                  <a:txBody>
                    <a:bodyPr/>
                    <a:lstStyle/>
                    <a:p>
                      <a:pPr indent="0" marL="0">
                        <a:buNone/>
                      </a:pPr>
                      <a:r>
                        <a:rPr lang="en-US" sz="1250" b="1" dirty="0">
                          <a:solidFill>
                            <a:srgbClr val="1F2933"/>
                          </a:solidFill>
                          <a:latin typeface="Calibri" pitchFamily="34" charset="0"/>
                          <a:ea typeface="Calibri" pitchFamily="34" charset="-122"/>
                          <a:cs typeface="Calibri" pitchFamily="34" charset="-120"/>
                        </a:rPr>
                        <a:t>Low</a:t>
                      </a:r>
                      <a:endParaRPr lang="en-US" sz="125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tcPr>
                </a:tc>
                <a:tc>
                  <a:txBody>
                    <a:bodyPr/>
                    <a:lstStyle/>
                    <a:p>
                      <a:pPr algn="ctr" indent="0" marL="0">
                        <a:buNone/>
                      </a:pPr>
                      <a:r>
                        <a:rPr lang="en-US" sz="1250" dirty="0">
                          <a:solidFill>
                            <a:srgbClr val="1F2933"/>
                          </a:solidFill>
                          <a:latin typeface="Calibri" pitchFamily="34" charset="0"/>
                          <a:ea typeface="Calibri" pitchFamily="34" charset="-122"/>
                          <a:cs typeface="Calibri" pitchFamily="34" charset="-120"/>
                        </a:rPr>
                        <a:t>4,419</a:t>
                      </a:r>
                      <a:endParaRPr lang="en-US" sz="125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3F5F8"/>
                    </a:solidFill>
                  </a:tcPr>
                </a:tc>
                <a:tc>
                  <a:txBody>
                    <a:bodyPr/>
                    <a:lstStyle/>
                    <a:p>
                      <a:pPr algn="ctr" indent="0" marL="0">
                        <a:buNone/>
                      </a:pPr>
                      <a:r>
                        <a:rPr lang="en-US" sz="1250" dirty="0">
                          <a:solidFill>
                            <a:srgbClr val="1F2933"/>
                          </a:solidFill>
                          <a:latin typeface="Calibri" pitchFamily="34" charset="0"/>
                          <a:ea typeface="Calibri" pitchFamily="34" charset="-122"/>
                          <a:cs typeface="Calibri" pitchFamily="34" charset="-120"/>
                        </a:rPr>
                        <a:t>114</a:t>
                      </a:r>
                      <a:endParaRPr lang="en-US" sz="125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3F5F8"/>
                    </a:solidFill>
                  </a:tcPr>
                </a:tc>
                <a:tc>
                  <a:txBody>
                    <a:bodyPr/>
                    <a:lstStyle/>
                    <a:p>
                      <a:pPr algn="ctr" indent="0" marL="0">
                        <a:buNone/>
                      </a:pPr>
                      <a:r>
                        <a:rPr lang="en-US" sz="1250" dirty="0">
                          <a:solidFill>
                            <a:srgbClr val="1F2933"/>
                          </a:solidFill>
                          <a:latin typeface="Calibri" pitchFamily="34" charset="0"/>
                          <a:ea typeface="Calibri" pitchFamily="34" charset="-122"/>
                          <a:cs typeface="Calibri" pitchFamily="34" charset="-120"/>
                        </a:rPr>
                        <a:t>24</a:t>
                      </a:r>
                      <a:endParaRPr lang="en-US" sz="125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3F5F8"/>
                    </a:solidFill>
                  </a:tcPr>
                </a:tc>
                <a:tc>
                  <a:txBody>
                    <a:bodyPr/>
                    <a:lstStyle/>
                    <a:p>
                      <a:pPr algn="ctr" indent="0" marL="0">
                        <a:buNone/>
                      </a:pPr>
                      <a:r>
                        <a:rPr lang="en-US" sz="1250" dirty="0">
                          <a:solidFill>
                            <a:srgbClr val="1F2933"/>
                          </a:solidFill>
                          <a:latin typeface="Calibri" pitchFamily="34" charset="0"/>
                          <a:ea typeface="Calibri" pitchFamily="34" charset="-122"/>
                          <a:cs typeface="Calibri" pitchFamily="34" charset="-120"/>
                        </a:rPr>
                        <a:t>1</a:t>
                      </a:r>
                      <a:endParaRPr lang="en-US" sz="125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3F5F8"/>
                    </a:solidFill>
                  </a:tcPr>
                </a:tc>
              </a:tr>
            </a:tbl>
          </a:graphicData>
        </a:graphic>
      </p:graphicFrame>
      <p:sp>
        <p:nvSpPr>
          <p:cNvPr id="11" name="Shape 7"/>
          <p:cNvSpPr/>
          <p:nvPr/>
        </p:nvSpPr>
        <p:spPr>
          <a:xfrm>
            <a:off x="457200" y="5806440"/>
            <a:ext cx="11274552" cy="548640"/>
          </a:xfrm>
          <a:prstGeom prst="rect">
            <a:avLst/>
          </a:prstGeom>
          <a:solidFill>
            <a:srgbClr val="F3F5F8"/>
          </a:solidFill>
          <a:ln w="12700">
            <a:solidFill>
              <a:srgbClr val="F3F5F8"/>
            </a:solidFill>
            <a:prstDash val="solid"/>
          </a:ln>
        </p:spPr>
      </p:sp>
      <p:sp>
        <p:nvSpPr>
          <p:cNvPr id="12" name="Text 8"/>
          <p:cNvSpPr txBox="1"/>
          <p:nvPr/>
        </p:nvSpPr>
        <p:spPr>
          <a:xfrm>
            <a:off x="640080" y="5806440"/>
            <a:ext cx="10908792" cy="548640"/>
          </a:xfrm>
          <a:prstGeom prst="rect">
            <a:avLst/>
          </a:prstGeom>
          <a:noFill/>
          <a:ln/>
        </p:spPr>
        <p:txBody>
          <a:bodyPr wrap="square" lIns="0" tIns="0" rIns="0" bIns="0" rtlCol="0" anchor="ctr"/>
          <a:lstStyle/>
          <a:p>
            <a:pPr indent="0" marL="0">
              <a:buNone/>
            </a:pPr>
            <a:r>
              <a:rPr lang="en-US" sz="1300" dirty="0">
                <a:solidFill>
                  <a:srgbClr val="1F2933"/>
                </a:solidFill>
                <a:latin typeface="Calibri" pitchFamily="34" charset="0"/>
                <a:ea typeface="Calibri" pitchFamily="34" charset="-122"/>
                <a:cs typeface="Calibri" pitchFamily="34" charset="-120"/>
              </a:rPr>
              <a:t>False alarms: 68% of CVSS-critical CVEs (15,844) have EPSS below 1%. Hidden dangers: 337 ‘medium’ CVEs have EPSS ≥ 50%. Patching by CVSS alone misprioritises.</a:t>
            </a:r>
            <a:endParaRPr lang="en-US" sz="13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320040"/>
            <a:ext cx="8778240" cy="640080"/>
          </a:xfrm>
          <a:prstGeom prst="rect">
            <a:avLst/>
          </a:prstGeom>
          <a:noFill/>
          <a:ln/>
        </p:spPr>
        <p:txBody>
          <a:bodyPr wrap="square" lIns="0" tIns="0" rIns="0" bIns="0" rtlCol="0" anchor="ctr"/>
          <a:lstStyle/>
          <a:p>
            <a:pPr indent="0" marL="0">
              <a:buNone/>
            </a:pPr>
            <a:r>
              <a:rPr lang="en-US" sz="2600" b="1" dirty="0">
                <a:solidFill>
                  <a:srgbClr val="1B2A41"/>
                </a:solidFill>
                <a:latin typeface="Arial" pitchFamily="34" charset="0"/>
                <a:ea typeface="Arial" pitchFamily="34" charset="-122"/>
                <a:cs typeface="Arial" pitchFamily="34" charset="-120"/>
              </a:rPr>
              <a:t>Q6 · Disclosed vs exploited, per vendor and year</a:t>
            </a:r>
            <a:endParaRPr lang="en-US" sz="2600" dirty="0"/>
          </a:p>
        </p:txBody>
      </p:sp>
      <p:sp>
        <p:nvSpPr>
          <p:cNvPr id="3" name="Shape 1"/>
          <p:cNvSpPr/>
          <p:nvPr/>
        </p:nvSpPr>
        <p:spPr>
          <a:xfrm>
            <a:off x="9464040" y="384048"/>
            <a:ext cx="2267712" cy="512064"/>
          </a:xfrm>
          <a:prstGeom prst="roundRect">
            <a:avLst>
              <a:gd name="adj" fmla="val 50000"/>
            </a:avLst>
          </a:prstGeom>
          <a:solidFill>
            <a:srgbClr val="1B2A41"/>
          </a:solidFill>
          <a:ln w="12700">
            <a:solidFill>
              <a:srgbClr val="1B2A41"/>
            </a:solidFill>
            <a:prstDash val="solid"/>
          </a:ln>
        </p:spPr>
      </p:sp>
      <p:sp>
        <p:nvSpPr>
          <p:cNvPr id="4" name="Text 2"/>
          <p:cNvSpPr txBox="1"/>
          <p:nvPr/>
        </p:nvSpPr>
        <p:spPr>
          <a:xfrm>
            <a:off x="9464040" y="384048"/>
            <a:ext cx="2267712" cy="512064"/>
          </a:xfrm>
          <a:prstGeom prst="rect">
            <a:avLst/>
          </a:prstGeom>
          <a:noFill/>
          <a:ln/>
        </p:spPr>
        <p:txBody>
          <a:bodyPr wrap="square" lIns="0" tIns="0" rIns="0" bIns="0" rtlCol="0" anchor="ctr"/>
          <a:lstStyle/>
          <a:p>
            <a:pPr algn="ctr" indent="0" marL="0">
              <a:buNone/>
            </a:pPr>
            <a:r>
              <a:rPr lang="en-US" sz="1500" b="1" dirty="0">
                <a:solidFill>
                  <a:srgbClr val="FFFFFF"/>
                </a:solidFill>
                <a:latin typeface="Arial" pitchFamily="34" charset="0"/>
                <a:ea typeface="Arial" pitchFamily="34" charset="-122"/>
                <a:cs typeface="Arial" pitchFamily="34" charset="-120"/>
              </a:rPr>
              <a:t>DRILL-ACROSS</a:t>
            </a:r>
            <a:endParaRPr lang="en-US" sz="1500" dirty="0"/>
          </a:p>
        </p:txBody>
      </p:sp>
      <p:sp>
        <p:nvSpPr>
          <p:cNvPr id="5" name="Text 3"/>
          <p:cNvSpPr txBox="1"/>
          <p:nvPr/>
        </p:nvSpPr>
        <p:spPr>
          <a:xfrm>
            <a:off x="457200" y="987552"/>
            <a:ext cx="11247120" cy="411480"/>
          </a:xfrm>
          <a:prstGeom prst="rect">
            <a:avLst/>
          </a:prstGeom>
          <a:noFill/>
          <a:ln/>
        </p:spPr>
        <p:txBody>
          <a:bodyPr wrap="square" lIns="0" tIns="0" rIns="0" bIns="0" rtlCol="0" anchor="t"/>
          <a:lstStyle/>
          <a:p>
            <a:pPr indent="0" marL="0">
              <a:buNone/>
            </a:pPr>
            <a:r>
              <a:rPr lang="en-US" sz="1500" i="1" dirty="0">
                <a:solidFill>
                  <a:srgbClr val="5B6B7C"/>
                </a:solidFill>
                <a:latin typeface="Calibri" pitchFamily="34" charset="0"/>
                <a:ea typeface="Calibri" pitchFamily="34" charset="-122"/>
                <a:cs typeface="Calibri" pitchFamily="34" charset="-120"/>
              </a:rPr>
              <a:t>“For each vendor and year: CVEs published (cube 1) and CVEs added to KEV (cube 2).”</a:t>
            </a:r>
            <a:endParaRPr lang="en-US" sz="1500" dirty="0"/>
          </a:p>
        </p:txBody>
      </p:sp>
      <p:sp>
        <p:nvSpPr>
          <p:cNvPr id="6" name="Text 4"/>
          <p:cNvSpPr txBox="1"/>
          <p:nvPr/>
        </p:nvSpPr>
        <p:spPr>
          <a:xfrm>
            <a:off x="6675120" y="6446520"/>
            <a:ext cx="5056632" cy="274320"/>
          </a:xfrm>
          <a:prstGeom prst="rect">
            <a:avLst/>
          </a:prstGeom>
          <a:noFill/>
          <a:ln/>
        </p:spPr>
        <p:txBody>
          <a:bodyPr wrap="square" lIns="0" tIns="0" rIns="0" bIns="0" rtlCol="0" anchor="ctr"/>
          <a:lstStyle/>
          <a:p>
            <a:pPr algn="r" indent="0" marL="0">
              <a:buNone/>
            </a:pPr>
            <a:r>
              <a:rPr lang="en-US" sz="900" dirty="0">
                <a:solidFill>
                  <a:srgbClr val="5B6B7C"/>
                </a:solidFill>
                <a:latin typeface="Calibri" pitchFamily="34" charset="0"/>
                <a:ea typeface="Calibri" pitchFamily="34" charset="-122"/>
                <a:cs typeface="Calibri" pitchFamily="34" charset="-120"/>
              </a:rPr>
              <a:t>CVE Data Warehouse · Alessia Angele · 17</a:t>
            </a:r>
            <a:endParaRPr lang="en-US" sz="900" dirty="0"/>
          </a:p>
        </p:txBody>
      </p:sp>
      <p:sp>
        <p:nvSpPr>
          <p:cNvPr id="7" name="Shape 5"/>
          <p:cNvSpPr/>
          <p:nvPr/>
        </p:nvSpPr>
        <p:spPr>
          <a:xfrm>
            <a:off x="457200" y="1554480"/>
            <a:ext cx="5394960" cy="4069080"/>
          </a:xfrm>
          <a:prstGeom prst="rect">
            <a:avLst/>
          </a:prstGeom>
          <a:solidFill>
            <a:srgbClr val="16202E"/>
          </a:solidFill>
          <a:ln w="12700">
            <a:solidFill>
              <a:srgbClr val="16202E"/>
            </a:solidFill>
            <a:prstDash val="solid"/>
          </a:ln>
        </p:spPr>
      </p:sp>
      <p:sp>
        <p:nvSpPr>
          <p:cNvPr id="8" name="Text 6"/>
          <p:cNvSpPr txBox="1"/>
          <p:nvPr/>
        </p:nvSpPr>
        <p:spPr>
          <a:xfrm>
            <a:off x="594360" y="1645920"/>
            <a:ext cx="5120640" cy="3886200"/>
          </a:xfrm>
          <a:prstGeom prst="rect">
            <a:avLst/>
          </a:prstGeom>
          <a:noFill/>
          <a:ln/>
        </p:spPr>
        <p:txBody>
          <a:bodyPr wrap="square" lIns="0" tIns="0" rIns="0" bIns="0" rtlCol="0" anchor="t"/>
          <a:lstStyle/>
          <a:p>
            <a:pPr indent="0" marL="0">
              <a:buNone/>
            </a:pPr>
            <a:r>
              <a:rPr lang="en-US" sz="900" dirty="0">
                <a:solidFill>
                  <a:srgbClr val="E6EDF3"/>
                </a:solidFill>
                <a:latin typeface="Courier New" pitchFamily="34" charset="0"/>
                <a:ea typeface="Courier New" pitchFamily="34" charset="-122"/>
                <a:cs typeface="Courier New" pitchFamily="34" charset="-120"/>
              </a:rPr>
              <a:t>WITH published AS (           -- cube 1</a:t>
            </a:r>
            <a:endParaRPr lang="en-US" sz="900" dirty="0"/>
          </a:p>
          <a:p>
            <a:pPr indent="0" marL="0">
              <a:buNone/>
            </a:pPr>
            <a:r>
              <a:rPr lang="en-US" sz="900" dirty="0">
                <a:solidFill>
                  <a:srgbClr val="E6EDF3"/>
                </a:solidFill>
                <a:latin typeface="Courier New" pitchFamily="34" charset="0"/>
                <a:ea typeface="Courier New" pitchFamily="34" charset="-122"/>
                <a:cs typeface="Courier New" pitchFamily="34" charset="-120"/>
              </a:rPr>
              <a:t>  SELECT p.vendor, d.year, COUNT(*) AS cve_published</a:t>
            </a:r>
            <a:endParaRPr lang="en-US" sz="900" dirty="0"/>
          </a:p>
          <a:p>
            <a:pPr indent="0" marL="0">
              <a:buNone/>
            </a:pPr>
            <a:r>
              <a:rPr lang="en-US" sz="900" dirty="0">
                <a:solidFill>
                  <a:srgbClr val="E6EDF3"/>
                </a:solidFill>
                <a:latin typeface="Courier New" pitchFamily="34" charset="0"/>
                <a:ea typeface="Courier New" pitchFamily="34" charset="-122"/>
                <a:cs typeface="Courier New" pitchFamily="34" charset="-120"/>
              </a:rPr>
              <a:t>  FROM fact_vulnerability f</a:t>
            </a:r>
            <a:endParaRPr lang="en-US" sz="900" dirty="0"/>
          </a:p>
          <a:p>
            <a:pPr indent="0" marL="0">
              <a:buNone/>
            </a:pPr>
            <a:r>
              <a:rPr lang="en-US" sz="900" dirty="0">
                <a:solidFill>
                  <a:srgbClr val="E6EDF3"/>
                </a:solidFill>
                <a:latin typeface="Courier New" pitchFamily="34" charset="0"/>
                <a:ea typeface="Courier New" pitchFamily="34" charset="-122"/>
                <a:cs typeface="Courier New" pitchFamily="34" charset="-120"/>
              </a:rPr>
              <a:t>  JOIN dim_product p USING (product_key)</a:t>
            </a:r>
            <a:endParaRPr lang="en-US" sz="900" dirty="0"/>
          </a:p>
          <a:p>
            <a:pPr indent="0" marL="0">
              <a:buNone/>
            </a:pPr>
            <a:r>
              <a:rPr lang="en-US" sz="900" dirty="0">
                <a:solidFill>
                  <a:srgbClr val="E6EDF3"/>
                </a:solidFill>
                <a:latin typeface="Courier New" pitchFamily="34" charset="0"/>
                <a:ea typeface="Courier New" pitchFamily="34" charset="-122"/>
                <a:cs typeface="Courier New" pitchFamily="34" charset="-120"/>
              </a:rPr>
              <a:t>  JOIN dim_date d ON d.date_key = f.published_date_key</a:t>
            </a:r>
            <a:endParaRPr lang="en-US" sz="900" dirty="0"/>
          </a:p>
          <a:p>
            <a:pPr indent="0" marL="0">
              <a:buNone/>
            </a:pPr>
            <a:r>
              <a:rPr lang="en-US" sz="900" dirty="0">
                <a:solidFill>
                  <a:srgbClr val="E6EDF3"/>
                </a:solidFill>
                <a:latin typeface="Courier New" pitchFamily="34" charset="0"/>
                <a:ea typeface="Courier New" pitchFamily="34" charset="-122"/>
                <a:cs typeface="Courier New" pitchFamily="34" charset="-120"/>
              </a:rPr>
              <a:t>  GROUP BY p.vendor, d.year),</a:t>
            </a:r>
            <a:endParaRPr lang="en-US" sz="900" dirty="0"/>
          </a:p>
          <a:p>
            <a:pPr indent="0" marL="0">
              <a:buNone/>
            </a:pPr>
            <a:r>
              <a:rPr lang="en-US" sz="900" dirty="0">
                <a:solidFill>
                  <a:srgbClr val="E6EDF3"/>
                </a:solidFill>
                <a:latin typeface="Courier New" pitchFamily="34" charset="0"/>
                <a:ea typeface="Courier New" pitchFamily="34" charset="-122"/>
                <a:cs typeface="Courier New" pitchFamily="34" charset="-120"/>
              </a:rPr>
              <a:t>exploited AS (                -- cube 2</a:t>
            </a:r>
            <a:endParaRPr lang="en-US" sz="900" dirty="0"/>
          </a:p>
          <a:p>
            <a:pPr indent="0" marL="0">
              <a:buNone/>
            </a:pPr>
            <a:r>
              <a:rPr lang="en-US" sz="900" dirty="0">
                <a:solidFill>
                  <a:srgbClr val="E6EDF3"/>
                </a:solidFill>
                <a:latin typeface="Courier New" pitchFamily="34" charset="0"/>
                <a:ea typeface="Courier New" pitchFamily="34" charset="-122"/>
                <a:cs typeface="Courier New" pitchFamily="34" charset="-120"/>
              </a:rPr>
              <a:t>  SELECT p.vendor, d.year, COUNT(*) AS cve_added_to_kev</a:t>
            </a:r>
            <a:endParaRPr lang="en-US" sz="900" dirty="0"/>
          </a:p>
          <a:p>
            <a:pPr indent="0" marL="0">
              <a:buNone/>
            </a:pPr>
            <a:r>
              <a:rPr lang="en-US" sz="900" dirty="0">
                <a:solidFill>
                  <a:srgbClr val="E6EDF3"/>
                </a:solidFill>
                <a:latin typeface="Courier New" pitchFamily="34" charset="0"/>
                <a:ea typeface="Courier New" pitchFamily="34" charset="-122"/>
                <a:cs typeface="Courier New" pitchFamily="34" charset="-120"/>
              </a:rPr>
              <a:t>  FROM fact_kev_addition k</a:t>
            </a:r>
            <a:endParaRPr lang="en-US" sz="900" dirty="0"/>
          </a:p>
          <a:p>
            <a:pPr indent="0" marL="0">
              <a:buNone/>
            </a:pPr>
            <a:r>
              <a:rPr lang="en-US" sz="900" dirty="0">
                <a:solidFill>
                  <a:srgbClr val="E6EDF3"/>
                </a:solidFill>
                <a:latin typeface="Courier New" pitchFamily="34" charset="0"/>
                <a:ea typeface="Courier New" pitchFamily="34" charset="-122"/>
                <a:cs typeface="Courier New" pitchFamily="34" charset="-120"/>
              </a:rPr>
              <a:t>  JOIN dim_product p USING (product_key)</a:t>
            </a:r>
            <a:endParaRPr lang="en-US" sz="900" dirty="0"/>
          </a:p>
          <a:p>
            <a:pPr indent="0" marL="0">
              <a:buNone/>
            </a:pPr>
            <a:r>
              <a:rPr lang="en-US" sz="900" dirty="0">
                <a:solidFill>
                  <a:srgbClr val="E6EDF3"/>
                </a:solidFill>
                <a:latin typeface="Courier New" pitchFamily="34" charset="0"/>
                <a:ea typeface="Courier New" pitchFamily="34" charset="-122"/>
                <a:cs typeface="Courier New" pitchFamily="34" charset="-120"/>
              </a:rPr>
              <a:t>  JOIN dim_date d ON d.date_key = k.date_added_key</a:t>
            </a:r>
            <a:endParaRPr lang="en-US" sz="900" dirty="0"/>
          </a:p>
          <a:p>
            <a:pPr indent="0" marL="0">
              <a:buNone/>
            </a:pPr>
            <a:r>
              <a:rPr lang="en-US" sz="900" dirty="0">
                <a:solidFill>
                  <a:srgbClr val="E6EDF3"/>
                </a:solidFill>
                <a:latin typeface="Courier New" pitchFamily="34" charset="0"/>
                <a:ea typeface="Courier New" pitchFamily="34" charset="-122"/>
                <a:cs typeface="Courier New" pitchFamily="34" charset="-120"/>
              </a:rPr>
              <a:t>  GROUP BY p.vendor, d.year)</a:t>
            </a:r>
            <a:endParaRPr lang="en-US" sz="900" dirty="0"/>
          </a:p>
          <a:p>
            <a:pPr indent="0" marL="0">
              <a:buNone/>
            </a:pPr>
            <a:r>
              <a:rPr lang="en-US" sz="900" dirty="0">
                <a:solidFill>
                  <a:srgbClr val="E6EDF3"/>
                </a:solidFill>
                <a:latin typeface="Courier New" pitchFamily="34" charset="0"/>
                <a:ea typeface="Courier New" pitchFamily="34" charset="-122"/>
                <a:cs typeface="Courier New" pitchFamily="34" charset="-120"/>
              </a:rPr>
              <a:t>SELECT vendor, year, cve_published, cve_added_to_kev,</a:t>
            </a:r>
            <a:endParaRPr lang="en-US" sz="900" dirty="0"/>
          </a:p>
          <a:p>
            <a:pPr indent="0" marL="0">
              <a:buNone/>
            </a:pPr>
            <a:r>
              <a:rPr lang="en-US" sz="900" dirty="0">
                <a:solidFill>
                  <a:srgbClr val="E6EDF3"/>
                </a:solidFill>
                <a:latin typeface="Courier New" pitchFamily="34" charset="0"/>
                <a:ea typeface="Courier New" pitchFamily="34" charset="-122"/>
                <a:cs typeface="Courier New" pitchFamily="34" charset="-120"/>
              </a:rPr>
              <a:t>  ROUND(1000.0 * cve_added_to_kev</a:t>
            </a:r>
            <a:endParaRPr lang="en-US" sz="900" dirty="0"/>
          </a:p>
          <a:p>
            <a:pPr indent="0" marL="0">
              <a:buNone/>
            </a:pPr>
            <a:r>
              <a:rPr lang="en-US" sz="900" dirty="0">
                <a:solidFill>
                  <a:srgbClr val="E6EDF3"/>
                </a:solidFill>
                <a:latin typeface="Courier New" pitchFamily="34" charset="0"/>
                <a:ea typeface="Courier New" pitchFamily="34" charset="-122"/>
                <a:cs typeface="Courier New" pitchFamily="34" charset="-120"/>
              </a:rPr>
              <a:t>        / NULLIF(cve_published, 0), 1) AS kev_per_1000</a:t>
            </a:r>
            <a:endParaRPr lang="en-US" sz="900" dirty="0"/>
          </a:p>
          <a:p>
            <a:pPr indent="0" marL="0">
              <a:buNone/>
            </a:pPr>
            <a:r>
              <a:rPr lang="en-US" sz="900" dirty="0">
                <a:solidFill>
                  <a:srgbClr val="E6EDF3"/>
                </a:solidFill>
                <a:latin typeface="Courier New" pitchFamily="34" charset="0"/>
                <a:ea typeface="Courier New" pitchFamily="34" charset="-122"/>
                <a:cs typeface="Courier New" pitchFamily="34" charset="-120"/>
              </a:rPr>
              <a:t>FROM published FULL OUTER JOIN exploited</a:t>
            </a:r>
            <a:endParaRPr lang="en-US" sz="900" dirty="0"/>
          </a:p>
          <a:p>
            <a:pPr indent="0" marL="0">
              <a:buNone/>
            </a:pPr>
            <a:r>
              <a:rPr lang="en-US" sz="900" dirty="0">
                <a:solidFill>
                  <a:srgbClr val="E6EDF3"/>
                </a:solidFill>
                <a:latin typeface="Courier New" pitchFamily="34" charset="0"/>
                <a:ea typeface="Courier New" pitchFamily="34" charset="-122"/>
                <a:cs typeface="Courier New" pitchFamily="34" charset="-120"/>
              </a:rPr>
              <a:t>  USING (vendor, year)    -- conformed dimensions</a:t>
            </a:r>
            <a:endParaRPr lang="en-US" sz="900" dirty="0"/>
          </a:p>
          <a:p>
            <a:pPr indent="0" marL="0">
              <a:buNone/>
            </a:pPr>
            <a:r>
              <a:rPr lang="en-US" sz="900" dirty="0">
                <a:solidFill>
                  <a:srgbClr val="E6EDF3"/>
                </a:solidFill>
                <a:latin typeface="Courier New" pitchFamily="34" charset="0"/>
                <a:ea typeface="Courier New" pitchFamily="34" charset="-122"/>
                <a:cs typeface="Courier New" pitchFamily="34" charset="-120"/>
              </a:rPr>
              <a:t>WHERE year BETWEEN 2021 AND 2025;</a:t>
            </a:r>
            <a:endParaRPr lang="en-US" sz="900" dirty="0"/>
          </a:p>
        </p:txBody>
      </p:sp>
      <p:pic>
        <p:nvPicPr>
          <p:cNvPr id="9" name="Image 0" descr="preencoded.png">    </p:cNvPr>
          <p:cNvPicPr>
            <a:picLocks noChangeAspect="1"/>
          </p:cNvPicPr>
          <p:nvPr/>
        </p:nvPicPr>
        <p:blipFill>
          <a:blip r:embed="rId1"/>
          <a:stretch>
            <a:fillRect/>
          </a:stretch>
        </p:blipFill>
        <p:spPr>
          <a:xfrm>
            <a:off x="6720840" y="1417320"/>
            <a:ext cx="4206240" cy="1775968"/>
          </a:xfrm>
          <a:prstGeom prst="rect">
            <a:avLst/>
          </a:prstGeom>
        </p:spPr>
      </p:pic>
      <p:graphicFrame>
        <p:nvGraphicFramePr>
          <p:cNvPr id="18" name="Table 0"/>
          <p:cNvGraphicFramePr>
            <a:graphicFrameLocks noGrp="1"/>
          </p:cNvGraphicFramePr>
          <p:nvPr>
            <p:extLst>
              <p:ext uri="{D42A27DB-BD31-4B8C-83A1-F6EECF244321}">
                <p14:modId xmlns:p14="http://schemas.microsoft.com/office/powerpoint/2010/main" val="1579011935"/>
              </p:ext>
            </p:extLst>
          </p:nvPr>
        </p:nvGraphicFramePr>
        <p:xfrm>
          <a:off x="6126480" y="3154680"/>
          <a:ext cx="5605272" cy="914400"/>
        </p:xfrm>
        <a:graphic>
          <a:graphicData uri="http://schemas.openxmlformats.org/drawingml/2006/table">
            <a:tbl>
              <a:tblPr/>
              <a:tblGrid>
                <a:gridCol w="1856232"/>
                <a:gridCol w="749808"/>
                <a:gridCol w="749808"/>
                <a:gridCol w="749808"/>
                <a:gridCol w="749808"/>
                <a:gridCol w="749808"/>
              </a:tblGrid>
              <a:tr h="329184">
                <a:tc>
                  <a:txBody>
                    <a:bodyPr/>
                    <a:lstStyle/>
                    <a:p>
                      <a:pPr algn="ctr" indent="0" marL="0">
                        <a:buNone/>
                      </a:pPr>
                      <a:r>
                        <a:rPr lang="en-US" sz="1100" b="1" dirty="0">
                          <a:solidFill>
                            <a:srgbClr val="FFFFFF"/>
                          </a:solidFill>
                          <a:latin typeface="Calibri" pitchFamily="34" charset="0"/>
                          <a:ea typeface="Calibri" pitchFamily="34" charset="-122"/>
                          <a:cs typeface="Calibri" pitchFamily="34" charset="-120"/>
                        </a:rPr>
                        <a:t>KEV per 1,000 published</a:t>
                      </a:r>
                      <a:endParaRPr lang="en-US" sz="110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1B2A41"/>
                    </a:solidFill>
                  </a:tcPr>
                </a:tc>
                <a:tc>
                  <a:txBody>
                    <a:bodyPr/>
                    <a:lstStyle/>
                    <a:p>
                      <a:pPr algn="ctr" indent="0" marL="0">
                        <a:buNone/>
                      </a:pPr>
                      <a:r>
                        <a:rPr lang="en-US" sz="1100" b="1" dirty="0">
                          <a:solidFill>
                            <a:srgbClr val="FFFFFF"/>
                          </a:solidFill>
                          <a:latin typeface="Calibri" pitchFamily="34" charset="0"/>
                          <a:ea typeface="Calibri" pitchFamily="34" charset="-122"/>
                          <a:cs typeface="Calibri" pitchFamily="34" charset="-120"/>
                        </a:rPr>
                        <a:t>2021</a:t>
                      </a:r>
                      <a:endParaRPr lang="en-US" sz="110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1B2A41"/>
                    </a:solidFill>
                  </a:tcPr>
                </a:tc>
                <a:tc>
                  <a:txBody>
                    <a:bodyPr/>
                    <a:lstStyle/>
                    <a:p>
                      <a:pPr algn="ctr" indent="0" marL="0">
                        <a:buNone/>
                      </a:pPr>
                      <a:r>
                        <a:rPr lang="en-US" sz="1100" b="1" dirty="0">
                          <a:solidFill>
                            <a:srgbClr val="FFFFFF"/>
                          </a:solidFill>
                          <a:latin typeface="Calibri" pitchFamily="34" charset="0"/>
                          <a:ea typeface="Calibri" pitchFamily="34" charset="-122"/>
                          <a:cs typeface="Calibri" pitchFamily="34" charset="-120"/>
                        </a:rPr>
                        <a:t>2022</a:t>
                      </a:r>
                      <a:endParaRPr lang="en-US" sz="110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1B2A41"/>
                    </a:solidFill>
                  </a:tcPr>
                </a:tc>
                <a:tc>
                  <a:txBody>
                    <a:bodyPr/>
                    <a:lstStyle/>
                    <a:p>
                      <a:pPr algn="ctr" indent="0" marL="0">
                        <a:buNone/>
                      </a:pPr>
                      <a:r>
                        <a:rPr lang="en-US" sz="1100" b="1" dirty="0">
                          <a:solidFill>
                            <a:srgbClr val="FFFFFF"/>
                          </a:solidFill>
                          <a:latin typeface="Calibri" pitchFamily="34" charset="0"/>
                          <a:ea typeface="Calibri" pitchFamily="34" charset="-122"/>
                          <a:cs typeface="Calibri" pitchFamily="34" charset="-120"/>
                        </a:rPr>
                        <a:t>2023</a:t>
                      </a:r>
                      <a:endParaRPr lang="en-US" sz="110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1B2A41"/>
                    </a:solidFill>
                  </a:tcPr>
                </a:tc>
                <a:tc>
                  <a:txBody>
                    <a:bodyPr/>
                    <a:lstStyle/>
                    <a:p>
                      <a:pPr algn="ctr" indent="0" marL="0">
                        <a:buNone/>
                      </a:pPr>
                      <a:r>
                        <a:rPr lang="en-US" sz="1100" b="1" dirty="0">
                          <a:solidFill>
                            <a:srgbClr val="FFFFFF"/>
                          </a:solidFill>
                          <a:latin typeface="Calibri" pitchFamily="34" charset="0"/>
                          <a:ea typeface="Calibri" pitchFamily="34" charset="-122"/>
                          <a:cs typeface="Calibri" pitchFamily="34" charset="-120"/>
                        </a:rPr>
                        <a:t>2024</a:t>
                      </a:r>
                      <a:endParaRPr lang="en-US" sz="110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1B2A41"/>
                    </a:solidFill>
                  </a:tcPr>
                </a:tc>
                <a:tc>
                  <a:txBody>
                    <a:bodyPr/>
                    <a:lstStyle/>
                    <a:p>
                      <a:pPr algn="ctr" indent="0" marL="0">
                        <a:buNone/>
                      </a:pPr>
                      <a:r>
                        <a:rPr lang="en-US" sz="1100" b="1" dirty="0">
                          <a:solidFill>
                            <a:srgbClr val="FFFFFF"/>
                          </a:solidFill>
                          <a:latin typeface="Calibri" pitchFamily="34" charset="0"/>
                          <a:ea typeface="Calibri" pitchFamily="34" charset="-122"/>
                          <a:cs typeface="Calibri" pitchFamily="34" charset="-120"/>
                        </a:rPr>
                        <a:t>2025</a:t>
                      </a:r>
                      <a:endParaRPr lang="en-US" sz="110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1B2A41"/>
                    </a:solidFill>
                  </a:tcPr>
                </a:tc>
              </a:tr>
              <a:tr h="329184">
                <a:tc>
                  <a:txBody>
                    <a:bodyPr/>
                    <a:lstStyle/>
                    <a:p>
                      <a:pPr indent="0" marL="0">
                        <a:buNone/>
                      </a:pPr>
                      <a:r>
                        <a:rPr lang="en-US" sz="1100" b="1" dirty="0">
                          <a:solidFill>
                            <a:srgbClr val="1F2933"/>
                          </a:solidFill>
                          <a:latin typeface="Calibri" pitchFamily="34" charset="0"/>
                          <a:ea typeface="Calibri" pitchFamily="34" charset="-122"/>
                          <a:cs typeface="Calibri" pitchFamily="34" charset="-120"/>
                        </a:rPr>
                        <a:t>microsoft</a:t>
                      </a:r>
                      <a:endParaRPr lang="en-US" sz="110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tcPr>
                </a:tc>
                <a:tc>
                  <a:txBody>
                    <a:bodyPr/>
                    <a:lstStyle/>
                    <a:p>
                      <a:pPr algn="ctr" indent="0" marL="0">
                        <a:buNone/>
                      </a:pPr>
                      <a:r>
                        <a:rPr lang="en-US" sz="1100" dirty="0">
                          <a:solidFill>
                            <a:srgbClr val="1F2933"/>
                          </a:solidFill>
                          <a:latin typeface="Calibri" pitchFamily="34" charset="0"/>
                          <a:ea typeface="Calibri" pitchFamily="34" charset="-122"/>
                          <a:cs typeface="Calibri" pitchFamily="34" charset="-120"/>
                        </a:rPr>
                        <a:t>95</a:t>
                      </a:r>
                      <a:endParaRPr lang="en-US" sz="110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BE7C6"/>
                    </a:solidFill>
                  </a:tcPr>
                </a:tc>
                <a:tc>
                  <a:txBody>
                    <a:bodyPr/>
                    <a:lstStyle/>
                    <a:p>
                      <a:pPr algn="ctr" indent="0" marL="0">
                        <a:buNone/>
                      </a:pPr>
                      <a:r>
                        <a:rPr lang="en-US" sz="1100" dirty="0">
                          <a:solidFill>
                            <a:srgbClr val="1F2933"/>
                          </a:solidFill>
                          <a:latin typeface="Calibri" pitchFamily="34" charset="0"/>
                          <a:ea typeface="Calibri" pitchFamily="34" charset="-122"/>
                          <a:cs typeface="Calibri" pitchFamily="34" charset="-120"/>
                        </a:rPr>
                        <a:t>176</a:t>
                      </a:r>
                      <a:endParaRPr lang="en-US" sz="110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6C9CF"/>
                    </a:solidFill>
                  </a:tcPr>
                </a:tc>
                <a:tc>
                  <a:txBody>
                    <a:bodyPr/>
                    <a:lstStyle/>
                    <a:p>
                      <a:pPr algn="ctr" indent="0" marL="0">
                        <a:buNone/>
                      </a:pPr>
                      <a:r>
                        <a:rPr lang="en-US" sz="1100" dirty="0">
                          <a:solidFill>
                            <a:srgbClr val="1F2933"/>
                          </a:solidFill>
                          <a:latin typeface="Calibri" pitchFamily="34" charset="0"/>
                          <a:ea typeface="Calibri" pitchFamily="34" charset="-122"/>
                          <a:cs typeface="Calibri" pitchFamily="34" charset="-120"/>
                        </a:rPr>
                        <a:t>27</a:t>
                      </a:r>
                      <a:endParaRPr lang="en-US" sz="110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3F5F8"/>
                    </a:solidFill>
                  </a:tcPr>
                </a:tc>
                <a:tc>
                  <a:txBody>
                    <a:bodyPr/>
                    <a:lstStyle/>
                    <a:p>
                      <a:pPr algn="ctr" indent="0" marL="0">
                        <a:buNone/>
                      </a:pPr>
                      <a:r>
                        <a:rPr lang="en-US" sz="1100" dirty="0">
                          <a:solidFill>
                            <a:srgbClr val="1F2933"/>
                          </a:solidFill>
                          <a:latin typeface="Calibri" pitchFamily="34" charset="0"/>
                          <a:ea typeface="Calibri" pitchFamily="34" charset="-122"/>
                          <a:cs typeface="Calibri" pitchFamily="34" charset="-120"/>
                        </a:rPr>
                        <a:t>32</a:t>
                      </a:r>
                      <a:endParaRPr lang="en-US" sz="110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3F5F8"/>
                    </a:solidFill>
                  </a:tcPr>
                </a:tc>
                <a:tc>
                  <a:txBody>
                    <a:bodyPr/>
                    <a:lstStyle/>
                    <a:p>
                      <a:pPr algn="ctr" indent="0" marL="0">
                        <a:buNone/>
                      </a:pPr>
                      <a:r>
                        <a:rPr lang="en-US" sz="1100" dirty="0">
                          <a:solidFill>
                            <a:srgbClr val="1F2933"/>
                          </a:solidFill>
                          <a:latin typeface="Calibri" pitchFamily="34" charset="0"/>
                          <a:ea typeface="Calibri" pitchFamily="34" charset="-122"/>
                          <a:cs typeface="Calibri" pitchFamily="34" charset="-120"/>
                        </a:rPr>
                        <a:t>31</a:t>
                      </a:r>
                      <a:endParaRPr lang="en-US" sz="110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3F5F8"/>
                    </a:solidFill>
                  </a:tcPr>
                </a:tc>
              </a:tr>
              <a:tr h="329184">
                <a:tc>
                  <a:txBody>
                    <a:bodyPr/>
                    <a:lstStyle/>
                    <a:p>
                      <a:pPr indent="0" marL="0">
                        <a:buNone/>
                      </a:pPr>
                      <a:r>
                        <a:rPr lang="en-US" sz="1100" b="1" dirty="0">
                          <a:solidFill>
                            <a:srgbClr val="1F2933"/>
                          </a:solidFill>
                          <a:latin typeface="Calibri" pitchFamily="34" charset="0"/>
                          <a:ea typeface="Calibri" pitchFamily="34" charset="-122"/>
                          <a:cs typeface="Calibri" pitchFamily="34" charset="-120"/>
                        </a:rPr>
                        <a:t>cisco</a:t>
                      </a:r>
                      <a:endParaRPr lang="en-US" sz="110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tcPr>
                </a:tc>
                <a:tc>
                  <a:txBody>
                    <a:bodyPr/>
                    <a:lstStyle/>
                    <a:p>
                      <a:pPr algn="ctr" indent="0" marL="0">
                        <a:buNone/>
                      </a:pPr>
                      <a:r>
                        <a:rPr lang="en-US" sz="1100" dirty="0">
                          <a:solidFill>
                            <a:srgbClr val="1F2933"/>
                          </a:solidFill>
                          <a:latin typeface="Calibri" pitchFamily="34" charset="0"/>
                          <a:ea typeface="Calibri" pitchFamily="34" charset="-122"/>
                          <a:cs typeface="Calibri" pitchFamily="34" charset="-120"/>
                        </a:rPr>
                        <a:t>19</a:t>
                      </a:r>
                      <a:endParaRPr lang="en-US" sz="110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3F5F8"/>
                    </a:solidFill>
                  </a:tcPr>
                </a:tc>
                <a:tc>
                  <a:txBody>
                    <a:bodyPr/>
                    <a:lstStyle/>
                    <a:p>
                      <a:pPr algn="ctr" indent="0" marL="0">
                        <a:buNone/>
                      </a:pPr>
                      <a:r>
                        <a:rPr lang="en-US" sz="1100" dirty="0">
                          <a:solidFill>
                            <a:srgbClr val="1F2933"/>
                          </a:solidFill>
                          <a:latin typeface="Calibri" pitchFamily="34" charset="0"/>
                          <a:ea typeface="Calibri" pitchFamily="34" charset="-122"/>
                          <a:cs typeface="Calibri" pitchFamily="34" charset="-120"/>
                        </a:rPr>
                        <a:t>158</a:t>
                      </a:r>
                      <a:endParaRPr lang="en-US" sz="110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6C9CF"/>
                    </a:solidFill>
                  </a:tcPr>
                </a:tc>
                <a:tc>
                  <a:txBody>
                    <a:bodyPr/>
                    <a:lstStyle/>
                    <a:p>
                      <a:pPr algn="ctr" indent="0" marL="0">
                        <a:buNone/>
                      </a:pPr>
                      <a:r>
                        <a:rPr lang="en-US" sz="1100" dirty="0">
                          <a:solidFill>
                            <a:srgbClr val="1F2933"/>
                          </a:solidFill>
                          <a:latin typeface="Calibri" pitchFamily="34" charset="0"/>
                          <a:ea typeface="Calibri" pitchFamily="34" charset="-122"/>
                          <a:cs typeface="Calibri" pitchFamily="34" charset="-120"/>
                        </a:rPr>
                        <a:t>27</a:t>
                      </a:r>
                      <a:endParaRPr lang="en-US" sz="110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3F5F8"/>
                    </a:solidFill>
                  </a:tcPr>
                </a:tc>
                <a:tc>
                  <a:txBody>
                    <a:bodyPr/>
                    <a:lstStyle/>
                    <a:p>
                      <a:pPr algn="ctr" indent="0" marL="0">
                        <a:buNone/>
                      </a:pPr>
                      <a:r>
                        <a:rPr lang="en-US" sz="1100" dirty="0">
                          <a:solidFill>
                            <a:srgbClr val="1F2933"/>
                          </a:solidFill>
                          <a:latin typeface="Calibri" pitchFamily="34" charset="0"/>
                          <a:ea typeface="Calibri" pitchFamily="34" charset="-122"/>
                          <a:cs typeface="Calibri" pitchFamily="34" charset="-120"/>
                        </a:rPr>
                        <a:t>19</a:t>
                      </a:r>
                      <a:endParaRPr lang="en-US" sz="110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3F5F8"/>
                    </a:solidFill>
                  </a:tcPr>
                </a:tc>
                <a:tc>
                  <a:txBody>
                    <a:bodyPr/>
                    <a:lstStyle/>
                    <a:p>
                      <a:pPr algn="ctr" indent="0" marL="0">
                        <a:buNone/>
                      </a:pPr>
                      <a:r>
                        <a:rPr lang="en-US" sz="1100" dirty="0">
                          <a:solidFill>
                            <a:srgbClr val="1F2933"/>
                          </a:solidFill>
                          <a:latin typeface="Calibri" pitchFamily="34" charset="0"/>
                          <a:ea typeface="Calibri" pitchFamily="34" charset="-122"/>
                          <a:cs typeface="Calibri" pitchFamily="34" charset="-120"/>
                        </a:rPr>
                        <a:t>48</a:t>
                      </a:r>
                      <a:endParaRPr lang="en-US" sz="110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BE7C6"/>
                    </a:solidFill>
                  </a:tcPr>
                </a:tc>
              </a:tr>
              <a:tr h="329184">
                <a:tc>
                  <a:txBody>
                    <a:bodyPr/>
                    <a:lstStyle/>
                    <a:p>
                      <a:pPr indent="0" marL="0">
                        <a:buNone/>
                      </a:pPr>
                      <a:r>
                        <a:rPr lang="en-US" sz="1100" b="1" dirty="0">
                          <a:solidFill>
                            <a:srgbClr val="1F2933"/>
                          </a:solidFill>
                          <a:latin typeface="Calibri" pitchFamily="34" charset="0"/>
                          <a:ea typeface="Calibri" pitchFamily="34" charset="-122"/>
                          <a:cs typeface="Calibri" pitchFamily="34" charset="-120"/>
                        </a:rPr>
                        <a:t>ivanti</a:t>
                      </a:r>
                      <a:endParaRPr lang="en-US" sz="110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tcPr>
                </a:tc>
                <a:tc>
                  <a:txBody>
                    <a:bodyPr/>
                    <a:lstStyle/>
                    <a:p>
                      <a:pPr algn="ctr" indent="0" marL="0">
                        <a:buNone/>
                      </a:pPr>
                      <a:r>
                        <a:rPr lang="en-US" sz="1100" dirty="0">
                          <a:solidFill>
                            <a:srgbClr val="1F2933"/>
                          </a:solidFill>
                          <a:latin typeface="Calibri" pitchFamily="34" charset="0"/>
                          <a:ea typeface="Calibri" pitchFamily="34" charset="-122"/>
                          <a:cs typeface="Calibri" pitchFamily="34" charset="-120"/>
                        </a:rPr>
                        <a:t>346</a:t>
                      </a:r>
                      <a:endParaRPr lang="en-US" sz="110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6C9CF"/>
                    </a:solidFill>
                  </a:tcPr>
                </a:tc>
                <a:tc>
                  <a:txBody>
                    <a:bodyPr/>
                    <a:lstStyle/>
                    <a:p>
                      <a:pPr algn="ctr" indent="0" marL="0">
                        <a:buNone/>
                      </a:pPr>
                      <a:r>
                        <a:rPr lang="en-US" sz="1100" dirty="0">
                          <a:solidFill>
                            <a:srgbClr val="1F2933"/>
                          </a:solidFill>
                          <a:latin typeface="Calibri" pitchFamily="34" charset="0"/>
                          <a:ea typeface="Calibri" pitchFamily="34" charset="-122"/>
                          <a:cs typeface="Calibri" pitchFamily="34" charset="-120"/>
                        </a:rPr>
                        <a:t>71</a:t>
                      </a:r>
                      <a:endParaRPr lang="en-US" sz="110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BE7C6"/>
                    </a:solidFill>
                  </a:tcPr>
                </a:tc>
                <a:tc>
                  <a:txBody>
                    <a:bodyPr/>
                    <a:lstStyle/>
                    <a:p>
                      <a:pPr algn="ctr" indent="0" marL="0">
                        <a:buNone/>
                      </a:pPr>
                      <a:r>
                        <a:rPr lang="en-US" sz="1100" dirty="0">
                          <a:solidFill>
                            <a:srgbClr val="1F2933"/>
                          </a:solidFill>
                          <a:latin typeface="Calibri" pitchFamily="34" charset="0"/>
                          <a:ea typeface="Calibri" pitchFamily="34" charset="-122"/>
                          <a:cs typeface="Calibri" pitchFamily="34" charset="-120"/>
                        </a:rPr>
                        <a:t>40</a:t>
                      </a:r>
                      <a:endParaRPr lang="en-US" sz="110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3F5F8"/>
                    </a:solidFill>
                  </a:tcPr>
                </a:tc>
                <a:tc>
                  <a:txBody>
                    <a:bodyPr/>
                    <a:lstStyle/>
                    <a:p>
                      <a:pPr algn="ctr" indent="0" marL="0">
                        <a:buNone/>
                      </a:pPr>
                      <a:r>
                        <a:rPr lang="en-US" sz="1100" dirty="0">
                          <a:solidFill>
                            <a:srgbClr val="1F2933"/>
                          </a:solidFill>
                          <a:latin typeface="Calibri" pitchFamily="34" charset="0"/>
                          <a:ea typeface="Calibri" pitchFamily="34" charset="-122"/>
                          <a:cs typeface="Calibri" pitchFamily="34" charset="-120"/>
                        </a:rPr>
                        <a:t>63</a:t>
                      </a:r>
                      <a:endParaRPr lang="en-US" sz="110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BE7C6"/>
                    </a:solidFill>
                  </a:tcPr>
                </a:tc>
                <a:tc>
                  <a:txBody>
                    <a:bodyPr/>
                    <a:lstStyle/>
                    <a:p>
                      <a:pPr algn="ctr" indent="0" marL="0">
                        <a:buNone/>
                      </a:pPr>
                      <a:r>
                        <a:rPr lang="en-US" sz="1100" dirty="0">
                          <a:solidFill>
                            <a:srgbClr val="1F2933"/>
                          </a:solidFill>
                          <a:latin typeface="Calibri" pitchFamily="34" charset="0"/>
                          <a:ea typeface="Calibri" pitchFamily="34" charset="-122"/>
                          <a:cs typeface="Calibri" pitchFamily="34" charset="-120"/>
                        </a:rPr>
                        <a:t>68</a:t>
                      </a:r>
                      <a:endParaRPr lang="en-US" sz="110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BE7C6"/>
                    </a:solidFill>
                  </a:tcPr>
                </a:tc>
              </a:tr>
              <a:tr h="329184">
                <a:tc>
                  <a:txBody>
                    <a:bodyPr/>
                    <a:lstStyle/>
                    <a:p>
                      <a:pPr indent="0" marL="0">
                        <a:buNone/>
                      </a:pPr>
                      <a:r>
                        <a:rPr lang="en-US" sz="1100" b="1" dirty="0">
                          <a:solidFill>
                            <a:srgbClr val="1F2933"/>
                          </a:solidFill>
                          <a:latin typeface="Calibri" pitchFamily="34" charset="0"/>
                          <a:ea typeface="Calibri" pitchFamily="34" charset="-122"/>
                          <a:cs typeface="Calibri" pitchFamily="34" charset="-120"/>
                        </a:rPr>
                        <a:t>vmware</a:t>
                      </a:r>
                      <a:endParaRPr lang="en-US" sz="110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tcPr>
                </a:tc>
                <a:tc>
                  <a:txBody>
                    <a:bodyPr/>
                    <a:lstStyle/>
                    <a:p>
                      <a:pPr algn="ctr" indent="0" marL="0">
                        <a:buNone/>
                      </a:pPr>
                      <a:r>
                        <a:rPr lang="en-US" sz="1100" dirty="0">
                          <a:solidFill>
                            <a:srgbClr val="1F2933"/>
                          </a:solidFill>
                          <a:latin typeface="Calibri" pitchFamily="34" charset="0"/>
                          <a:ea typeface="Calibri" pitchFamily="34" charset="-122"/>
                          <a:cs typeface="Calibri" pitchFamily="34" charset="-120"/>
                        </a:rPr>
                        <a:t>105</a:t>
                      </a:r>
                      <a:endParaRPr lang="en-US" sz="110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6C9CF"/>
                    </a:solidFill>
                  </a:tcPr>
                </a:tc>
                <a:tc>
                  <a:txBody>
                    <a:bodyPr/>
                    <a:lstStyle/>
                    <a:p>
                      <a:pPr algn="ctr" indent="0" marL="0">
                        <a:buNone/>
                      </a:pPr>
                      <a:r>
                        <a:rPr lang="en-US" sz="1100" dirty="0">
                          <a:solidFill>
                            <a:srgbClr val="1F2933"/>
                          </a:solidFill>
                          <a:latin typeface="Calibri" pitchFamily="34" charset="0"/>
                          <a:ea typeface="Calibri" pitchFamily="34" charset="-122"/>
                          <a:cs typeface="Calibri" pitchFamily="34" charset="-120"/>
                        </a:rPr>
                        <a:t>122</a:t>
                      </a:r>
                      <a:endParaRPr lang="en-US" sz="110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6C9CF"/>
                    </a:solidFill>
                  </a:tcPr>
                </a:tc>
                <a:tc>
                  <a:txBody>
                    <a:bodyPr/>
                    <a:lstStyle/>
                    <a:p>
                      <a:pPr algn="ctr" indent="0" marL="0">
                        <a:buNone/>
                      </a:pPr>
                      <a:r>
                        <a:rPr lang="en-US" sz="1100" dirty="0">
                          <a:solidFill>
                            <a:srgbClr val="1F2933"/>
                          </a:solidFill>
                          <a:latin typeface="Calibri" pitchFamily="34" charset="0"/>
                          <a:ea typeface="Calibri" pitchFamily="34" charset="-122"/>
                          <a:cs typeface="Calibri" pitchFamily="34" charset="-120"/>
                        </a:rPr>
                        <a:t>29</a:t>
                      </a:r>
                      <a:endParaRPr lang="en-US" sz="110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3F5F8"/>
                    </a:solidFill>
                  </a:tcPr>
                </a:tc>
                <a:tc>
                  <a:txBody>
                    <a:bodyPr/>
                    <a:lstStyle/>
                    <a:p>
                      <a:pPr algn="ctr" indent="0" marL="0">
                        <a:buNone/>
                      </a:pPr>
                      <a:r>
                        <a:rPr lang="en-US" sz="1100" dirty="0">
                          <a:solidFill>
                            <a:srgbClr val="1F2933"/>
                          </a:solidFill>
                          <a:latin typeface="Calibri" pitchFamily="34" charset="0"/>
                          <a:ea typeface="Calibri" pitchFamily="34" charset="-122"/>
                          <a:cs typeface="Calibri" pitchFamily="34" charset="-120"/>
                        </a:rPr>
                        <a:t>116</a:t>
                      </a:r>
                      <a:endParaRPr lang="en-US" sz="110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6C9CF"/>
                    </a:solidFill>
                  </a:tcPr>
                </a:tc>
                <a:tc>
                  <a:txBody>
                    <a:bodyPr/>
                    <a:lstStyle/>
                    <a:p>
                      <a:pPr algn="ctr" indent="0" marL="0">
                        <a:buNone/>
                      </a:pPr>
                      <a:r>
                        <a:rPr lang="en-US" sz="1100" dirty="0">
                          <a:solidFill>
                            <a:srgbClr val="1F2933"/>
                          </a:solidFill>
                          <a:latin typeface="Calibri" pitchFamily="34" charset="0"/>
                          <a:ea typeface="Calibri" pitchFamily="34" charset="-122"/>
                          <a:cs typeface="Calibri" pitchFamily="34" charset="-120"/>
                        </a:rPr>
                        <a:t>300</a:t>
                      </a:r>
                      <a:endParaRPr lang="en-US" sz="110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6C9CF"/>
                    </a:solidFill>
                  </a:tcPr>
                </a:tc>
              </a:tr>
              <a:tr h="329184">
                <a:tc>
                  <a:txBody>
                    <a:bodyPr/>
                    <a:lstStyle/>
                    <a:p>
                      <a:pPr indent="0" marL="0">
                        <a:buNone/>
                      </a:pPr>
                      <a:r>
                        <a:rPr lang="en-US" sz="1100" b="1" dirty="0">
                          <a:solidFill>
                            <a:srgbClr val="1F2933"/>
                          </a:solidFill>
                          <a:latin typeface="Calibri" pitchFamily="34" charset="0"/>
                          <a:ea typeface="Calibri" pitchFamily="34" charset="-122"/>
                          <a:cs typeface="Calibri" pitchFamily="34" charset="-120"/>
                        </a:rPr>
                        <a:t>apple</a:t>
                      </a:r>
                      <a:endParaRPr lang="en-US" sz="110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tcPr>
                </a:tc>
                <a:tc>
                  <a:txBody>
                    <a:bodyPr/>
                    <a:lstStyle/>
                    <a:p>
                      <a:pPr algn="ctr" indent="0" marL="0">
                        <a:buNone/>
                      </a:pPr>
                      <a:r>
                        <a:rPr lang="en-US" sz="1100" dirty="0">
                          <a:solidFill>
                            <a:srgbClr val="1F2933"/>
                          </a:solidFill>
                          <a:latin typeface="Calibri" pitchFamily="34" charset="0"/>
                          <a:ea typeface="Calibri" pitchFamily="34" charset="-122"/>
                          <a:cs typeface="Calibri" pitchFamily="34" charset="-120"/>
                        </a:rPr>
                        <a:t>42</a:t>
                      </a:r>
                      <a:endParaRPr lang="en-US" sz="110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BE7C6"/>
                    </a:solidFill>
                  </a:tcPr>
                </a:tc>
                <a:tc>
                  <a:txBody>
                    <a:bodyPr/>
                    <a:lstStyle/>
                    <a:p>
                      <a:pPr algn="ctr" indent="0" marL="0">
                        <a:buNone/>
                      </a:pPr>
                      <a:r>
                        <a:rPr lang="en-US" sz="1100" dirty="0">
                          <a:solidFill>
                            <a:srgbClr val="1F2933"/>
                          </a:solidFill>
                          <a:latin typeface="Calibri" pitchFamily="34" charset="0"/>
                          <a:ea typeface="Calibri" pitchFamily="34" charset="-122"/>
                          <a:cs typeface="Calibri" pitchFamily="34" charset="-120"/>
                        </a:rPr>
                        <a:t>67</a:t>
                      </a:r>
                      <a:endParaRPr lang="en-US" sz="110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BE7C6"/>
                    </a:solidFill>
                  </a:tcPr>
                </a:tc>
                <a:tc>
                  <a:txBody>
                    <a:bodyPr/>
                    <a:lstStyle/>
                    <a:p>
                      <a:pPr algn="ctr" indent="0" marL="0">
                        <a:buNone/>
                      </a:pPr>
                      <a:r>
                        <a:rPr lang="en-US" sz="1100" dirty="0">
                          <a:solidFill>
                            <a:srgbClr val="1F2933"/>
                          </a:solidFill>
                          <a:latin typeface="Calibri" pitchFamily="34" charset="0"/>
                          <a:ea typeface="Calibri" pitchFamily="34" charset="-122"/>
                          <a:cs typeface="Calibri" pitchFamily="34" charset="-120"/>
                        </a:rPr>
                        <a:t>44</a:t>
                      </a:r>
                      <a:endParaRPr lang="en-US" sz="110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BE7C6"/>
                    </a:solidFill>
                  </a:tcPr>
                </a:tc>
                <a:tc>
                  <a:txBody>
                    <a:bodyPr/>
                    <a:lstStyle/>
                    <a:p>
                      <a:pPr algn="ctr" indent="0" marL="0">
                        <a:buNone/>
                      </a:pPr>
                      <a:r>
                        <a:rPr lang="en-US" sz="1100" dirty="0">
                          <a:solidFill>
                            <a:srgbClr val="1F2933"/>
                          </a:solidFill>
                          <a:latin typeface="Calibri" pitchFamily="34" charset="0"/>
                          <a:ea typeface="Calibri" pitchFamily="34" charset="-122"/>
                          <a:cs typeface="Calibri" pitchFamily="34" charset="-120"/>
                        </a:rPr>
                        <a:t>12</a:t>
                      </a:r>
                      <a:endParaRPr lang="en-US" sz="110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3F5F8"/>
                    </a:solidFill>
                  </a:tcPr>
                </a:tc>
                <a:tc>
                  <a:txBody>
                    <a:bodyPr/>
                    <a:lstStyle/>
                    <a:p>
                      <a:pPr algn="ctr" indent="0" marL="0">
                        <a:buNone/>
                      </a:pPr>
                      <a:r>
                        <a:rPr lang="en-US" sz="1100" dirty="0">
                          <a:solidFill>
                            <a:srgbClr val="1F2933"/>
                          </a:solidFill>
                          <a:latin typeface="Calibri" pitchFamily="34" charset="0"/>
                          <a:ea typeface="Calibri" pitchFamily="34" charset="-122"/>
                          <a:cs typeface="Calibri" pitchFamily="34" charset="-120"/>
                        </a:rPr>
                        <a:t>14</a:t>
                      </a:r>
                      <a:endParaRPr lang="en-US" sz="110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3F5F8"/>
                    </a:solidFill>
                  </a:tcPr>
                </a:tc>
              </a:tr>
              <a:tr h="329184">
                <a:tc>
                  <a:txBody>
                    <a:bodyPr/>
                    <a:lstStyle/>
                    <a:p>
                      <a:pPr indent="0" marL="0">
                        <a:buNone/>
                      </a:pPr>
                      <a:r>
                        <a:rPr lang="en-US" sz="1100" b="1" dirty="0">
                          <a:solidFill>
                            <a:srgbClr val="1F2933"/>
                          </a:solidFill>
                          <a:latin typeface="Calibri" pitchFamily="34" charset="0"/>
                          <a:ea typeface="Calibri" pitchFamily="34" charset="-122"/>
                          <a:cs typeface="Calibri" pitchFamily="34" charset="-120"/>
                        </a:rPr>
                        <a:t>google</a:t>
                      </a:r>
                      <a:endParaRPr lang="en-US" sz="110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tcPr>
                </a:tc>
                <a:tc>
                  <a:txBody>
                    <a:bodyPr/>
                    <a:lstStyle/>
                    <a:p>
                      <a:pPr algn="ctr" indent="0" marL="0">
                        <a:buNone/>
                      </a:pPr>
                      <a:r>
                        <a:rPr lang="en-US" sz="1100" dirty="0">
                          <a:solidFill>
                            <a:srgbClr val="1F2933"/>
                          </a:solidFill>
                          <a:latin typeface="Calibri" pitchFamily="34" charset="0"/>
                          <a:ea typeface="Calibri" pitchFamily="34" charset="-122"/>
                          <a:cs typeface="Calibri" pitchFamily="34" charset="-120"/>
                        </a:rPr>
                        <a:t>27</a:t>
                      </a:r>
                      <a:endParaRPr lang="en-US" sz="110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3F5F8"/>
                    </a:solidFill>
                  </a:tcPr>
                </a:tc>
                <a:tc>
                  <a:txBody>
                    <a:bodyPr/>
                    <a:lstStyle/>
                    <a:p>
                      <a:pPr algn="ctr" indent="0" marL="0">
                        <a:buNone/>
                      </a:pPr>
                      <a:r>
                        <a:rPr lang="en-US" sz="1100" dirty="0">
                          <a:solidFill>
                            <a:srgbClr val="1F2933"/>
                          </a:solidFill>
                          <a:latin typeface="Calibri" pitchFamily="34" charset="0"/>
                          <a:ea typeface="Calibri" pitchFamily="34" charset="-122"/>
                          <a:cs typeface="Calibri" pitchFamily="34" charset="-120"/>
                        </a:rPr>
                        <a:t>15</a:t>
                      </a:r>
                      <a:endParaRPr lang="en-US" sz="110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3F5F8"/>
                    </a:solidFill>
                  </a:tcPr>
                </a:tc>
                <a:tc>
                  <a:txBody>
                    <a:bodyPr/>
                    <a:lstStyle/>
                    <a:p>
                      <a:pPr algn="ctr" indent="0" marL="0">
                        <a:buNone/>
                      </a:pPr>
                      <a:r>
                        <a:rPr lang="en-US" sz="1100" dirty="0">
                          <a:solidFill>
                            <a:srgbClr val="1F2933"/>
                          </a:solidFill>
                          <a:latin typeface="Calibri" pitchFamily="34" charset="0"/>
                          <a:ea typeface="Calibri" pitchFamily="34" charset="-122"/>
                          <a:cs typeface="Calibri" pitchFamily="34" charset="-120"/>
                        </a:rPr>
                        <a:t>6</a:t>
                      </a:r>
                      <a:endParaRPr lang="en-US" sz="110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3F5F8"/>
                    </a:solidFill>
                  </a:tcPr>
                </a:tc>
                <a:tc>
                  <a:txBody>
                    <a:bodyPr/>
                    <a:lstStyle/>
                    <a:p>
                      <a:pPr algn="ctr" indent="0" marL="0">
                        <a:buNone/>
                      </a:pPr>
                      <a:r>
                        <a:rPr lang="en-US" sz="1100" dirty="0">
                          <a:solidFill>
                            <a:srgbClr val="1F2933"/>
                          </a:solidFill>
                          <a:latin typeface="Calibri" pitchFamily="34" charset="0"/>
                          <a:ea typeface="Calibri" pitchFamily="34" charset="-122"/>
                          <a:cs typeface="Calibri" pitchFamily="34" charset="-120"/>
                        </a:rPr>
                        <a:t>23</a:t>
                      </a:r>
                      <a:endParaRPr lang="en-US" sz="110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3F5F8"/>
                    </a:solidFill>
                  </a:tcPr>
                </a:tc>
                <a:tc>
                  <a:txBody>
                    <a:bodyPr/>
                    <a:lstStyle/>
                    <a:p>
                      <a:pPr algn="ctr" indent="0" marL="0">
                        <a:buNone/>
                      </a:pPr>
                      <a:r>
                        <a:rPr lang="en-US" sz="1100" dirty="0">
                          <a:solidFill>
                            <a:srgbClr val="1F2933"/>
                          </a:solidFill>
                          <a:latin typeface="Calibri" pitchFamily="34" charset="0"/>
                          <a:ea typeface="Calibri" pitchFamily="34" charset="-122"/>
                          <a:cs typeface="Calibri" pitchFamily="34" charset="-120"/>
                        </a:rPr>
                        <a:t>16</a:t>
                      </a:r>
                      <a:endParaRPr lang="en-US" sz="110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3F5F8"/>
                    </a:solidFill>
                  </a:tcPr>
                </a:tc>
              </a:tr>
            </a:tbl>
          </a:graphicData>
        </a:graphic>
      </p:graphicFrame>
      <p:sp>
        <p:nvSpPr>
          <p:cNvPr id="11" name="Shape 7"/>
          <p:cNvSpPr/>
          <p:nvPr/>
        </p:nvSpPr>
        <p:spPr>
          <a:xfrm>
            <a:off x="457200" y="5806440"/>
            <a:ext cx="11274552" cy="548640"/>
          </a:xfrm>
          <a:prstGeom prst="rect">
            <a:avLst/>
          </a:prstGeom>
          <a:solidFill>
            <a:srgbClr val="F3F5F8"/>
          </a:solidFill>
          <a:ln w="12700">
            <a:solidFill>
              <a:srgbClr val="F3F5F8"/>
            </a:solidFill>
            <a:prstDash val="solid"/>
          </a:ln>
        </p:spPr>
      </p:sp>
      <p:sp>
        <p:nvSpPr>
          <p:cNvPr id="12" name="Text 8"/>
          <p:cNvSpPr txBox="1"/>
          <p:nvPr/>
        </p:nvSpPr>
        <p:spPr>
          <a:xfrm>
            <a:off x="640080" y="5806440"/>
            <a:ext cx="10908792" cy="548640"/>
          </a:xfrm>
          <a:prstGeom prst="rect">
            <a:avLst/>
          </a:prstGeom>
          <a:noFill/>
          <a:ln/>
        </p:spPr>
        <p:txBody>
          <a:bodyPr wrap="square" lIns="0" tIns="0" rIns="0" bIns="0" rtlCol="0" anchor="ctr"/>
          <a:lstStyle/>
          <a:p>
            <a:pPr indent="0" marL="0">
              <a:buNone/>
            </a:pPr>
            <a:r>
              <a:rPr lang="en-US" sz="1300" dirty="0">
                <a:solidFill>
                  <a:srgbClr val="1F2933"/>
                </a:solidFill>
                <a:latin typeface="Calibri" pitchFamily="34" charset="0"/>
                <a:ea typeface="Calibri" pitchFamily="34" charset="-122"/>
                <a:cs typeface="Calibri" pitchFamily="34" charset="-120"/>
              </a:rPr>
              <a:t>The 2021–22 peaks are the KEV back-fill (catalog created Nov 2021). From 2023 Microsoft stabilises around 30 per 1,000, while Ivanti (62–68) and VMware stay much higher.</a:t>
            </a:r>
            <a:endParaRPr lang="en-US" sz="13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320040"/>
            <a:ext cx="8778240" cy="640080"/>
          </a:xfrm>
          <a:prstGeom prst="rect">
            <a:avLst/>
          </a:prstGeom>
          <a:noFill/>
          <a:ln/>
        </p:spPr>
        <p:txBody>
          <a:bodyPr wrap="square" lIns="0" tIns="0" rIns="0" bIns="0" rtlCol="0" anchor="ctr"/>
          <a:lstStyle/>
          <a:p>
            <a:pPr indent="0" marL="0">
              <a:buNone/>
            </a:pPr>
            <a:r>
              <a:rPr lang="en-US" sz="2600" b="1" dirty="0">
                <a:solidFill>
                  <a:srgbClr val="1B2A41"/>
                </a:solidFill>
                <a:latin typeface="Arial" pitchFamily="34" charset="0"/>
                <a:ea typeface="Arial" pitchFamily="34" charset="-122"/>
                <a:cs typeface="Arial" pitchFamily="34" charset="-120"/>
              </a:rPr>
              <a:t>Q7 · How fast are vulnerabilities exploited?</a:t>
            </a:r>
            <a:endParaRPr lang="en-US" sz="2600" dirty="0"/>
          </a:p>
        </p:txBody>
      </p:sp>
      <p:sp>
        <p:nvSpPr>
          <p:cNvPr id="3" name="Shape 1"/>
          <p:cNvSpPr/>
          <p:nvPr/>
        </p:nvSpPr>
        <p:spPr>
          <a:xfrm>
            <a:off x="9464040" y="384048"/>
            <a:ext cx="2267712" cy="512064"/>
          </a:xfrm>
          <a:prstGeom prst="roundRect">
            <a:avLst>
              <a:gd name="adj" fmla="val 50000"/>
            </a:avLst>
          </a:prstGeom>
          <a:solidFill>
            <a:srgbClr val="F2A541"/>
          </a:solidFill>
          <a:ln w="12700">
            <a:solidFill>
              <a:srgbClr val="F2A541"/>
            </a:solidFill>
            <a:prstDash val="solid"/>
          </a:ln>
        </p:spPr>
      </p:sp>
      <p:sp>
        <p:nvSpPr>
          <p:cNvPr id="4" name="Text 2"/>
          <p:cNvSpPr txBox="1"/>
          <p:nvPr/>
        </p:nvSpPr>
        <p:spPr>
          <a:xfrm>
            <a:off x="9464040" y="384048"/>
            <a:ext cx="2267712" cy="512064"/>
          </a:xfrm>
          <a:prstGeom prst="rect">
            <a:avLst/>
          </a:prstGeom>
          <a:noFill/>
          <a:ln/>
        </p:spPr>
        <p:txBody>
          <a:bodyPr wrap="square" lIns="0" tIns="0" rIns="0" bIns="0" rtlCol="0" anchor="ctr"/>
          <a:lstStyle/>
          <a:p>
            <a:pPr algn="ctr" indent="0" marL="0">
              <a:buNone/>
            </a:pPr>
            <a:r>
              <a:rPr lang="en-US" sz="1500" b="1" dirty="0">
                <a:solidFill>
                  <a:srgbClr val="1B2A41"/>
                </a:solidFill>
                <a:latin typeface="Arial" pitchFamily="34" charset="0"/>
                <a:ea typeface="Arial" pitchFamily="34" charset="-122"/>
                <a:cs typeface="Arial" pitchFamily="34" charset="-120"/>
              </a:rPr>
              <a:t>ROLL-UP</a:t>
            </a:r>
            <a:endParaRPr lang="en-US" sz="1500" dirty="0"/>
          </a:p>
        </p:txBody>
      </p:sp>
      <p:sp>
        <p:nvSpPr>
          <p:cNvPr id="5" name="Text 3"/>
          <p:cNvSpPr txBox="1"/>
          <p:nvPr/>
        </p:nvSpPr>
        <p:spPr>
          <a:xfrm>
            <a:off x="457200" y="987552"/>
            <a:ext cx="11247120" cy="411480"/>
          </a:xfrm>
          <a:prstGeom prst="rect">
            <a:avLst/>
          </a:prstGeom>
          <a:noFill/>
          <a:ln/>
        </p:spPr>
        <p:txBody>
          <a:bodyPr wrap="square" lIns="0" tIns="0" rIns="0" bIns="0" rtlCol="0" anchor="t"/>
          <a:lstStyle/>
          <a:p>
            <a:pPr indent="0" marL="0">
              <a:buNone/>
            </a:pPr>
            <a:r>
              <a:rPr lang="en-US" sz="1500" i="1" dirty="0">
                <a:solidFill>
                  <a:srgbClr val="5B6B7C"/>
                </a:solidFill>
                <a:latin typeface="Calibri" pitchFamily="34" charset="0"/>
                <a:ea typeface="Calibri" pitchFamily="34" charset="-122"/>
                <a:cs typeface="Calibri" pitchFamily="34" charset="-120"/>
              </a:rPr>
              <a:t>“On the KEV cube, roll up products to vendors: median days from publication to KEV.”</a:t>
            </a:r>
            <a:endParaRPr lang="en-US" sz="1500" dirty="0"/>
          </a:p>
        </p:txBody>
      </p:sp>
      <p:sp>
        <p:nvSpPr>
          <p:cNvPr id="6" name="Text 4"/>
          <p:cNvSpPr txBox="1"/>
          <p:nvPr/>
        </p:nvSpPr>
        <p:spPr>
          <a:xfrm>
            <a:off x="6675120" y="6446520"/>
            <a:ext cx="5056632" cy="274320"/>
          </a:xfrm>
          <a:prstGeom prst="rect">
            <a:avLst/>
          </a:prstGeom>
          <a:noFill/>
          <a:ln/>
        </p:spPr>
        <p:txBody>
          <a:bodyPr wrap="square" lIns="0" tIns="0" rIns="0" bIns="0" rtlCol="0" anchor="ctr"/>
          <a:lstStyle/>
          <a:p>
            <a:pPr algn="r" indent="0" marL="0">
              <a:buNone/>
            </a:pPr>
            <a:r>
              <a:rPr lang="en-US" sz="900" dirty="0">
                <a:solidFill>
                  <a:srgbClr val="5B6B7C"/>
                </a:solidFill>
                <a:latin typeface="Calibri" pitchFamily="34" charset="0"/>
                <a:ea typeface="Calibri" pitchFamily="34" charset="-122"/>
                <a:cs typeface="Calibri" pitchFamily="34" charset="-120"/>
              </a:rPr>
              <a:t>CVE Data Warehouse · Alessia Angele · 18</a:t>
            </a:r>
            <a:endParaRPr lang="en-US" sz="900" dirty="0"/>
          </a:p>
        </p:txBody>
      </p:sp>
      <p:sp>
        <p:nvSpPr>
          <p:cNvPr id="7" name="Shape 5"/>
          <p:cNvSpPr/>
          <p:nvPr/>
        </p:nvSpPr>
        <p:spPr>
          <a:xfrm>
            <a:off x="457200" y="1554480"/>
            <a:ext cx="5394960" cy="4069080"/>
          </a:xfrm>
          <a:prstGeom prst="rect">
            <a:avLst/>
          </a:prstGeom>
          <a:solidFill>
            <a:srgbClr val="16202E"/>
          </a:solidFill>
          <a:ln w="12700">
            <a:solidFill>
              <a:srgbClr val="16202E"/>
            </a:solidFill>
            <a:prstDash val="solid"/>
          </a:ln>
        </p:spPr>
      </p:sp>
      <p:sp>
        <p:nvSpPr>
          <p:cNvPr id="8" name="Text 6"/>
          <p:cNvSpPr txBox="1"/>
          <p:nvPr/>
        </p:nvSpPr>
        <p:spPr>
          <a:xfrm>
            <a:off x="594360" y="1645920"/>
            <a:ext cx="5120640" cy="3886200"/>
          </a:xfrm>
          <a:prstGeom prst="rect">
            <a:avLst/>
          </a:prstGeom>
          <a:noFill/>
          <a:ln/>
        </p:spPr>
        <p:txBody>
          <a:bodyPr wrap="square" lIns="0" tIns="0" rIns="0" bIns="0" rtlCol="0" anchor="t"/>
          <a:lstStyle/>
          <a:p>
            <a:pPr indent="0" marL="0">
              <a:buNone/>
            </a:pPr>
            <a:r>
              <a:rPr lang="en-US" sz="950" dirty="0">
                <a:solidFill>
                  <a:srgbClr val="E6EDF3"/>
                </a:solidFill>
                <a:latin typeface="Courier New" pitchFamily="34" charset="0"/>
                <a:ea typeface="Courier New" pitchFamily="34" charset="-122"/>
                <a:cs typeface="Courier New" pitchFamily="34" charset="-120"/>
              </a:rPr>
              <a:t>SELECT p.vendor,</a:t>
            </a:r>
            <a:endParaRPr lang="en-US" sz="950" dirty="0"/>
          </a:p>
          <a:p>
            <a:pPr indent="0" marL="0">
              <a:buNone/>
            </a:pPr>
            <a:r>
              <a:rPr lang="en-US" sz="950" dirty="0">
                <a:solidFill>
                  <a:srgbClr val="E6EDF3"/>
                </a:solidFill>
                <a:latin typeface="Courier New" pitchFamily="34" charset="0"/>
                <a:ea typeface="Courier New" pitchFamily="34" charset="-122"/>
                <a:cs typeface="Courier New" pitchFamily="34" charset="-120"/>
              </a:rPr>
              <a:t>  COUNT(*)                         AS kev_entries,</a:t>
            </a:r>
            <a:endParaRPr lang="en-US" sz="950" dirty="0"/>
          </a:p>
          <a:p>
            <a:pPr indent="0" marL="0">
              <a:buNone/>
            </a:pPr>
            <a:r>
              <a:rPr lang="en-US" sz="950" dirty="0">
                <a:solidFill>
                  <a:srgbClr val="E6EDF3"/>
                </a:solidFill>
                <a:latin typeface="Courier New" pitchFamily="34" charset="0"/>
                <a:ea typeface="Courier New" pitchFamily="34" charset="-122"/>
                <a:cs typeface="Courier New" pitchFamily="34" charset="-120"/>
              </a:rPr>
              <a:t>  COUNT(*) FILTER</a:t>
            </a:r>
            <a:endParaRPr lang="en-US" sz="950" dirty="0"/>
          </a:p>
          <a:p>
            <a:pPr indent="0" marL="0">
              <a:buNone/>
            </a:pPr>
            <a:r>
              <a:rPr lang="en-US" sz="950" dirty="0">
                <a:solidFill>
                  <a:srgbClr val="E6EDF3"/>
                </a:solidFill>
                <a:latin typeface="Courier New" pitchFamily="34" charset="0"/>
                <a:ea typeface="Courier New" pitchFamily="34" charset="-122"/>
                <a:cs typeface="Courier New" pitchFamily="34" charset="-120"/>
              </a:rPr>
              <a:t>    (WHERE k.days_to_kev &lt; 0)      AS zero_day,</a:t>
            </a:r>
            <a:endParaRPr lang="en-US" sz="950" dirty="0"/>
          </a:p>
          <a:p>
            <a:pPr indent="0" marL="0">
              <a:buNone/>
            </a:pPr>
            <a:r>
              <a:rPr lang="en-US" sz="950" dirty="0">
                <a:solidFill>
                  <a:srgbClr val="E6EDF3"/>
                </a:solidFill>
                <a:latin typeface="Courier New" pitchFamily="34" charset="0"/>
                <a:ea typeface="Courier New" pitchFamily="34" charset="-122"/>
                <a:cs typeface="Courier New" pitchFamily="34" charset="-120"/>
              </a:rPr>
              <a:t>  PERCENTILE_CONT(0.5) WITHIN GROUP</a:t>
            </a:r>
            <a:endParaRPr lang="en-US" sz="950" dirty="0"/>
          </a:p>
          <a:p>
            <a:pPr indent="0" marL="0">
              <a:buNone/>
            </a:pPr>
            <a:r>
              <a:rPr lang="en-US" sz="950" dirty="0">
                <a:solidFill>
                  <a:srgbClr val="E6EDF3"/>
                </a:solidFill>
                <a:latin typeface="Courier New" pitchFamily="34" charset="0"/>
                <a:ea typeface="Courier New" pitchFamily="34" charset="-122"/>
                <a:cs typeface="Courier New" pitchFamily="34" charset="-120"/>
              </a:rPr>
              <a:t>    (ORDER BY k.days_to_kev)</a:t>
            </a:r>
            <a:endParaRPr lang="en-US" sz="950" dirty="0"/>
          </a:p>
          <a:p>
            <a:pPr indent="0" marL="0">
              <a:buNone/>
            </a:pPr>
            <a:r>
              <a:rPr lang="en-US" sz="950" dirty="0">
                <a:solidFill>
                  <a:srgbClr val="E6EDF3"/>
                </a:solidFill>
                <a:latin typeface="Courier New" pitchFamily="34" charset="0"/>
                <a:ea typeface="Courier New" pitchFamily="34" charset="-122"/>
                <a:cs typeface="Courier New" pitchFamily="34" charset="-120"/>
              </a:rPr>
              <a:t>    FILTER (WHERE k.days_to_kev &gt;= 0)</a:t>
            </a:r>
            <a:endParaRPr lang="en-US" sz="950" dirty="0"/>
          </a:p>
          <a:p>
            <a:pPr indent="0" marL="0">
              <a:buNone/>
            </a:pPr>
            <a:r>
              <a:rPr lang="en-US" sz="950" dirty="0">
                <a:solidFill>
                  <a:srgbClr val="E6EDF3"/>
                </a:solidFill>
                <a:latin typeface="Courier New" pitchFamily="34" charset="0"/>
                <a:ea typeface="Courier New" pitchFamily="34" charset="-122"/>
                <a:cs typeface="Courier New" pitchFamily="34" charset="-120"/>
              </a:rPr>
              <a:t>                                   AS median_days_to_kev,</a:t>
            </a:r>
            <a:endParaRPr lang="en-US" sz="950" dirty="0"/>
          </a:p>
          <a:p>
            <a:pPr indent="0" marL="0">
              <a:buNone/>
            </a:pPr>
            <a:r>
              <a:rPr lang="en-US" sz="950" dirty="0">
                <a:solidFill>
                  <a:srgbClr val="E6EDF3"/>
                </a:solidFill>
                <a:latin typeface="Courier New" pitchFamily="34" charset="0"/>
                <a:ea typeface="Courier New" pitchFamily="34" charset="-122"/>
                <a:cs typeface="Courier New" pitchFamily="34" charset="-120"/>
              </a:rPr>
              <a:t>  ROUND(100.0 * COUNT(*) FILTER</a:t>
            </a:r>
            <a:endParaRPr lang="en-US" sz="950" dirty="0"/>
          </a:p>
          <a:p>
            <a:pPr indent="0" marL="0">
              <a:buNone/>
            </a:pPr>
            <a:r>
              <a:rPr lang="en-US" sz="950" dirty="0">
                <a:solidFill>
                  <a:srgbClr val="E6EDF3"/>
                </a:solidFill>
                <a:latin typeface="Courier New" pitchFamily="34" charset="0"/>
                <a:ea typeface="Courier New" pitchFamily="34" charset="-122"/>
                <a:cs typeface="Courier New" pitchFamily="34" charset="-120"/>
              </a:rPr>
              <a:t>    (WHERE k.is_ransomware) / COUNT(*), 1)</a:t>
            </a:r>
            <a:endParaRPr lang="en-US" sz="950" dirty="0"/>
          </a:p>
          <a:p>
            <a:pPr indent="0" marL="0">
              <a:buNone/>
            </a:pPr>
            <a:r>
              <a:rPr lang="en-US" sz="950" dirty="0">
                <a:solidFill>
                  <a:srgbClr val="E6EDF3"/>
                </a:solidFill>
                <a:latin typeface="Courier New" pitchFamily="34" charset="0"/>
                <a:ea typeface="Courier New" pitchFamily="34" charset="-122"/>
                <a:cs typeface="Courier New" pitchFamily="34" charset="-120"/>
              </a:rPr>
              <a:t>                                   AS ransomware_pct</a:t>
            </a:r>
            <a:endParaRPr lang="en-US" sz="950" dirty="0"/>
          </a:p>
          <a:p>
            <a:pPr indent="0" marL="0">
              <a:buNone/>
            </a:pPr>
            <a:r>
              <a:rPr lang="en-US" sz="950" dirty="0">
                <a:solidFill>
                  <a:srgbClr val="E6EDF3"/>
                </a:solidFill>
                <a:latin typeface="Courier New" pitchFamily="34" charset="0"/>
                <a:ea typeface="Courier New" pitchFamily="34" charset="-122"/>
                <a:cs typeface="Courier New" pitchFamily="34" charset="-120"/>
              </a:rPr>
              <a:t>FROM fact_kev_addition k</a:t>
            </a:r>
            <a:endParaRPr lang="en-US" sz="950" dirty="0"/>
          </a:p>
          <a:p>
            <a:pPr indent="0" marL="0">
              <a:buNone/>
            </a:pPr>
            <a:r>
              <a:rPr lang="en-US" sz="950" dirty="0">
                <a:solidFill>
                  <a:srgbClr val="E6EDF3"/>
                </a:solidFill>
                <a:latin typeface="Courier New" pitchFamily="34" charset="0"/>
                <a:ea typeface="Courier New" pitchFamily="34" charset="-122"/>
                <a:cs typeface="Courier New" pitchFamily="34" charset="-120"/>
              </a:rPr>
              <a:t>JOIN dim_product p ON p.product_key = k.product_key</a:t>
            </a:r>
            <a:endParaRPr lang="en-US" sz="950" dirty="0"/>
          </a:p>
          <a:p>
            <a:pPr indent="0" marL="0">
              <a:buNone/>
            </a:pPr>
            <a:r>
              <a:rPr lang="en-US" sz="950" dirty="0">
                <a:solidFill>
                  <a:srgbClr val="E6EDF3"/>
                </a:solidFill>
                <a:latin typeface="Courier New" pitchFamily="34" charset="0"/>
                <a:ea typeface="Courier New" pitchFamily="34" charset="-122"/>
                <a:cs typeface="Courier New" pitchFamily="34" charset="-120"/>
              </a:rPr>
              <a:t>WHERE k.in_nvd_snapshot</a:t>
            </a:r>
            <a:endParaRPr lang="en-US" sz="950" dirty="0"/>
          </a:p>
          <a:p>
            <a:pPr indent="0" marL="0">
              <a:buNone/>
            </a:pPr>
            <a:r>
              <a:rPr lang="en-US" sz="950" dirty="0">
                <a:solidFill>
                  <a:srgbClr val="E6EDF3"/>
                </a:solidFill>
                <a:latin typeface="Courier New" pitchFamily="34" charset="0"/>
                <a:ea typeface="Courier New" pitchFamily="34" charset="-122"/>
                <a:cs typeface="Courier New" pitchFamily="34" charset="-120"/>
              </a:rPr>
              <a:t>GROUP BY p.vendor           -- product -&gt; vendor</a:t>
            </a:r>
            <a:endParaRPr lang="en-US" sz="950" dirty="0"/>
          </a:p>
          <a:p>
            <a:pPr indent="0" marL="0">
              <a:buNone/>
            </a:pPr>
            <a:r>
              <a:rPr lang="en-US" sz="950" dirty="0">
                <a:solidFill>
                  <a:srgbClr val="E6EDF3"/>
                </a:solidFill>
                <a:latin typeface="Courier New" pitchFamily="34" charset="0"/>
                <a:ea typeface="Courier New" pitchFamily="34" charset="-122"/>
                <a:cs typeface="Courier New" pitchFamily="34" charset="-120"/>
              </a:rPr>
              <a:t>HAVING COUNT(*) &gt;= 5</a:t>
            </a:r>
            <a:endParaRPr lang="en-US" sz="950" dirty="0"/>
          </a:p>
          <a:p>
            <a:pPr indent="0" marL="0">
              <a:buNone/>
            </a:pPr>
            <a:r>
              <a:rPr lang="en-US" sz="950" dirty="0">
                <a:solidFill>
                  <a:srgbClr val="E6EDF3"/>
                </a:solidFill>
                <a:latin typeface="Courier New" pitchFamily="34" charset="0"/>
                <a:ea typeface="Courier New" pitchFamily="34" charset="-122"/>
                <a:cs typeface="Courier New" pitchFamily="34" charset="-120"/>
              </a:rPr>
              <a:t>ORDER BY median_days_to_kev LIMIT 15;</a:t>
            </a:r>
            <a:endParaRPr lang="en-US" sz="950" dirty="0"/>
          </a:p>
        </p:txBody>
      </p:sp>
      <p:pic>
        <p:nvPicPr>
          <p:cNvPr id="9" name="Image 0" descr="preencoded.png">    </p:cNvPr>
          <p:cNvPicPr>
            <a:picLocks noChangeAspect="1"/>
          </p:cNvPicPr>
          <p:nvPr/>
        </p:nvPicPr>
        <p:blipFill>
          <a:blip r:embed="rId1"/>
          <a:stretch>
            <a:fillRect/>
          </a:stretch>
        </p:blipFill>
        <p:spPr>
          <a:xfrm>
            <a:off x="6720840" y="1417320"/>
            <a:ext cx="4206240" cy="1775968"/>
          </a:xfrm>
          <a:prstGeom prst="rect">
            <a:avLst/>
          </a:prstGeom>
        </p:spPr>
      </p:pic>
      <p:graphicFrame>
        <p:nvGraphicFramePr>
          <p:cNvPr id="10" name="Chart 0" descr=""/>
          <p:cNvGraphicFramePr/>
          <p:nvPr/>
        </p:nvGraphicFramePr>
        <p:xfrm>
          <a:off x="6126480" y="3246120"/>
          <a:ext cx="5605272" cy="2423160"/>
        </p:xfrm>
        <a:graphic xmlns:a="http://schemas.openxmlformats.org/drawingml/2006/main">
          <a:graphicData uri="http://schemas.openxmlformats.org/drawingml/2006/chart">
            <c:chart xmlns:c="http://schemas.openxmlformats.org/drawingml/2006/chart" r:id="rId2"/>
          </a:graphicData>
        </a:graphic>
      </p:graphicFrame>
      <p:sp>
        <p:nvSpPr>
          <p:cNvPr id="11" name="Shape 7"/>
          <p:cNvSpPr/>
          <p:nvPr/>
        </p:nvSpPr>
        <p:spPr>
          <a:xfrm>
            <a:off x="457200" y="5806440"/>
            <a:ext cx="11274552" cy="548640"/>
          </a:xfrm>
          <a:prstGeom prst="rect">
            <a:avLst/>
          </a:prstGeom>
          <a:solidFill>
            <a:srgbClr val="F3F5F8"/>
          </a:solidFill>
          <a:ln w="12700">
            <a:solidFill>
              <a:srgbClr val="F3F5F8"/>
            </a:solidFill>
            <a:prstDash val="solid"/>
          </a:ln>
        </p:spPr>
      </p:sp>
      <p:sp>
        <p:nvSpPr>
          <p:cNvPr id="12" name="Text 8"/>
          <p:cNvSpPr txBox="1"/>
          <p:nvPr/>
        </p:nvSpPr>
        <p:spPr>
          <a:xfrm>
            <a:off x="640080" y="5806440"/>
            <a:ext cx="10908792" cy="548640"/>
          </a:xfrm>
          <a:prstGeom prst="rect">
            <a:avLst/>
          </a:prstGeom>
          <a:noFill/>
          <a:ln/>
        </p:spPr>
        <p:txBody>
          <a:bodyPr wrap="square" lIns="0" tIns="0" rIns="0" bIns="0" rtlCol="0" anchor="ctr"/>
          <a:lstStyle/>
          <a:p>
            <a:pPr indent="0" marL="0">
              <a:buNone/>
            </a:pPr>
            <a:r>
              <a:rPr lang="en-US" sz="1300" dirty="0">
                <a:solidFill>
                  <a:srgbClr val="1F2933"/>
                </a:solidFill>
                <a:latin typeface="Calibri" pitchFamily="34" charset="0"/>
                <a:ea typeface="Calibri" pitchFamily="34" charset="-122"/>
                <a:cs typeface="Calibri" pitchFamily="34" charset="-120"/>
              </a:rPr>
              <a:t>Network appliances are exploited fastest: Fortinet in a median of 1 day, Palo Alto 8, Citrix 15.5. 61 CVEs entered KEV before NVD publication (zero-days), 16 each for Google and Apple.</a:t>
            </a:r>
            <a:endParaRPr lang="en-US" sz="13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320040"/>
            <a:ext cx="11247120" cy="640080"/>
          </a:xfrm>
          <a:prstGeom prst="rect">
            <a:avLst/>
          </a:prstGeom>
          <a:noFill/>
          <a:ln/>
        </p:spPr>
        <p:txBody>
          <a:bodyPr wrap="square" lIns="0" tIns="0" rIns="0" bIns="0" rtlCol="0" anchor="ctr"/>
          <a:lstStyle/>
          <a:p>
            <a:pPr indent="0" marL="0">
              <a:buNone/>
            </a:pPr>
            <a:r>
              <a:rPr lang="en-US" sz="2600" b="1" dirty="0">
                <a:solidFill>
                  <a:srgbClr val="1B2A41"/>
                </a:solidFill>
                <a:latin typeface="Arial" pitchFamily="34" charset="0"/>
                <a:ea typeface="Arial" pitchFamily="34" charset="-122"/>
                <a:cs typeface="Arial" pitchFamily="34" charset="-120"/>
              </a:rPr>
              <a:t>Conclusions</a:t>
            </a:r>
            <a:endParaRPr lang="en-US" sz="2600" dirty="0"/>
          </a:p>
        </p:txBody>
      </p:sp>
      <p:sp>
        <p:nvSpPr>
          <p:cNvPr id="3" name="Text 1"/>
          <p:cNvSpPr txBox="1"/>
          <p:nvPr/>
        </p:nvSpPr>
        <p:spPr>
          <a:xfrm>
            <a:off x="6675120" y="6446520"/>
            <a:ext cx="5056632" cy="274320"/>
          </a:xfrm>
          <a:prstGeom prst="rect">
            <a:avLst/>
          </a:prstGeom>
          <a:noFill/>
          <a:ln/>
        </p:spPr>
        <p:txBody>
          <a:bodyPr wrap="square" lIns="0" tIns="0" rIns="0" bIns="0" rtlCol="0" anchor="ctr"/>
          <a:lstStyle/>
          <a:p>
            <a:pPr algn="r" indent="0" marL="0">
              <a:buNone/>
            </a:pPr>
            <a:r>
              <a:rPr lang="en-US" sz="900" dirty="0">
                <a:solidFill>
                  <a:srgbClr val="5B6B7C"/>
                </a:solidFill>
                <a:latin typeface="Calibri" pitchFamily="34" charset="0"/>
                <a:ea typeface="Calibri" pitchFamily="34" charset="-122"/>
                <a:cs typeface="Calibri" pitchFamily="34" charset="-120"/>
              </a:rPr>
              <a:t>CVE Data Warehouse · Alessia Angele · 19</a:t>
            </a:r>
            <a:endParaRPr lang="en-US" sz="900" dirty="0"/>
          </a:p>
        </p:txBody>
      </p:sp>
      <p:sp>
        <p:nvSpPr>
          <p:cNvPr id="4" name="Shape 2"/>
          <p:cNvSpPr/>
          <p:nvPr/>
        </p:nvSpPr>
        <p:spPr>
          <a:xfrm>
            <a:off x="457200" y="1280160"/>
            <a:ext cx="3657600" cy="2377440"/>
          </a:xfrm>
          <a:prstGeom prst="rect">
            <a:avLst/>
          </a:prstGeom>
          <a:solidFill>
            <a:srgbClr val="F3F5F8"/>
          </a:solidFill>
          <a:ln w="12700">
            <a:solidFill>
              <a:srgbClr val="F3F5F8"/>
            </a:solidFill>
            <a:prstDash val="solid"/>
          </a:ln>
        </p:spPr>
      </p:sp>
      <p:sp>
        <p:nvSpPr>
          <p:cNvPr id="5" name="Text 3"/>
          <p:cNvSpPr txBox="1"/>
          <p:nvPr/>
        </p:nvSpPr>
        <p:spPr>
          <a:xfrm>
            <a:off x="640080" y="1417320"/>
            <a:ext cx="3291840" cy="365760"/>
          </a:xfrm>
          <a:prstGeom prst="rect">
            <a:avLst/>
          </a:prstGeom>
          <a:noFill/>
          <a:ln/>
        </p:spPr>
        <p:txBody>
          <a:bodyPr wrap="square" lIns="0" tIns="0" rIns="0" bIns="0" rtlCol="0" anchor="t"/>
          <a:lstStyle/>
          <a:p>
            <a:pPr indent="0" marL="0">
              <a:buNone/>
            </a:pPr>
            <a:r>
              <a:rPr lang="en-US" sz="1400" b="1" dirty="0">
                <a:solidFill>
                  <a:srgbClr val="1B2A41"/>
                </a:solidFill>
                <a:latin typeface="Arial" pitchFamily="34" charset="0"/>
                <a:ea typeface="Arial" pitchFamily="34" charset="-122"/>
                <a:cs typeface="Arial" pitchFamily="34" charset="-120"/>
              </a:rPr>
              <a:t>Severity ≠ risk</a:t>
            </a:r>
            <a:endParaRPr lang="en-US" sz="1400" dirty="0"/>
          </a:p>
        </p:txBody>
      </p:sp>
      <p:sp>
        <p:nvSpPr>
          <p:cNvPr id="6" name="Text 4"/>
          <p:cNvSpPr txBox="1"/>
          <p:nvPr/>
        </p:nvSpPr>
        <p:spPr>
          <a:xfrm>
            <a:off x="640080" y="1828800"/>
            <a:ext cx="3291840" cy="1691640"/>
          </a:xfrm>
          <a:prstGeom prst="rect">
            <a:avLst/>
          </a:prstGeom>
          <a:noFill/>
          <a:ln/>
        </p:spPr>
        <p:txBody>
          <a:bodyPr wrap="square" lIns="0" tIns="0" rIns="0" bIns="0" rtlCol="0" anchor="t"/>
          <a:lstStyle/>
          <a:p>
            <a:pPr indent="0" marL="0">
              <a:buNone/>
            </a:pPr>
            <a:r>
              <a:rPr lang="en-US" sz="1600" dirty="0">
                <a:solidFill>
                  <a:srgbClr val="1F2933"/>
                </a:solidFill>
                <a:latin typeface="Calibri" pitchFamily="34" charset="0"/>
                <a:ea typeface="Calibri" pitchFamily="34" charset="-122"/>
                <a:cs typeface="Calibri" pitchFamily="34" charset="-120"/>
              </a:rPr>
              <a:t>68% of critical CVEs are almost never exploited (Q5); rare weaknesses like type confusion are exploited far above their volume (Q2b).</a:t>
            </a:r>
            <a:endParaRPr lang="en-US" sz="1600" dirty="0"/>
          </a:p>
        </p:txBody>
      </p:sp>
      <p:sp>
        <p:nvSpPr>
          <p:cNvPr id="7" name="Shape 5"/>
          <p:cNvSpPr/>
          <p:nvPr/>
        </p:nvSpPr>
        <p:spPr>
          <a:xfrm>
            <a:off x="4270248" y="1280160"/>
            <a:ext cx="3657600" cy="2377440"/>
          </a:xfrm>
          <a:prstGeom prst="rect">
            <a:avLst/>
          </a:prstGeom>
          <a:solidFill>
            <a:srgbClr val="F3F5F8"/>
          </a:solidFill>
          <a:ln w="12700">
            <a:solidFill>
              <a:srgbClr val="F3F5F8"/>
            </a:solidFill>
            <a:prstDash val="solid"/>
          </a:ln>
        </p:spPr>
      </p:sp>
      <p:sp>
        <p:nvSpPr>
          <p:cNvPr id="8" name="Text 6"/>
          <p:cNvSpPr txBox="1"/>
          <p:nvPr/>
        </p:nvSpPr>
        <p:spPr>
          <a:xfrm>
            <a:off x="4453128" y="1417320"/>
            <a:ext cx="3291840" cy="365760"/>
          </a:xfrm>
          <a:prstGeom prst="rect">
            <a:avLst/>
          </a:prstGeom>
          <a:noFill/>
          <a:ln/>
        </p:spPr>
        <p:txBody>
          <a:bodyPr wrap="square" lIns="0" tIns="0" rIns="0" bIns="0" rtlCol="0" anchor="t"/>
          <a:lstStyle/>
          <a:p>
            <a:pPr indent="0" marL="0">
              <a:buNone/>
            </a:pPr>
            <a:r>
              <a:rPr lang="en-US" sz="1400" b="1" dirty="0">
                <a:solidFill>
                  <a:srgbClr val="1B2A41"/>
                </a:solidFill>
                <a:latin typeface="Arial" pitchFamily="34" charset="0"/>
                <a:ea typeface="Arial" pitchFamily="34" charset="-122"/>
                <a:cs typeface="Arial" pitchFamily="34" charset="-120"/>
              </a:rPr>
              <a:t>Vendors differ in kind</a:t>
            </a:r>
            <a:endParaRPr lang="en-US" sz="1400" dirty="0"/>
          </a:p>
        </p:txBody>
      </p:sp>
      <p:sp>
        <p:nvSpPr>
          <p:cNvPr id="9" name="Text 7"/>
          <p:cNvSpPr txBox="1"/>
          <p:nvPr/>
        </p:nvSpPr>
        <p:spPr>
          <a:xfrm>
            <a:off x="4453128" y="1828800"/>
            <a:ext cx="3291840" cy="1691640"/>
          </a:xfrm>
          <a:prstGeom prst="rect">
            <a:avLst/>
          </a:prstGeom>
          <a:noFill/>
          <a:ln/>
        </p:spPr>
        <p:txBody>
          <a:bodyPr wrap="square" lIns="0" tIns="0" rIns="0" bIns="0" rtlCol="0" anchor="t"/>
          <a:lstStyle/>
          <a:p>
            <a:pPr indent="0" marL="0">
              <a:buNone/>
            </a:pPr>
            <a:r>
              <a:rPr lang="en-US" sz="1600" dirty="0">
                <a:solidFill>
                  <a:srgbClr val="1F2933"/>
                </a:solidFill>
                <a:latin typeface="Calibri" pitchFamily="34" charset="0"/>
                <a:ea typeface="Calibri" pitchFamily="34" charset="-122"/>
                <a:cs typeface="Calibri" pitchFamily="34" charset="-120"/>
              </a:rPr>
              <a:t>Ivanti and VMware are exploited at 2–10× Microsoft's rate per published CVE (Q6); network appliances are exploited within days (Q7).</a:t>
            </a:r>
            <a:endParaRPr lang="en-US" sz="1600" dirty="0"/>
          </a:p>
        </p:txBody>
      </p:sp>
      <p:sp>
        <p:nvSpPr>
          <p:cNvPr id="10" name="Shape 8"/>
          <p:cNvSpPr/>
          <p:nvPr/>
        </p:nvSpPr>
        <p:spPr>
          <a:xfrm>
            <a:off x="8074152" y="1280160"/>
            <a:ext cx="3657600" cy="2377440"/>
          </a:xfrm>
          <a:prstGeom prst="rect">
            <a:avLst/>
          </a:prstGeom>
          <a:solidFill>
            <a:srgbClr val="F3F5F8"/>
          </a:solidFill>
          <a:ln w="12700">
            <a:solidFill>
              <a:srgbClr val="F3F5F8"/>
            </a:solidFill>
            <a:prstDash val="solid"/>
          </a:ln>
        </p:spPr>
      </p:sp>
      <p:sp>
        <p:nvSpPr>
          <p:cNvPr id="11" name="Text 9"/>
          <p:cNvSpPr txBox="1"/>
          <p:nvPr/>
        </p:nvSpPr>
        <p:spPr>
          <a:xfrm>
            <a:off x="8257032" y="1417320"/>
            <a:ext cx="3291840" cy="365760"/>
          </a:xfrm>
          <a:prstGeom prst="rect">
            <a:avLst/>
          </a:prstGeom>
          <a:noFill/>
          <a:ln/>
        </p:spPr>
        <p:txBody>
          <a:bodyPr wrap="square" lIns="0" tIns="0" rIns="0" bIns="0" rtlCol="0" anchor="t"/>
          <a:lstStyle/>
          <a:p>
            <a:pPr indent="0" marL="0">
              <a:buNone/>
            </a:pPr>
            <a:r>
              <a:rPr lang="en-US" sz="1400" b="1" dirty="0">
                <a:solidFill>
                  <a:srgbClr val="1B2A41"/>
                </a:solidFill>
                <a:latin typeface="Arial" pitchFamily="34" charset="0"/>
                <a:ea typeface="Arial" pitchFamily="34" charset="-122"/>
                <a:cs typeface="Arial" pitchFamily="34" charset="-120"/>
              </a:rPr>
              <a:t>Two cubes, one view</a:t>
            </a:r>
            <a:endParaRPr lang="en-US" sz="1400" dirty="0"/>
          </a:p>
        </p:txBody>
      </p:sp>
      <p:sp>
        <p:nvSpPr>
          <p:cNvPr id="12" name="Text 10"/>
          <p:cNvSpPr txBox="1"/>
          <p:nvPr/>
        </p:nvSpPr>
        <p:spPr>
          <a:xfrm>
            <a:off x="8257032" y="1828800"/>
            <a:ext cx="3291840" cy="1691640"/>
          </a:xfrm>
          <a:prstGeom prst="rect">
            <a:avLst/>
          </a:prstGeom>
          <a:noFill/>
          <a:ln/>
        </p:spPr>
        <p:txBody>
          <a:bodyPr wrap="square" lIns="0" tIns="0" rIns="0" bIns="0" rtlCol="0" anchor="t"/>
          <a:lstStyle/>
          <a:p>
            <a:pPr indent="0" marL="0">
              <a:buNone/>
            </a:pPr>
            <a:r>
              <a:rPr lang="en-US" sz="1600" dirty="0">
                <a:solidFill>
                  <a:srgbClr val="1F2933"/>
                </a:solidFill>
                <a:latin typeface="Calibri" pitchFamily="34" charset="0"/>
                <a:ea typeface="Calibri" pitchFamily="34" charset="-122"/>
                <a:cs typeface="Calibri" pitchFamily="34" charset="-120"/>
              </a:rPr>
              <a:t>Conformed dimensions let the two business processes (disclosure and exploitation) be analysed together with a Drill-Across.</a:t>
            </a:r>
            <a:endParaRPr lang="en-US" sz="1600" dirty="0"/>
          </a:p>
        </p:txBody>
      </p:sp>
      <p:sp>
        <p:nvSpPr>
          <p:cNvPr id="13" name="Text 11"/>
          <p:cNvSpPr txBox="1"/>
          <p:nvPr/>
        </p:nvSpPr>
        <p:spPr>
          <a:xfrm>
            <a:off x="457200" y="4023360"/>
            <a:ext cx="11247120" cy="365760"/>
          </a:xfrm>
          <a:prstGeom prst="rect">
            <a:avLst/>
          </a:prstGeom>
          <a:noFill/>
          <a:ln/>
        </p:spPr>
        <p:txBody>
          <a:bodyPr wrap="square" lIns="0" tIns="0" rIns="0" bIns="0" rtlCol="0" anchor="ctr"/>
          <a:lstStyle/>
          <a:p>
            <a:pPr indent="0" marL="0">
              <a:buNone/>
            </a:pPr>
            <a:r>
              <a:rPr lang="en-US" sz="1800" b="1" dirty="0">
                <a:solidFill>
                  <a:srgbClr val="1B2A41"/>
                </a:solidFill>
                <a:latin typeface="Arial" pitchFamily="34" charset="0"/>
                <a:ea typeface="Arial" pitchFamily="34" charset="-122"/>
                <a:cs typeface="Arial" pitchFamily="34" charset="-120"/>
              </a:rPr>
              <a:t>Limitations</a:t>
            </a:r>
            <a:endParaRPr lang="en-US" sz="1800" dirty="0"/>
          </a:p>
        </p:txBody>
      </p:sp>
      <p:sp>
        <p:nvSpPr>
          <p:cNvPr id="14" name="Text 12"/>
          <p:cNvSpPr txBox="1"/>
          <p:nvPr/>
        </p:nvSpPr>
        <p:spPr>
          <a:xfrm>
            <a:off x="457200" y="4480560"/>
            <a:ext cx="11247120" cy="1737360"/>
          </a:xfrm>
          <a:prstGeom prst="rect">
            <a:avLst/>
          </a:prstGeom>
          <a:noFill/>
          <a:ln/>
        </p:spPr>
        <p:txBody>
          <a:bodyPr wrap="square" lIns="0" tIns="0" rIns="0" bIns="0" rtlCol="0" anchor="t"/>
          <a:lstStyle/>
          <a:p>
            <a:pPr marL="342900" indent="-342900">
              <a:spcAft>
                <a:spcPts val="400"/>
              </a:spcAft>
              <a:buSzPct val="100000"/>
              <a:buChar char="•"/>
            </a:pPr>
            <a:r>
              <a:rPr lang="en-US" sz="1600" dirty="0">
                <a:solidFill>
                  <a:srgbClr val="1F2933"/>
                </a:solidFill>
                <a:latin typeface="Calibri" pitchFamily="34" charset="0"/>
                <a:ea typeface="Calibri" pitchFamily="34" charset="-122"/>
                <a:cs typeface="Calibri" pitchFamily="34" charset="-120"/>
              </a:rPr>
              <a:t>20% of CVEs have no CPE, so their product is Unknown</a:t>
            </a:r>
            <a:endParaRPr lang="en-US" sz="1600" dirty="0"/>
          </a:p>
          <a:p>
            <a:pPr marL="342900" indent="-342900">
              <a:spcAft>
                <a:spcPts val="400"/>
              </a:spcAft>
              <a:buSzPct val="100000"/>
              <a:buChar char="•"/>
            </a:pPr>
            <a:r>
              <a:rPr lang="en-US" sz="1600" dirty="0">
                <a:solidFill>
                  <a:srgbClr val="1F2933"/>
                </a:solidFill>
                <a:latin typeface="Calibri" pitchFamily="34" charset="0"/>
                <a:ea typeface="Calibri" pitchFamily="34" charset="-122"/>
                <a:cs typeface="Calibri" pitchFamily="34" charset="-120"/>
              </a:rPr>
              <a:t>EPSS is a single current snapshot, not a history over time</a:t>
            </a:r>
            <a:endParaRPr lang="en-US" sz="1600" dirty="0"/>
          </a:p>
          <a:p>
            <a:pPr marL="342900" indent="-342900">
              <a:spcAft>
                <a:spcPts val="400"/>
              </a:spcAft>
              <a:buSzPct val="100000"/>
              <a:buChar char="•"/>
            </a:pPr>
            <a:r>
              <a:rPr lang="en-US" sz="1600" dirty="0">
                <a:solidFill>
                  <a:srgbClr val="1F2933"/>
                </a:solidFill>
                <a:latin typeface="Calibri" pitchFamily="34" charset="0"/>
                <a:ea typeface="Calibri" pitchFamily="34" charset="-122"/>
                <a:cs typeface="Calibri" pitchFamily="34" charset="-120"/>
              </a:rPr>
              <a:t>KEV lists confirmed exploitation only: absence from KEV does not mean “not exploited”</a:t>
            </a:r>
            <a:endParaRPr lang="en-US" sz="1600" dirty="0"/>
          </a:p>
          <a:p>
            <a:pPr marL="342900" indent="-342900">
              <a:spcAft>
                <a:spcPts val="400"/>
              </a:spcAft>
              <a:buSzPct val="100000"/>
              <a:buChar char="•"/>
            </a:pPr>
            <a:r>
              <a:rPr lang="en-US" sz="1600" dirty="0">
                <a:solidFill>
                  <a:srgbClr val="1F2933"/>
                </a:solidFill>
                <a:latin typeface="Calibri" pitchFamily="34" charset="0"/>
                <a:ea typeface="Calibri" pitchFamily="34" charset="-122"/>
                <a:cs typeface="Calibri" pitchFamily="34" charset="-120"/>
              </a:rPr>
              <a:t>Attack classes come from keyword matching on descriptions (heuristic)</a:t>
            </a:r>
            <a:endParaRPr lang="en-US" sz="16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1B2A41"/>
        </a:solidFill>
      </p:bgPr>
    </p:bg>
    <p:spTree>
      <p:nvGrpSpPr>
        <p:cNvPr id="1" name=""/>
        <p:cNvGrpSpPr/>
        <p:nvPr/>
      </p:nvGrpSpPr>
      <p:grpSpPr>
        <a:xfrm>
          <a:off x="0" y="0"/>
          <a:ext cx="0" cy="0"/>
          <a:chOff x="0" y="0"/>
          <a:chExt cx="0" cy="0"/>
        </a:xfrm>
      </p:grpSpPr>
      <p:sp>
        <p:nvSpPr>
          <p:cNvPr id="2" name="Text 0"/>
          <p:cNvSpPr txBox="1"/>
          <p:nvPr/>
        </p:nvSpPr>
        <p:spPr>
          <a:xfrm>
            <a:off x="731520" y="2377440"/>
            <a:ext cx="10515600" cy="914400"/>
          </a:xfrm>
          <a:prstGeom prst="rect">
            <a:avLst/>
          </a:prstGeom>
          <a:noFill/>
          <a:ln/>
        </p:spPr>
        <p:txBody>
          <a:bodyPr wrap="square" lIns="0" tIns="0" rIns="0" bIns="0" rtlCol="0" anchor="ctr"/>
          <a:lstStyle/>
          <a:p>
            <a:pPr indent="0" marL="0">
              <a:buNone/>
            </a:pPr>
            <a:r>
              <a:rPr lang="en-US" sz="4000" b="1" dirty="0">
                <a:solidFill>
                  <a:srgbClr val="FFFFFF"/>
                </a:solidFill>
                <a:latin typeface="Arial" pitchFamily="34" charset="0"/>
                <a:ea typeface="Arial" pitchFamily="34" charset="-122"/>
                <a:cs typeface="Arial" pitchFamily="34" charset="-120"/>
              </a:rPr>
              <a:t>Thank you for your attention</a:t>
            </a:r>
            <a:endParaRPr lang="en-US" sz="4000" dirty="0"/>
          </a:p>
        </p:txBody>
      </p:sp>
      <p:sp>
        <p:nvSpPr>
          <p:cNvPr id="3" name="Text 1"/>
          <p:cNvSpPr txBox="1"/>
          <p:nvPr/>
        </p:nvSpPr>
        <p:spPr>
          <a:xfrm>
            <a:off x="731520" y="3291840"/>
            <a:ext cx="10515600" cy="457200"/>
          </a:xfrm>
          <a:prstGeom prst="rect">
            <a:avLst/>
          </a:prstGeom>
          <a:noFill/>
          <a:ln/>
        </p:spPr>
        <p:txBody>
          <a:bodyPr wrap="square" lIns="0" tIns="0" rIns="0" bIns="0" rtlCol="0" anchor="ctr"/>
          <a:lstStyle/>
          <a:p>
            <a:pPr indent="0" marL="0">
              <a:buNone/>
            </a:pPr>
            <a:r>
              <a:rPr lang="en-US" sz="1800" dirty="0">
                <a:solidFill>
                  <a:srgbClr val="F2A541"/>
                </a:solidFill>
                <a:latin typeface="Calibri" pitchFamily="34" charset="0"/>
                <a:ea typeface="Calibri" pitchFamily="34" charset="-122"/>
                <a:cs typeface="Calibri" pitchFamily="34" charset="-120"/>
              </a:rPr>
              <a:t>Code: etl.py · queries.sql · export_results.py</a:t>
            </a:r>
            <a:endParaRPr lang="en-US" sz="18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20</Slides>
  <Notes>20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20</vt:i4>
      </vt:variant>
    </vt:vector>
  </HeadingPairs>
  <TitlesOfParts>
    <vt:vector size="2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CVE Data Warehouse</dc:title>
  <dc:subject>PptxGenJS Presentation</dc:subject>
  <dc:creator>Alessia Angele</dc:creator>
  <cp:lastModifiedBy>Alessia Angele</cp:lastModifiedBy>
  <cp:revision>1</cp:revision>
  <dcterms:created xsi:type="dcterms:W3CDTF">2026-09-24T14:11:19Z</dcterms:created>
  <dcterms:modified xsi:type="dcterms:W3CDTF">2026-09-24T14:11:19Z</dcterms:modified>
</cp:coreProperties>
</file>